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0:00. Accroche et annonce du plan : le piège de la lecture passive, le signal de passage, et l'usage de la communauté. Tout s'anime seul à l'ouverture.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0:15. Clic 1 : la carte « Regardée ». Clic 2 : la carte « Pratiquée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0:35. La phrase apparaît seule, puis un clic pour l'appui. Reproduire l'exercice avant de passer au chapitre suivant.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0:57. Clic 1 : la carte « Preuve concrète ». Clic 2 : la carte « Pas une case cochée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Moments du script : 1:21 (clic pour l'appui) puis 1:44, aucun nouveau clic. Pas de date limite fixée, mais une régularité modeste vaut mieux qu'une semaine intensive isolée.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2:03. Le titre apparaît seul. Puis un clic par point, et un dernier clic pour l'annonce de la prochaine vidéo (Section 0, chapitre 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5074920"/>
            <a:ext cx="2103120" cy="1240003"/>
          </a:xfrm>
          <a:prstGeom prst="rect">
            <a:avLst/>
          </a:prstGeom>
        </p:spPr>
      </p:pic>
      <p:sp>
        <p:nvSpPr>
          <p:cNvPr id="3" name="s1-surtitre"/>
          <p:cNvSpPr txBox="1"/>
          <p:nvPr/>
        </p:nvSpPr>
        <p:spPr>
          <a:xfrm>
            <a:off x="5843016" y="100584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VIVIER IA · BIENVENUE · CHAPITRE 2</a:t>
            </a:r>
            <a:endParaRPr lang="en-US" sz="1300" dirty="0"/>
          </a:p>
        </p:txBody>
      </p:sp>
      <p:sp>
        <p:nvSpPr>
          <p:cNvPr id="4" name="s1-titre"/>
          <p:cNvSpPr txBox="1"/>
          <p:nvPr/>
        </p:nvSpPr>
        <p:spPr>
          <a:xfrm>
            <a:off x="5843016" y="1691640"/>
            <a:ext cx="5532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bien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suivre la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</a:t>
            </a:r>
            <a:endParaRPr lang="en-US" sz="3400" dirty="0"/>
          </a:p>
        </p:txBody>
      </p:sp>
      <p:sp>
        <p:nvSpPr>
          <p:cNvPr id="5" name="s1-objectif"/>
          <p:cNvSpPr txBox="1"/>
          <p:nvPr/>
        </p:nvSpPr>
        <p:spPr>
          <a:xfrm>
            <a:off x="5843016" y="342900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 : ne pas juste regarder.</a:t>
            </a:r>
            <a:endParaRPr lang="en-US" sz="1700" dirty="0"/>
          </a:p>
        </p:txBody>
      </p:sp>
      <p:sp>
        <p:nvSpPr>
          <p:cNvPr id="6" name="s1-pastille-0"/>
          <p:cNvSpPr/>
          <p:nvPr/>
        </p:nvSpPr>
        <p:spPr>
          <a:xfrm>
            <a:off x="5843016" y="4526280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piège à éviter</a:t>
            </a:r>
            <a:endParaRPr lang="en-US" sz="1400" dirty="0"/>
          </a:p>
        </p:txBody>
      </p:sp>
      <p:sp>
        <p:nvSpPr>
          <p:cNvPr id="7" name="s1-pastille-1"/>
          <p:cNvSpPr/>
          <p:nvPr/>
        </p:nvSpPr>
        <p:spPr>
          <a:xfrm>
            <a:off x="5843016" y="5166360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signal de passage</a:t>
            </a:r>
            <a:endParaRPr lang="en-US" sz="1400" dirty="0"/>
          </a:p>
        </p:txBody>
      </p:sp>
      <p:sp>
        <p:nvSpPr>
          <p:cNvPr id="8" name="s1-pastille-2"/>
          <p:cNvSpPr/>
          <p:nvPr/>
        </p:nvSpPr>
        <p:spPr>
          <a:xfrm>
            <a:off x="9043416" y="51663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communauté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PIÈGE À ÉVITER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Regardée n'est pas pratiquée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la pratique qui construit la compétence.</a:t>
            </a:r>
            <a:endParaRPr lang="en-US" sz="1800" dirty="0"/>
          </a:p>
        </p:txBody>
      </p:sp>
      <p:sp>
        <p:nvSpPr>
          <p:cNvPr id="6" name="s2-avant-forme"/>
          <p:cNvSpPr/>
          <p:nvPr/>
        </p:nvSpPr>
        <p:spPr>
          <a:xfrm>
            <a:off x="812902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1D4A43"/>
          </a:solidFill>
          <a:ln w="6350">
            <a:solidFill>
              <a:srgbClr val="1D4A43"/>
            </a:solidFill>
            <a:prstDash val="solid"/>
          </a:ln>
        </p:spPr>
      </p:sp>
      <p:sp>
        <p:nvSpPr>
          <p:cNvPr id="7" name="s2-avant-etiquette"/>
          <p:cNvSpPr txBox="1"/>
          <p:nvPr/>
        </p:nvSpPr>
        <p:spPr>
          <a:xfrm>
            <a:off x="1178662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REGARDÉE</a:t>
            </a:r>
            <a:endParaRPr lang="en-US" sz="1300" dirty="0"/>
          </a:p>
        </p:txBody>
      </p:sp>
      <p:sp>
        <p:nvSpPr>
          <p:cNvPr id="8" name="s2-avant-titre"/>
          <p:cNvSpPr txBox="1"/>
          <p:nvPr/>
        </p:nvSpPr>
        <p:spPr>
          <a:xfrm>
            <a:off x="1178662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Ça paraît clair</a:t>
            </a:r>
            <a:endParaRPr lang="en-US" sz="2400" dirty="0"/>
          </a:p>
        </p:txBody>
      </p:sp>
      <p:sp>
        <p:nvSpPr>
          <p:cNvPr id="9" name="s2-avant-texte"/>
          <p:cNvSpPr txBox="1"/>
          <p:nvPr/>
        </p:nvSpPr>
        <p:spPr>
          <a:xfrm>
            <a:off x="1178662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la compréhension retombe vite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usage réel.</a:t>
            </a:r>
            <a:endParaRPr lang="en-US" sz="1700" dirty="0"/>
          </a:p>
        </p:txBody>
      </p:sp>
      <p:sp>
        <p:nvSpPr>
          <p:cNvPr id="10" name="s2-apres-forme"/>
          <p:cNvSpPr/>
          <p:nvPr/>
        </p:nvSpPr>
        <p:spPr>
          <a:xfrm>
            <a:off x="6279185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FF7A4D"/>
          </a:solidFill>
          <a:ln w="6350">
            <a:solidFill>
              <a:srgbClr val="FF7A4D"/>
            </a:solidFill>
            <a:prstDash val="solid"/>
          </a:ln>
        </p:spPr>
      </p:sp>
      <p:sp>
        <p:nvSpPr>
          <p:cNvPr id="11" name="s2-apres-etiquette"/>
          <p:cNvSpPr txBox="1"/>
          <p:nvPr/>
        </p:nvSpPr>
        <p:spPr>
          <a:xfrm>
            <a:off x="6644945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PRATIQUÉE</a:t>
            </a:r>
            <a:endParaRPr lang="en-US" sz="1300" dirty="0"/>
          </a:p>
        </p:txBody>
      </p:sp>
      <p:sp>
        <p:nvSpPr>
          <p:cNvPr id="12" name="s2-apres-titre"/>
          <p:cNvSpPr txBox="1"/>
          <p:nvPr/>
        </p:nvSpPr>
        <p:spPr>
          <a:xfrm>
            <a:off x="6644945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un cas réel</a:t>
            </a:r>
            <a:endParaRPr lang="en-US" sz="2400" dirty="0"/>
          </a:p>
        </p:txBody>
      </p:sp>
      <p:sp>
        <p:nvSpPr>
          <p:cNvPr id="13" name="s2-apres-texte"/>
          <p:cNvSpPr txBox="1"/>
          <p:nvPr/>
        </p:nvSpPr>
        <p:spPr>
          <a:xfrm>
            <a:off x="6644945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minuscule, c'est ce qui reste ensuite.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MÉTHODE</a:t>
            </a:r>
            <a:endParaRPr lang="en-US" sz="1300" dirty="0"/>
          </a:p>
        </p:txBody>
      </p:sp>
      <p:sp>
        <p:nvSpPr>
          <p:cNvPr id="4" name="s3-enonce"/>
          <p:cNvSpPr txBox="1"/>
          <p:nvPr/>
        </p:nvSpPr>
        <p:spPr>
          <a:xfrm>
            <a:off x="812902" y="201168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vidéo,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puis un vrai geste.</a:t>
            </a:r>
            <a:endParaRPr lang="en-US" sz="3600" dirty="0"/>
          </a:p>
        </p:txBody>
      </p:sp>
      <p:sp>
        <p:nvSpPr>
          <p:cNvPr id="5" name="s3-appui"/>
          <p:cNvSpPr txBox="1"/>
          <p:nvPr/>
        </p:nvSpPr>
        <p:spPr>
          <a:xfrm>
            <a:off x="812902" y="438912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vidéos d'affilée sans rien pratiquer donnent l'illusion d'avancer vite.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SIGNAL DE PASSAGE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preuve, pas une lecture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du cours : une URL publique qui fonctionne.</a:t>
            </a:r>
            <a:endParaRPr lang="en-US" sz="1800" dirty="0"/>
          </a:p>
        </p:txBody>
      </p:sp>
      <p:sp>
        <p:nvSpPr>
          <p:cNvPr id="6" name="s4-avant-forme"/>
          <p:cNvSpPr/>
          <p:nvPr/>
        </p:nvSpPr>
        <p:spPr>
          <a:xfrm>
            <a:off x="812902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1D4A43"/>
          </a:solidFill>
          <a:ln w="6350">
            <a:solidFill>
              <a:srgbClr val="1D4A43"/>
            </a:solidFill>
            <a:prstDash val="solid"/>
          </a:ln>
        </p:spPr>
      </p:sp>
      <p:sp>
        <p:nvSpPr>
          <p:cNvPr id="7" name="s4-avant-etiquette"/>
          <p:cNvSpPr txBox="1"/>
          <p:nvPr/>
        </p:nvSpPr>
        <p:spPr>
          <a:xfrm>
            <a:off x="1178662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PREUVE CONCRÈTE</a:t>
            </a:r>
            <a:endParaRPr lang="en-US" sz="1300" dirty="0"/>
          </a:p>
        </p:txBody>
      </p:sp>
      <p:sp>
        <p:nvSpPr>
          <p:cNvPr id="8" name="s4-avant-titre"/>
          <p:cNvSpPr txBox="1"/>
          <p:nvPr/>
        </p:nvSpPr>
        <p:spPr>
          <a:xfrm>
            <a:off x="1178662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Obtenue par vous-même</a:t>
            </a:r>
            <a:endParaRPr lang="en-US" sz="2400" dirty="0"/>
          </a:p>
        </p:txBody>
      </p:sp>
      <p:sp>
        <p:nvSpPr>
          <p:cNvPr id="9" name="s4-avant-texte"/>
          <p:cNvSpPr txBox="1"/>
          <p:nvPr/>
        </p:nvSpPr>
        <p:spPr>
          <a:xfrm>
            <a:off x="1178662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bout en bout, même si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résultat est modeste.</a:t>
            </a:r>
            <a:endParaRPr lang="en-US" sz="1700" dirty="0"/>
          </a:p>
        </p:txBody>
      </p:sp>
      <p:sp>
        <p:nvSpPr>
          <p:cNvPr id="10" name="s4-apres-forme"/>
          <p:cNvSpPr/>
          <p:nvPr/>
        </p:nvSpPr>
        <p:spPr>
          <a:xfrm>
            <a:off x="6279185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FF7A4D"/>
          </a:solidFill>
          <a:ln w="6350">
            <a:solidFill>
              <a:srgbClr val="FF7A4D"/>
            </a:solidFill>
            <a:prstDash val="solid"/>
          </a:ln>
        </p:spPr>
      </p:sp>
      <p:sp>
        <p:nvSpPr>
          <p:cNvPr id="11" name="s4-apres-etiquette"/>
          <p:cNvSpPr txBox="1"/>
          <p:nvPr/>
        </p:nvSpPr>
        <p:spPr>
          <a:xfrm>
            <a:off x="6644945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UNE CASE COCHÉE</a:t>
            </a:r>
            <a:endParaRPr lang="en-US" sz="1300" dirty="0"/>
          </a:p>
        </p:txBody>
      </p:sp>
      <p:sp>
        <p:nvSpPr>
          <p:cNvPr id="12" name="s4-apres-titre"/>
          <p:cNvSpPr txBox="1"/>
          <p:nvPr/>
        </p:nvSpPr>
        <p:spPr>
          <a:xfrm>
            <a:off x="6644945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elle, on revient</a:t>
            </a:r>
            <a:endParaRPr lang="en-US" sz="2400" dirty="0"/>
          </a:p>
        </p:txBody>
      </p:sp>
      <p:sp>
        <p:nvSpPr>
          <p:cNvPr id="13" name="s4-apres-texte"/>
          <p:cNvSpPr txBox="1"/>
          <p:nvPr/>
        </p:nvSpPr>
        <p:spPr>
          <a:xfrm>
            <a:off x="6644945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Reprendre ce qui manque, plutôt que continuer quand même.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COMMUNAUTÉ</a:t>
            </a:r>
            <a:endParaRPr lang="en-US" sz="1300" dirty="0"/>
          </a:p>
        </p:txBody>
      </p:sp>
      <p:sp>
        <p:nvSpPr>
          <p:cNvPr id="4" name="s5-enonce"/>
          <p:cNvSpPr txBox="1"/>
          <p:nvPr/>
        </p:nvSpPr>
        <p:spPr>
          <a:xfrm>
            <a:off x="812902" y="201168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Débloquer une vraie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difficulté, pas insister seul.</a:t>
            </a:r>
            <a:endParaRPr lang="en-US" sz="3600" dirty="0"/>
          </a:p>
        </p:txBody>
      </p:sp>
      <p:sp>
        <p:nvSpPr>
          <p:cNvPr id="5" name="s5-appui"/>
          <p:cNvSpPr txBox="1"/>
          <p:nvPr/>
        </p:nvSpPr>
        <p:spPr>
          <a:xfrm>
            <a:off x="812902" y="438912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Formuler où vous en êtes aide souvent à voir soi-même où ça coince.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4" name="s6-titre"/>
          <p:cNvSpPr txBox="1"/>
          <p:nvPr/>
        </p:nvSpPr>
        <p:spPr>
          <a:xfrm>
            <a:off x="812902" y="13716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Regarder ne suffit pas,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pratiquer construit.</a:t>
            </a:r>
            <a:endParaRPr lang="en-US" sz="3000" dirty="0"/>
          </a:p>
        </p:txBody>
      </p:sp>
      <p:sp>
        <p:nvSpPr>
          <p:cNvPr id="5" name="s6-point-0"/>
          <p:cNvSpPr txBox="1"/>
          <p:nvPr/>
        </p:nvSpPr>
        <p:spPr>
          <a:xfrm>
            <a:off x="812902" y="29718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vidéo sans pratique derrière ne construit rien de durable.</a:t>
            </a:r>
            <a:endParaRPr lang="en-US" sz="2200" dirty="0"/>
          </a:p>
        </p:txBody>
      </p:sp>
      <p:sp>
        <p:nvSpPr>
          <p:cNvPr id="6" name="s6-point-1"/>
          <p:cNvSpPr txBox="1"/>
          <p:nvPr/>
        </p:nvSpPr>
        <p:spPr>
          <a:xfrm>
            <a:off x="812902" y="3703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signal de passage est une preuve concrète, pas une case cochée.</a:t>
            </a:r>
            <a:endParaRPr lang="en-US" sz="2200" dirty="0"/>
          </a:p>
        </p:txBody>
      </p:sp>
      <p:sp>
        <p:nvSpPr>
          <p:cNvPr id="7" name="s6-point-2"/>
          <p:cNvSpPr txBox="1"/>
          <p:nvPr/>
        </p:nvSpPr>
        <p:spPr>
          <a:xfrm>
            <a:off x="81290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communauté sert à débloquer une vraie difficulté.</a:t>
            </a:r>
            <a:endParaRPr lang="en-US" sz="2200" dirty="0"/>
          </a:p>
        </p:txBody>
      </p:sp>
      <p:sp>
        <p:nvSpPr>
          <p:cNvPr id="8" name="s6-final"/>
          <p:cNvSpPr/>
          <p:nvPr/>
        </p:nvSpPr>
        <p:spPr>
          <a:xfrm>
            <a:off x="812902" y="5212080"/>
            <a:ext cx="10566806" cy="868680"/>
          </a:xfrm>
          <a:prstGeom prst="roundRect">
            <a:avLst>
              <a:gd name="adj" fmla="val 21053"/>
            </a:avLst>
          </a:prstGeom>
          <a:solidFill>
            <a:srgbClr val="FF7A4D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vidéo : installer votre assistant personnel.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Vivier 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Comment bien suivre la formation</dc:title>
  <dc:subject>Vivier IA, Section 0, chapitre 2</dc:subject>
  <dc:creator>Zézé Bilivogui</dc:creator>
  <cp:lastModifiedBy>Zézé Bilivogui</cp:lastModifiedBy>
  <cp:revision>1</cp:revision>
  <dcterms:created xsi:type="dcterms:W3CDTF">2026-09-22T01:59:36Z</dcterms:created>
  <dcterms:modified xsi:type="dcterms:W3CDTF">2026-09-22T01:59:36Z</dcterms:modified>
</cp:coreProperties>
</file>