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Trois parties : ce qui change, ce qui ne change pas, puis l'installation. À la fin, Claude Code est lancé sur l'ordinateur de l'élève.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0:22. Clic 1 au moment de « Avec Claude Code, cela change » : la ligne « Maintenant » apparaît. Clic 2 : la phrase finale, vous n'êtes plus le traducteur vers la machine, vous devenez l'architecte et le validateur.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0:56 (premier basculement), 1:27 (deuxième), 2:00 (troisième). Un clic par carte, au début du paragraphe correspondant.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2:30 (ce qui ne change pas) puis 2:57 (l'exemple concret). Clic 1 : la carte « Avant ». Clic 2 : la carte « Après ». Le travail ne disparaît pas, il change de nature : moins de syntaxe, plus de jugement sur ce qu'il faut construire et vérifier.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3:34. Un clic par commande : node --version, puis npm install, puis claude. Ensuite on bascule sur le terminal en plein écran, police agrandie. Les commandes sont exactement celles du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6:32 (installation coupée, clic 1) puis 7:14 (Windows, clic 2). Sous Windows, vous pouvez montrer Get-ExecutionPolicy -List, sans modifier la politique de votre poste pendant l'enregistrement. Réflexe commun : lire le message d'erreur en entier, diagnostiquer, puis corriger.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8:02. Le titre apparaît seul. Puis un clic par point, et un dernier clic pour l'annonce de la prochaine vidéo (section 1, chapitre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1 · CHAPITRE 1</a:t>
            </a:r>
            <a:endParaRPr lang="en-US" sz="1300" dirty="0"/>
          </a:p>
        </p:txBody>
      </p:sp>
      <p:sp>
        <p:nvSpPr>
          <p:cNvPr id="4" name="titre"/>
          <p:cNvSpPr txBox="1"/>
          <p:nvPr/>
        </p:nvSpPr>
        <p:spPr>
          <a:xfrm>
            <a:off x="5843016" y="1691640"/>
            <a:ext cx="5532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Claude Code va changer votre métier</a:t>
            </a:r>
            <a:endParaRPr lang="en-US" sz="3400" dirty="0"/>
          </a:p>
        </p:txBody>
      </p:sp>
      <p:sp>
        <p:nvSpPr>
          <p:cNvPr id="5" name="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comprendre ce qui change, puis lancer Claude Code sur votre ordinateur.</a:t>
            </a:r>
            <a:endParaRPr lang="en-US" sz="1700" dirty="0"/>
          </a:p>
        </p:txBody>
      </p:sp>
      <p:sp>
        <p:nvSpPr>
          <p:cNvPr id="6" name="pastille-1"/>
          <p:cNvSpPr/>
          <p:nvPr/>
        </p:nvSpPr>
        <p:spPr>
          <a:xfrm>
            <a:off x="5843016" y="45262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change</a:t>
            </a:r>
            <a:endParaRPr lang="en-US" sz="1400" dirty="0"/>
          </a:p>
        </p:txBody>
      </p:sp>
      <p:sp>
        <p:nvSpPr>
          <p:cNvPr id="7" name="pastille-2"/>
          <p:cNvSpPr/>
          <p:nvPr/>
        </p:nvSpPr>
        <p:spPr>
          <a:xfrm>
            <a:off x="8129016" y="45262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ne change pas</a:t>
            </a:r>
            <a:endParaRPr lang="en-US" sz="1400" dirty="0"/>
          </a:p>
        </p:txBody>
      </p:sp>
      <p:sp>
        <p:nvSpPr>
          <p:cNvPr id="8" name="pastille-3"/>
          <p:cNvSpPr/>
          <p:nvPr/>
        </p:nvSpPr>
        <p:spPr>
          <a:xfrm>
            <a:off x="5843016" y="51663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Claude Code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4" name="avant-etiquette"/>
          <p:cNvSpPr txBox="1"/>
          <p:nvPr/>
        </p:nvSpPr>
        <p:spPr>
          <a:xfrm>
            <a:off x="812902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avant-boite-0"/>
          <p:cNvSpPr/>
          <p:nvPr/>
        </p:nvSpPr>
        <p:spPr>
          <a:xfrm>
            <a:off x="812902" y="187452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</a:t>
            </a:r>
            <a:endParaRPr lang="en-US" sz="2200" dirty="0"/>
          </a:p>
        </p:txBody>
      </p:sp>
      <p:sp>
        <p:nvSpPr>
          <p:cNvPr id="6" name="avant-fleche-0"/>
          <p:cNvSpPr/>
          <p:nvPr/>
        </p:nvSpPr>
        <p:spPr>
          <a:xfrm>
            <a:off x="2778862" y="2148840"/>
            <a:ext cx="731520" cy="365760"/>
          </a:xfrm>
          <a:prstGeom prst="rightArrow">
            <a:avLst/>
          </a:prstGeom>
          <a:solidFill>
            <a:srgbClr val="BFD8D5"/>
          </a:solidFill>
          <a:ln w="6350">
            <a:solidFill>
              <a:srgbClr val="BFD8D5"/>
            </a:solidFill>
            <a:prstDash val="solid"/>
          </a:ln>
        </p:spPr>
      </p:sp>
      <p:sp>
        <p:nvSpPr>
          <p:cNvPr id="7" name="avant-boite-1"/>
          <p:cNvSpPr/>
          <p:nvPr/>
        </p:nvSpPr>
        <p:spPr>
          <a:xfrm>
            <a:off x="3738982" y="187452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Syntaxe</a:t>
            </a:r>
            <a:endParaRPr lang="en-US" sz="2200" dirty="0"/>
          </a:p>
        </p:txBody>
      </p:sp>
      <p:sp>
        <p:nvSpPr>
          <p:cNvPr id="8" name="avant-fleche-1"/>
          <p:cNvSpPr/>
          <p:nvPr/>
        </p:nvSpPr>
        <p:spPr>
          <a:xfrm>
            <a:off x="6345022" y="2148840"/>
            <a:ext cx="731520" cy="365760"/>
          </a:xfrm>
          <a:prstGeom prst="rightArrow">
            <a:avLst/>
          </a:prstGeom>
          <a:solidFill>
            <a:srgbClr val="BFD8D5"/>
          </a:solidFill>
          <a:ln w="6350">
            <a:solidFill>
              <a:srgbClr val="BFD8D5"/>
            </a:solidFill>
            <a:prstDash val="solid"/>
          </a:ln>
        </p:spPr>
      </p:sp>
      <p:sp>
        <p:nvSpPr>
          <p:cNvPr id="9" name="avant-boite-2"/>
          <p:cNvSpPr/>
          <p:nvPr/>
        </p:nvSpPr>
        <p:spPr>
          <a:xfrm>
            <a:off x="7305142" y="187452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2200" dirty="0"/>
          </a:p>
        </p:txBody>
      </p:sp>
      <p:sp>
        <p:nvSpPr>
          <p:cNvPr id="10" name="maintenant-etiquette"/>
          <p:cNvSpPr txBox="1"/>
          <p:nvPr/>
        </p:nvSpPr>
        <p:spPr>
          <a:xfrm>
            <a:off x="812902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</a:t>
            </a:r>
            <a:endParaRPr lang="en-US" sz="1300" dirty="0"/>
          </a:p>
        </p:txBody>
      </p:sp>
      <p:sp>
        <p:nvSpPr>
          <p:cNvPr id="11" name="maintenant-boite-0"/>
          <p:cNvSpPr/>
          <p:nvPr/>
        </p:nvSpPr>
        <p:spPr>
          <a:xfrm>
            <a:off x="812902" y="361188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</a:t>
            </a:r>
            <a:endParaRPr lang="en-US" sz="2200" dirty="0"/>
          </a:p>
        </p:txBody>
      </p:sp>
      <p:sp>
        <p:nvSpPr>
          <p:cNvPr id="12" name="maintenant-fleche-0"/>
          <p:cNvSpPr/>
          <p:nvPr/>
        </p:nvSpPr>
        <p:spPr>
          <a:xfrm>
            <a:off x="2778862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3" name="maintenant-boite-1"/>
          <p:cNvSpPr/>
          <p:nvPr/>
        </p:nvSpPr>
        <p:spPr>
          <a:xfrm>
            <a:off x="3738982" y="361188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200" dirty="0"/>
          </a:p>
        </p:txBody>
      </p:sp>
      <p:sp>
        <p:nvSpPr>
          <p:cNvPr id="14" name="maintenant-fleche-1"/>
          <p:cNvSpPr/>
          <p:nvPr/>
        </p:nvSpPr>
        <p:spPr>
          <a:xfrm>
            <a:off x="6345022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5" name="maintenant-boite-2"/>
          <p:cNvSpPr/>
          <p:nvPr/>
        </p:nvSpPr>
        <p:spPr>
          <a:xfrm>
            <a:off x="7305142" y="361188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</a:t>
            </a:r>
            <a:endParaRPr lang="en-US" sz="2200" dirty="0"/>
          </a:p>
        </p:txBody>
      </p:sp>
      <p:sp>
        <p:nvSpPr>
          <p:cNvPr id="16" name="role"/>
          <p:cNvSpPr txBox="1"/>
          <p:nvPr/>
        </p:nvSpPr>
        <p:spPr>
          <a:xfrm>
            <a:off x="812902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rôle : </a:t>
            </a:r>
            <a:pPr indent="0" marL="0">
              <a:buNone/>
            </a:pPr>
            <a:r>
              <a:rPr lang="en-US" sz="28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 et validateur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CHANGE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basculements</a:t>
            </a:r>
            <a:endParaRPr lang="en-US" sz="3000" dirty="0"/>
          </a:p>
        </p:txBody>
      </p:sp>
      <p:sp>
        <p:nvSpPr>
          <p:cNvPr id="5" name="carte0-forme"/>
          <p:cNvSpPr/>
          <p:nvPr/>
        </p:nvSpPr>
        <p:spPr>
          <a:xfrm>
            <a:off x="812902" y="2377440"/>
            <a:ext cx="3273552" cy="356616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carte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carte0-titre"/>
          <p:cNvSpPr txBox="1"/>
          <p:nvPr/>
        </p:nvSpPr>
        <p:spPr>
          <a:xfrm>
            <a:off x="1087222" y="3383280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barrière technique s'effondre</a:t>
            </a:r>
            <a:endParaRPr lang="en-US" sz="2000" dirty="0"/>
          </a:p>
        </p:txBody>
      </p:sp>
      <p:sp>
        <p:nvSpPr>
          <p:cNvPr id="8" name="carte0-corps"/>
          <p:cNvSpPr txBox="1"/>
          <p:nvPr/>
        </p:nvSpPr>
        <p:spPr>
          <a:xfrm>
            <a:off x="1087222" y="4480560"/>
            <a:ext cx="2724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les compétences. L'effort se déplace : cadrer, donner un contexte, valider.</a:t>
            </a:r>
            <a:endParaRPr lang="en-US" sz="1500" dirty="0"/>
          </a:p>
        </p:txBody>
      </p:sp>
      <p:sp>
        <p:nvSpPr>
          <p:cNvPr id="9" name="carte1-forme"/>
          <p:cNvSpPr/>
          <p:nvPr/>
        </p:nvSpPr>
        <p:spPr>
          <a:xfrm>
            <a:off x="4452214" y="2377440"/>
            <a:ext cx="3273552" cy="356616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carte1-num"/>
          <p:cNvSpPr txBox="1"/>
          <p:nvPr/>
        </p:nvSpPr>
        <p:spPr>
          <a:xfrm>
            <a:off x="4726534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carte1-titre"/>
          <p:cNvSpPr txBox="1"/>
          <p:nvPr/>
        </p:nvSpPr>
        <p:spPr>
          <a:xfrm>
            <a:off x="4726534" y="3383280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vitesse change d'ordre de grandeur</a:t>
            </a:r>
            <a:endParaRPr lang="en-US" sz="2000" dirty="0"/>
          </a:p>
        </p:txBody>
      </p:sp>
      <p:sp>
        <p:nvSpPr>
          <p:cNvPr id="12" name="carte1-corps"/>
          <p:cNvSpPr txBox="1"/>
          <p:nvPr/>
        </p:nvSpPr>
        <p:spPr>
          <a:xfrm>
            <a:off x="4726534" y="4480560"/>
            <a:ext cx="2724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semaines d'équipe deviennent des heures ou des jours, pour un produit simple à moyen.</a:t>
            </a:r>
            <a:endParaRPr lang="en-US" sz="1500" dirty="0"/>
          </a:p>
        </p:txBody>
      </p:sp>
      <p:sp>
        <p:nvSpPr>
          <p:cNvPr id="13" name="carte2-forme"/>
          <p:cNvSpPr/>
          <p:nvPr/>
        </p:nvSpPr>
        <p:spPr>
          <a:xfrm>
            <a:off x="8091526" y="2377440"/>
            <a:ext cx="3273552" cy="356616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carte2-num"/>
          <p:cNvSpPr txBox="1"/>
          <p:nvPr/>
        </p:nvSpPr>
        <p:spPr>
          <a:xfrm>
            <a:off x="8365846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carte2-titre"/>
          <p:cNvSpPr txBox="1"/>
          <p:nvPr/>
        </p:nvSpPr>
        <p:spPr>
          <a:xfrm>
            <a:off x="8365846" y="3383280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métier devient un produit de bout en bout</a:t>
            </a:r>
            <a:endParaRPr lang="en-US" sz="2000" dirty="0"/>
          </a:p>
        </p:txBody>
      </p:sp>
      <p:sp>
        <p:nvSpPr>
          <p:cNvPr id="16" name="carte2-corps"/>
          <p:cNvSpPr txBox="1"/>
          <p:nvPr/>
        </p:nvSpPr>
        <p:spPr>
          <a:xfrm>
            <a:off x="8365846" y="4480560"/>
            <a:ext cx="2724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terminal jusqu'au déploiement : Git, hébergement, tests.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NE CHANGE PAS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Savoir cadrer, découper, </a:t>
            </a:r>
            <a:pPr indent="0" marL="0">
              <a:buNone/>
            </a:pPr>
            <a:r>
              <a:rPr lang="en-US" sz="32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 : un audit d'IA pour un client de l'immobilier.</a:t>
            </a:r>
            <a:endParaRPr lang="en-US" sz="1800" dirty="0"/>
          </a:p>
        </p:txBody>
      </p:sp>
      <p:sp>
        <p:nvSpPr>
          <p:cNvPr id="6" name="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1300" dirty="0"/>
          </a:p>
        </p:txBody>
      </p:sp>
      <p:sp>
        <p:nvSpPr>
          <p:cNvPr id="8" name="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semaines</a:t>
            </a:r>
            <a:endParaRPr lang="en-US" sz="2400" dirty="0"/>
          </a:p>
        </p:txBody>
      </p:sp>
      <p:sp>
        <p:nvSpPr>
          <p:cNvPr id="9" name="avant-corps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développeur et un chef de projet.</a:t>
            </a:r>
            <a:endParaRPr lang="en-US" sz="1700" dirty="0"/>
          </a:p>
        </p:txBody>
      </p:sp>
      <p:sp>
        <p:nvSpPr>
          <p:cNvPr id="10" name="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</a:t>
            </a:r>
            <a:endParaRPr lang="en-US" sz="1300" dirty="0"/>
          </a:p>
        </p:txBody>
      </p:sp>
      <p:sp>
        <p:nvSpPr>
          <p:cNvPr id="12" name="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jours</a:t>
            </a:r>
            <a:endParaRPr lang="en-US" sz="2400" dirty="0"/>
          </a:p>
        </p:txBody>
      </p:sp>
      <p:sp>
        <p:nvSpPr>
          <p:cNvPr id="13" name="apres-corps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personne, qui cadre et qui valide.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PASSONS À LA PRATIQUE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Claude Code en trois commandes</a:t>
            </a:r>
            <a:endParaRPr lang="en-US" sz="2800" dirty="0"/>
          </a:p>
        </p:txBody>
      </p:sp>
      <p:sp>
        <p:nvSpPr>
          <p:cNvPr id="5" name="ligne0-num"/>
          <p:cNvSpPr txBox="1"/>
          <p:nvPr/>
        </p:nvSpPr>
        <p:spPr>
          <a:xfrm>
            <a:off x="812902" y="25786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ligne0-etiquette"/>
          <p:cNvSpPr txBox="1"/>
          <p:nvPr/>
        </p:nvSpPr>
        <p:spPr>
          <a:xfrm>
            <a:off x="1600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Node.js, version 18 ou plus</a:t>
            </a:r>
            <a:endParaRPr lang="en-US" sz="1600" dirty="0"/>
          </a:p>
        </p:txBody>
      </p:sp>
      <p:sp>
        <p:nvSpPr>
          <p:cNvPr id="7" name="ligne0-code"/>
          <p:cNvSpPr/>
          <p:nvPr/>
        </p:nvSpPr>
        <p:spPr>
          <a:xfrm>
            <a:off x="1600200" y="2578608"/>
            <a:ext cx="3108960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--version</a:t>
            </a:r>
            <a:endParaRPr lang="en-US" sz="2000" dirty="0"/>
          </a:p>
        </p:txBody>
      </p:sp>
      <p:sp>
        <p:nvSpPr>
          <p:cNvPr id="8" name="ligne1-num"/>
          <p:cNvSpPr txBox="1"/>
          <p:nvPr/>
        </p:nvSpPr>
        <p:spPr>
          <a:xfrm>
            <a:off x="812902" y="3767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ligne1-etiquette"/>
          <p:cNvSpPr txBox="1"/>
          <p:nvPr/>
        </p:nvSpPr>
        <p:spPr>
          <a:xfrm>
            <a:off x="1600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Claude Code</a:t>
            </a:r>
            <a:endParaRPr lang="en-US" sz="1600" dirty="0"/>
          </a:p>
        </p:txBody>
      </p:sp>
      <p:sp>
        <p:nvSpPr>
          <p:cNvPr id="10" name="ligne1-code"/>
          <p:cNvSpPr/>
          <p:nvPr/>
        </p:nvSpPr>
        <p:spPr>
          <a:xfrm>
            <a:off x="1600200" y="3767328"/>
            <a:ext cx="6949440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</a:t>
            </a:r>
            <a:endParaRPr lang="en-US" sz="2000" dirty="0"/>
          </a:p>
        </p:txBody>
      </p:sp>
      <p:sp>
        <p:nvSpPr>
          <p:cNvPr id="11" name="ligne2-num"/>
          <p:cNvSpPr txBox="1"/>
          <p:nvPr/>
        </p:nvSpPr>
        <p:spPr>
          <a:xfrm>
            <a:off x="812902" y="495604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ligne2-etiquette"/>
          <p:cNvSpPr txBox="1"/>
          <p:nvPr/>
        </p:nvSpPr>
        <p:spPr>
          <a:xfrm>
            <a:off x="1600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lancer, dans le dossier de votre projet</a:t>
            </a:r>
            <a:endParaRPr lang="en-US" sz="1600" dirty="0"/>
          </a:p>
        </p:txBody>
      </p:sp>
      <p:sp>
        <p:nvSpPr>
          <p:cNvPr id="13" name="ligne2-code"/>
          <p:cNvSpPr/>
          <p:nvPr/>
        </p:nvSpPr>
        <p:spPr>
          <a:xfrm>
            <a:off x="1600200" y="4956048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ÇA BLOQUE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blocages fréquents</a:t>
            </a:r>
            <a:endParaRPr lang="en-US" sz="3000" dirty="0"/>
          </a:p>
        </p:txBody>
      </p:sp>
      <p:sp>
        <p:nvSpPr>
          <p:cNvPr id="5" name="blocageA-forme"/>
          <p:cNvSpPr/>
          <p:nvPr/>
        </p:nvSpPr>
        <p:spPr>
          <a:xfrm>
            <a:off x="812902" y="2286000"/>
            <a:ext cx="5100523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blocageA-titre"/>
          <p:cNvSpPr txBox="1"/>
          <p:nvPr/>
        </p:nvSpPr>
        <p:spPr>
          <a:xfrm>
            <a:off x="1132942" y="2560320"/>
            <a:ext cx="4460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L'installation est coupée</a:t>
            </a:r>
            <a:endParaRPr lang="en-US" sz="2000" dirty="0"/>
          </a:p>
        </p:txBody>
      </p:sp>
      <p:sp>
        <p:nvSpPr>
          <p:cNvPr id="7" name="blocageA-corps"/>
          <p:cNvSpPr txBox="1"/>
          <p:nvPr/>
        </p:nvSpPr>
        <p:spPr>
          <a:xfrm>
            <a:off x="1132942" y="3154680"/>
            <a:ext cx="44604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claude --version renvoie une erreur. Ne relancez pas par-dessus : désinstallez, puis réinstallez avec une connexion stable.</a:t>
            </a:r>
            <a:endParaRPr lang="en-US" sz="1500" dirty="0"/>
          </a:p>
        </p:txBody>
      </p:sp>
      <p:sp>
        <p:nvSpPr>
          <p:cNvPr id="8" name="blocageA-code"/>
          <p:cNvSpPr/>
          <p:nvPr/>
        </p:nvSpPr>
        <p:spPr>
          <a:xfrm>
            <a:off x="1132942" y="4389120"/>
            <a:ext cx="4460443" cy="960120"/>
          </a:xfrm>
          <a:prstGeom prst="roundRect">
            <a:avLst>
              <a:gd name="adj" fmla="val 9524"/>
            </a:avLst>
          </a:prstGeom>
          <a:solidFill>
            <a:srgbClr val="113832"/>
          </a:solidFill>
          <a:ln/>
        </p:spPr>
        <p:txBody>
          <a:bodyPr wrap="square" lIns="203200" tIns="0" rIns="203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uninstall -g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@anthropic-ai/claude-code</a:t>
            </a:r>
            <a:endParaRPr lang="en-US" sz="1300" dirty="0"/>
          </a:p>
        </p:txBody>
      </p:sp>
      <p:sp>
        <p:nvSpPr>
          <p:cNvPr id="9" name="blocageB-forme"/>
          <p:cNvSpPr/>
          <p:nvPr/>
        </p:nvSpPr>
        <p:spPr>
          <a:xfrm>
            <a:off x="6279185" y="2286000"/>
            <a:ext cx="5100523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blocageB-titre"/>
          <p:cNvSpPr txBox="1"/>
          <p:nvPr/>
        </p:nvSpPr>
        <p:spPr>
          <a:xfrm>
            <a:off x="6599225" y="2560320"/>
            <a:ext cx="4460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bloque les scripts</a:t>
            </a:r>
            <a:endParaRPr lang="en-US" sz="2000" dirty="0"/>
          </a:p>
        </p:txBody>
      </p:sp>
      <p:sp>
        <p:nvSpPr>
          <p:cNvPr id="11" name="blocageB-corps"/>
          <p:cNvSpPr txBox="1"/>
          <p:nvPr/>
        </p:nvSpPr>
        <p:spPr>
          <a:xfrm>
            <a:off x="6599225" y="3154680"/>
            <a:ext cx="44604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affiche : l'exécution de scripts est désactivée. C'est une protection par défaut. La correction autorise les scripts locaux seulement.</a:t>
            </a:r>
            <a:endParaRPr lang="en-US" sz="1500" dirty="0"/>
          </a:p>
        </p:txBody>
      </p:sp>
      <p:sp>
        <p:nvSpPr>
          <p:cNvPr id="12" name="blocageB-code"/>
          <p:cNvSpPr/>
          <p:nvPr/>
        </p:nvSpPr>
        <p:spPr>
          <a:xfrm>
            <a:off x="6599225" y="4389120"/>
            <a:ext cx="4460443" cy="960120"/>
          </a:xfrm>
          <a:prstGeom prst="roundRect">
            <a:avLst>
              <a:gd name="adj" fmla="val 9524"/>
            </a:avLst>
          </a:prstGeom>
          <a:solidFill>
            <a:srgbClr val="113832"/>
          </a:solidFill>
          <a:ln/>
        </p:spPr>
        <p:txBody>
          <a:bodyPr wrap="square" lIns="203200" tIns="0" rIns="203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Set-ExecutionPolicy -Scope CurrentUser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-ExecutionPolicy RemoteSigned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conclusion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 et validateur,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traducteur de syntaxe.</a:t>
            </a:r>
            <a:endParaRPr lang="en-US" sz="3000" dirty="0"/>
          </a:p>
        </p:txBody>
      </p:sp>
      <p:sp>
        <p:nvSpPr>
          <p:cNvPr id="5" name="point-1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L'effort se déplace, il ne disparaît pas.</a:t>
            </a:r>
            <a:endParaRPr lang="en-US" sz="2200" dirty="0"/>
          </a:p>
        </p:txBody>
      </p:sp>
      <p:sp>
        <p:nvSpPr>
          <p:cNvPr id="6" name="point-2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personne seule peut livrer un produit complet, du code au déploiement.</a:t>
            </a:r>
            <a:endParaRPr lang="en-US" sz="2200" dirty="0"/>
          </a:p>
        </p:txBody>
      </p:sp>
      <p:sp>
        <p:nvSpPr>
          <p:cNvPr id="7" name="prochaine"/>
          <p:cNvSpPr/>
          <p:nvPr/>
        </p:nvSpPr>
        <p:spPr>
          <a:xfrm>
            <a:off x="812902" y="5212080"/>
            <a:ext cx="10565892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le terminal et l'éditeur de code, votre nouvel espace de travail.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Pourquoi Claude Code va changer votre métier</dc:title>
  <dc:subject>Vivier IA, Module 1, section 1, chapitre 1</dc:subject>
  <dc:creator>Zézé Bilivogui</dc:creator>
  <cp:lastModifiedBy>Zézé Bilivogui</cp:lastModifiedBy>
  <cp:revision>1</cp:revision>
  <dcterms:created xsi:type="dcterms:W3CDTF">2026-09-21T01:45:46Z</dcterms:created>
  <dcterms:modified xsi:type="dcterms:W3CDTF">2026-09-21T01:45:46Z</dcterms:modified>
</cp:coreProperties>
</file>