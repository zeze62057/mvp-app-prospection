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ce que font Git et GitHub, pourquoi c'est un filet de sécurité, trois réflexes, puis l'installation.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0:20. Clic 1 à « Git garde en mémoire » : la carte Git. Clic 2 à « GitHub est la plateforme » : la carte GitHub. Un commit est une photo datée du code à un instant donné.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0:42. La ligne « Sans Git » est déjà visible. Clic 1 à « Avec Git, vous revenez à un état antérieur » : la deuxième ligne. Clic 2 à « Presque rien n'est perdu » : la phrase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1:05 (premier réflexe), puis les deux suivants. Un clic par carte, au début de chaque réflexe. La diapositive reste affichée jusqu'à 2:18 : le point sur la validation avant un push (1:33) et l'exemple concret (1:48) se disent sur cette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2:18. Un clic par système : Windows, Mac, Linux. Puis on bascule sur le navigateur, page git-scm.com. Git est déjà installé sur la machine d'enregistrement : afficher la page sans installer.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3:04. Un clic par commande. Ne pas exécuter ces commandes pendant l'enregistrement : elles écraseraient la configuration Git de votre poste (voir le point 3 de la section 2 du script).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3:30. Un clic par étape (4 clics). Afficher seulement github.com déconnecté, ou un compte de démonstration. Ne créer aucun jeton à l'écran : un jeton est un secret (voir le point 4 de la section 2 du script). Après cette diapositive : démonstration du premier commit dans VS Code (4:37), sans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6:05. Le titre apparaît seul. Puis un clic par point, et un dernier clic pour l'annonce de la prochaine vidéo (section 1, chapitre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1 · CHAPITRE 3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et GitHub,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filet de sécurité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code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comprendre le filet de sécurité, puis faire votre premier commit.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et GitHub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311896" y="45262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réflexes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L'installation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DÉFINITIONS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et GitHub, qui fait quoi 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garde l'historique. GitHub l'héberge en ligne.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L'historique du projet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état est un commit : une photo datée du code.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L'hébergement en ligne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Sauvegarde, partage et collaboration.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FILET DE SÉCURITÉ</a:t>
            </a:r>
            <a:endParaRPr lang="en-US" sz="1300" dirty="0"/>
          </a:p>
        </p:txBody>
      </p:sp>
      <p:sp>
        <p:nvSpPr>
          <p:cNvPr id="4" name="s3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GIT</a:t>
            </a:r>
            <a:endParaRPr lang="en-US" sz="1300" dirty="0"/>
          </a:p>
        </p:txBody>
      </p:sp>
      <p:sp>
        <p:nvSpPr>
          <p:cNvPr id="5" name="s3-r0-b0"/>
          <p:cNvSpPr/>
          <p:nvPr/>
        </p:nvSpPr>
        <p:spPr>
          <a:xfrm>
            <a:off x="812902" y="1874520"/>
            <a:ext cx="2793206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</a:t>
            </a:r>
            <a:endParaRPr lang="en-US" sz="2200" dirty="0"/>
          </a:p>
        </p:txBody>
      </p:sp>
      <p:sp>
        <p:nvSpPr>
          <p:cNvPr id="6" name="s3-r0-f0"/>
          <p:cNvSpPr/>
          <p:nvPr/>
        </p:nvSpPr>
        <p:spPr>
          <a:xfrm>
            <a:off x="3834708" y="2148840"/>
            <a:ext cx="731520" cy="365760"/>
          </a:xfrm>
          <a:prstGeom prst="rightArrow">
            <a:avLst/>
          </a:prstGeom>
          <a:solidFill>
            <a:srgbClr val="BFD8D5"/>
          </a:solidFill>
          <a:ln w="6350">
            <a:solidFill>
              <a:srgbClr val="BFD8D5"/>
            </a:solidFill>
            <a:prstDash val="solid"/>
          </a:ln>
        </p:spPr>
      </p:sp>
      <p:sp>
        <p:nvSpPr>
          <p:cNvPr id="7" name="s3-r0-b1"/>
          <p:cNvSpPr/>
          <p:nvPr/>
        </p:nvSpPr>
        <p:spPr>
          <a:xfrm>
            <a:off x="4674098" y="1874520"/>
            <a:ext cx="2135981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 casse</a:t>
            </a:r>
            <a:endParaRPr lang="en-US" sz="2200" dirty="0"/>
          </a:p>
        </p:txBody>
      </p:sp>
      <p:sp>
        <p:nvSpPr>
          <p:cNvPr id="8" name="s3-r0-f1"/>
          <p:cNvSpPr/>
          <p:nvPr/>
        </p:nvSpPr>
        <p:spPr>
          <a:xfrm>
            <a:off x="7038680" y="2148840"/>
            <a:ext cx="731520" cy="365760"/>
          </a:xfrm>
          <a:prstGeom prst="rightArrow">
            <a:avLst/>
          </a:prstGeom>
          <a:solidFill>
            <a:srgbClr val="BFD8D5"/>
          </a:solidFill>
          <a:ln w="6350">
            <a:solidFill>
              <a:srgbClr val="BFD8D5"/>
            </a:solidFill>
            <a:prstDash val="solid"/>
          </a:ln>
        </p:spPr>
      </p:sp>
      <p:sp>
        <p:nvSpPr>
          <p:cNvPr id="9" name="s3-r0-b2"/>
          <p:cNvSpPr/>
          <p:nvPr/>
        </p:nvSpPr>
        <p:spPr>
          <a:xfrm>
            <a:off x="7878070" y="1874520"/>
            <a:ext cx="3450431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Parfois irréversible</a:t>
            </a:r>
            <a:endParaRPr lang="en-US" sz="2200" dirty="0"/>
          </a:p>
        </p:txBody>
      </p:sp>
      <p:sp>
        <p:nvSpPr>
          <p:cNvPr id="10" name="s3-r1-etiquette"/>
          <p:cNvSpPr txBox="1"/>
          <p:nvPr/>
        </p:nvSpPr>
        <p:spPr>
          <a:xfrm>
            <a:off x="812902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GIT</a:t>
            </a:r>
            <a:endParaRPr lang="en-US" sz="1300" dirty="0"/>
          </a:p>
        </p:txBody>
      </p:sp>
      <p:sp>
        <p:nvSpPr>
          <p:cNvPr id="11" name="s3-r1-b0"/>
          <p:cNvSpPr/>
          <p:nvPr/>
        </p:nvSpPr>
        <p:spPr>
          <a:xfrm>
            <a:off x="812902" y="3611880"/>
            <a:ext cx="2793206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</a:t>
            </a:r>
            <a:endParaRPr lang="en-US" sz="2200" dirty="0"/>
          </a:p>
        </p:txBody>
      </p:sp>
      <p:sp>
        <p:nvSpPr>
          <p:cNvPr id="12" name="s3-r1-f0"/>
          <p:cNvSpPr/>
          <p:nvPr/>
        </p:nvSpPr>
        <p:spPr>
          <a:xfrm>
            <a:off x="3834708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3" name="s3-r1-b1"/>
          <p:cNvSpPr/>
          <p:nvPr/>
        </p:nvSpPr>
        <p:spPr>
          <a:xfrm>
            <a:off x="4674098" y="3611880"/>
            <a:ext cx="2135981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 casse</a:t>
            </a:r>
            <a:endParaRPr lang="en-US" sz="2200" dirty="0"/>
          </a:p>
        </p:txBody>
      </p:sp>
      <p:sp>
        <p:nvSpPr>
          <p:cNvPr id="14" name="s3-r1-f1"/>
          <p:cNvSpPr/>
          <p:nvPr/>
        </p:nvSpPr>
        <p:spPr>
          <a:xfrm>
            <a:off x="7038680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5" name="s3-r1-b2"/>
          <p:cNvSpPr/>
          <p:nvPr/>
        </p:nvSpPr>
        <p:spPr>
          <a:xfrm>
            <a:off x="7878070" y="3611880"/>
            <a:ext cx="3450431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à l'état d'avant</a:t>
            </a:r>
            <a:endParaRPr lang="en-US" sz="2200" dirty="0"/>
          </a:p>
        </p:txBody>
      </p:sp>
      <p:sp>
        <p:nvSpPr>
          <p:cNvPr id="16" name="s3-phrase"/>
          <p:cNvSpPr txBox="1"/>
          <p:nvPr/>
        </p:nvSpPr>
        <p:spPr>
          <a:xfrm>
            <a:off x="812902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Presque rien n'est perdu </a:t>
            </a:r>
            <a:pPr indent="0" marL="0">
              <a:buNone/>
            </a:pPr>
            <a:r>
              <a:rPr lang="en-US" sz="28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définitivement</a:t>
            </a:r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RÉFLEXES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installer dès le départ</a:t>
            </a:r>
            <a:endParaRPr lang="en-US" sz="3000" dirty="0"/>
          </a:p>
        </p:txBody>
      </p:sp>
      <p:sp>
        <p:nvSpPr>
          <p:cNvPr id="5" name="s4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4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4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Committer régulièrement</a:t>
            </a:r>
            <a:endParaRPr lang="en-US" sz="2000" dirty="0"/>
          </a:p>
        </p:txBody>
      </p:sp>
      <p:sp>
        <p:nvSpPr>
          <p:cNvPr id="8" name="s4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 stable du projet, pas seulement à la fin.</a:t>
            </a:r>
            <a:endParaRPr lang="en-US" sz="1500" dirty="0"/>
          </a:p>
        </p:txBody>
      </p:sp>
      <p:sp>
        <p:nvSpPr>
          <p:cNvPr id="9" name="s4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4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4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messages clairs</a:t>
            </a:r>
            <a:endParaRPr lang="en-US" sz="2000" dirty="0"/>
          </a:p>
        </p:txBody>
      </p:sp>
      <p:sp>
        <p:nvSpPr>
          <p:cNvPr id="12" name="s4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expliquent le pourquoi du changement, pas juste « modif ».</a:t>
            </a:r>
            <a:endParaRPr lang="en-US" sz="1500" dirty="0"/>
          </a:p>
        </p:txBody>
      </p:sp>
      <p:sp>
        <p:nvSpPr>
          <p:cNvPr id="13" name="s4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4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4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Pousser vers GitHub</a:t>
            </a:r>
            <a:endParaRPr lang="en-US" sz="2000" dirty="0"/>
          </a:p>
        </p:txBody>
      </p:sp>
      <p:sp>
        <p:nvSpPr>
          <p:cNvPr id="16" name="s4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sauvegarde hors de votre machine. Vous validez avant de pousser.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PASSONS À LA PRATIQUE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Git</a:t>
            </a:r>
            <a:endParaRPr lang="en-US" sz="2800" dirty="0"/>
          </a:p>
        </p:txBody>
      </p:sp>
      <p:sp>
        <p:nvSpPr>
          <p:cNvPr id="5" name="s5-l0-num"/>
          <p:cNvSpPr txBox="1"/>
          <p:nvPr/>
        </p:nvSpPr>
        <p:spPr>
          <a:xfrm>
            <a:off x="812902" y="25786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5-l0-etiquette"/>
          <p:cNvSpPr txBox="1"/>
          <p:nvPr/>
        </p:nvSpPr>
        <p:spPr>
          <a:xfrm>
            <a:off x="1600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 : l'installateur, options par défaut</a:t>
            </a:r>
            <a:endParaRPr lang="en-US" sz="1600" dirty="0"/>
          </a:p>
        </p:txBody>
      </p:sp>
      <p:sp>
        <p:nvSpPr>
          <p:cNvPr id="7" name="s5-l0-code"/>
          <p:cNvSpPr/>
          <p:nvPr/>
        </p:nvSpPr>
        <p:spPr>
          <a:xfrm>
            <a:off x="1600200" y="2578608"/>
            <a:ext cx="2499695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</a:t>
            </a:r>
            <a:endParaRPr lang="en-US" sz="2000" dirty="0"/>
          </a:p>
        </p:txBody>
      </p:sp>
      <p:sp>
        <p:nvSpPr>
          <p:cNvPr id="8" name="s5-l1-num"/>
          <p:cNvSpPr txBox="1"/>
          <p:nvPr/>
        </p:nvSpPr>
        <p:spPr>
          <a:xfrm>
            <a:off x="812902" y="3767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5-l1-etiquette"/>
          <p:cNvSpPr txBox="1"/>
          <p:nvPr/>
        </p:nvSpPr>
        <p:spPr>
          <a:xfrm>
            <a:off x="1600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 : macOS propose l'installation si Git est absent</a:t>
            </a:r>
            <a:endParaRPr lang="en-US" sz="1600" dirty="0"/>
          </a:p>
        </p:txBody>
      </p:sp>
      <p:sp>
        <p:nvSpPr>
          <p:cNvPr id="10" name="s5-l1-code"/>
          <p:cNvSpPr/>
          <p:nvPr/>
        </p:nvSpPr>
        <p:spPr>
          <a:xfrm>
            <a:off x="1600200" y="3767328"/>
            <a:ext cx="2804556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2000" dirty="0"/>
          </a:p>
        </p:txBody>
      </p:sp>
      <p:sp>
        <p:nvSpPr>
          <p:cNvPr id="11" name="s5-l2-num"/>
          <p:cNvSpPr txBox="1"/>
          <p:nvPr/>
        </p:nvSpPr>
        <p:spPr>
          <a:xfrm>
            <a:off x="812902" y="495604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s5-l2-etiquette"/>
          <p:cNvSpPr txBox="1"/>
          <p:nvPr/>
        </p:nvSpPr>
        <p:spPr>
          <a:xfrm>
            <a:off x="1600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(Debian, Ubuntu)</a:t>
            </a:r>
            <a:endParaRPr lang="en-US" sz="1600" dirty="0"/>
          </a:p>
        </p:txBody>
      </p:sp>
      <p:sp>
        <p:nvSpPr>
          <p:cNvPr id="13" name="s5-l2-code"/>
          <p:cNvSpPr/>
          <p:nvPr/>
        </p:nvSpPr>
        <p:spPr>
          <a:xfrm>
            <a:off x="1600200" y="4956048"/>
            <a:ext cx="3871570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git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FAIRE UNE SEULE FOIS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Git</a:t>
            </a:r>
            <a:endParaRPr lang="en-US" sz="2800" dirty="0"/>
          </a:p>
        </p:txBody>
      </p:sp>
      <p:sp>
        <p:nvSpPr>
          <p:cNvPr id="5" name="s6-l0-num"/>
          <p:cNvSpPr txBox="1"/>
          <p:nvPr/>
        </p:nvSpPr>
        <p:spPr>
          <a:xfrm>
            <a:off x="812902" y="25786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6-l0-etiquette"/>
          <p:cNvSpPr txBox="1"/>
          <p:nvPr/>
        </p:nvSpPr>
        <p:spPr>
          <a:xfrm>
            <a:off x="1600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nom</a:t>
            </a:r>
            <a:endParaRPr lang="en-US" sz="1600" dirty="0"/>
          </a:p>
        </p:txBody>
      </p:sp>
      <p:sp>
        <p:nvSpPr>
          <p:cNvPr id="7" name="s6-l0-code"/>
          <p:cNvSpPr/>
          <p:nvPr/>
        </p:nvSpPr>
        <p:spPr>
          <a:xfrm>
            <a:off x="1600200" y="2578608"/>
            <a:ext cx="7072610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"Votre Nom"</a:t>
            </a:r>
            <a:endParaRPr lang="en-US" sz="2000" dirty="0"/>
          </a:p>
        </p:txBody>
      </p:sp>
      <p:sp>
        <p:nvSpPr>
          <p:cNvPr id="8" name="s6-l1-num"/>
          <p:cNvSpPr txBox="1"/>
          <p:nvPr/>
        </p:nvSpPr>
        <p:spPr>
          <a:xfrm>
            <a:off x="812902" y="3767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6-l1-etiquette"/>
          <p:cNvSpPr txBox="1"/>
          <p:nvPr/>
        </p:nvSpPr>
        <p:spPr>
          <a:xfrm>
            <a:off x="1600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adresse e-mail</a:t>
            </a:r>
            <a:endParaRPr lang="en-US" sz="1600" dirty="0"/>
          </a:p>
        </p:txBody>
      </p:sp>
      <p:sp>
        <p:nvSpPr>
          <p:cNvPr id="10" name="s6-l1-code"/>
          <p:cNvSpPr/>
          <p:nvPr/>
        </p:nvSpPr>
        <p:spPr>
          <a:xfrm>
            <a:off x="1600200" y="3767328"/>
            <a:ext cx="9359067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"votre.email@exemple.com"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votre projet sur GitHub</a:t>
            </a:r>
            <a:endParaRPr lang="en-US" sz="2800" dirty="0"/>
          </a:p>
        </p:txBody>
      </p:sp>
      <p:sp>
        <p:nvSpPr>
          <p:cNvPr id="5" name="s7-l0-cadre"/>
          <p:cNvSpPr/>
          <p:nvPr/>
        </p:nvSpPr>
        <p:spPr>
          <a:xfrm>
            <a:off x="1463040" y="2121408"/>
            <a:ext cx="9966960" cy="781812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6" name="s7-l0-num"/>
          <p:cNvSpPr txBox="1"/>
          <p:nvPr/>
        </p:nvSpPr>
        <p:spPr>
          <a:xfrm>
            <a:off x="812902" y="22219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7-l0-etiquette"/>
          <p:cNvSpPr txBox="1"/>
          <p:nvPr/>
        </p:nvSpPr>
        <p:spPr>
          <a:xfrm>
            <a:off x="1600200" y="2176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1600" dirty="0"/>
          </a:p>
        </p:txBody>
      </p:sp>
      <p:sp>
        <p:nvSpPr>
          <p:cNvPr id="8" name="s7-l0-detail"/>
          <p:cNvSpPr txBox="1"/>
          <p:nvPr/>
        </p:nvSpPr>
        <p:spPr>
          <a:xfrm>
            <a:off x="160020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sur github.com.</a:t>
            </a:r>
            <a:endParaRPr lang="en-US" sz="1800" dirty="0"/>
          </a:p>
        </p:txBody>
      </p:sp>
      <p:sp>
        <p:nvSpPr>
          <p:cNvPr id="9" name="s7-l1-cadre"/>
          <p:cNvSpPr/>
          <p:nvPr/>
        </p:nvSpPr>
        <p:spPr>
          <a:xfrm>
            <a:off x="1463040" y="3012948"/>
            <a:ext cx="9966960" cy="781812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0" name="s7-l1-num"/>
          <p:cNvSpPr txBox="1"/>
          <p:nvPr/>
        </p:nvSpPr>
        <p:spPr>
          <a:xfrm>
            <a:off x="812902" y="31135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7-l1-etiquette"/>
          <p:cNvSpPr txBox="1"/>
          <p:nvPr/>
        </p:nvSpPr>
        <p:spPr>
          <a:xfrm>
            <a:off x="1600200" y="30678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dépôt</a:t>
            </a:r>
            <a:endParaRPr lang="en-US" sz="1600" dirty="0"/>
          </a:p>
        </p:txBody>
      </p:sp>
      <p:sp>
        <p:nvSpPr>
          <p:cNvPr id="12" name="s7-l1-detail"/>
          <p:cNvSpPr txBox="1"/>
          <p:nvPr/>
        </p:nvSpPr>
        <p:spPr>
          <a:xfrm>
            <a:off x="1600200" y="33604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dépôt vide, depuis le site.</a:t>
            </a:r>
            <a:endParaRPr lang="en-US" sz="1800" dirty="0"/>
          </a:p>
        </p:txBody>
      </p:sp>
      <p:sp>
        <p:nvSpPr>
          <p:cNvPr id="13" name="s7-l2-cadre"/>
          <p:cNvSpPr/>
          <p:nvPr/>
        </p:nvSpPr>
        <p:spPr>
          <a:xfrm>
            <a:off x="1463040" y="3904488"/>
            <a:ext cx="9966960" cy="781812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4" name="s7-l2-num"/>
          <p:cNvSpPr txBox="1"/>
          <p:nvPr/>
        </p:nvSpPr>
        <p:spPr>
          <a:xfrm>
            <a:off x="812902" y="400507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7-l2-etiquette"/>
          <p:cNvSpPr txBox="1"/>
          <p:nvPr/>
        </p:nvSpPr>
        <p:spPr>
          <a:xfrm>
            <a:off x="1600200" y="3959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votre projet</a:t>
            </a:r>
            <a:endParaRPr lang="en-US" sz="1600" dirty="0"/>
          </a:p>
        </p:txBody>
      </p:sp>
      <p:sp>
        <p:nvSpPr>
          <p:cNvPr id="16" name="s7-l2-detail"/>
          <p:cNvSpPr txBox="1"/>
          <p:nvPr/>
        </p:nvSpPr>
        <p:spPr>
          <a:xfrm>
            <a:off x="160020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pousser le premier commit. Claude Code peut le faire pour vous.</a:t>
            </a:r>
            <a:endParaRPr lang="en-US" sz="1800" dirty="0"/>
          </a:p>
        </p:txBody>
      </p:sp>
      <p:sp>
        <p:nvSpPr>
          <p:cNvPr id="17" name="s7-l3-cadre"/>
          <p:cNvSpPr/>
          <p:nvPr/>
        </p:nvSpPr>
        <p:spPr>
          <a:xfrm>
            <a:off x="1463040" y="4796028"/>
            <a:ext cx="9966960" cy="781812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8" name="s7-l3-num"/>
          <p:cNvSpPr txBox="1"/>
          <p:nvPr/>
        </p:nvSpPr>
        <p:spPr>
          <a:xfrm>
            <a:off x="812902" y="48966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s7-l3-etiquette"/>
          <p:cNvSpPr txBox="1"/>
          <p:nvPr/>
        </p:nvSpPr>
        <p:spPr>
          <a:xfrm>
            <a:off x="1600200" y="48508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S'authentifier avec un jeton d'accès personnel</a:t>
            </a:r>
            <a:endParaRPr lang="en-US" sz="1600" dirty="0"/>
          </a:p>
        </p:txBody>
      </p:sp>
      <p:sp>
        <p:nvSpPr>
          <p:cNvPr id="20" name="s7-l3-detail"/>
          <p:cNvSpPr txBox="1"/>
          <p:nvPr/>
        </p:nvSpPr>
        <p:spPr>
          <a:xfrm>
            <a:off x="1600200" y="51435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Developer settings, Personal access tokens.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8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protège votre projet,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le sauvegarde.</a:t>
            </a:r>
            <a:endParaRPr lang="en-US" sz="3000" dirty="0"/>
          </a:p>
        </p:txBody>
      </p:sp>
      <p:sp>
        <p:nvSpPr>
          <p:cNvPr id="5" name="s8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garde un historique réversible du projet.</a:t>
            </a:r>
            <a:endParaRPr lang="en-US" sz="2200" dirty="0"/>
          </a:p>
        </p:txBody>
      </p:sp>
      <p:sp>
        <p:nvSpPr>
          <p:cNvPr id="6" name="s8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héberge et sécurise cet historique en ligne.</a:t>
            </a:r>
            <a:endParaRPr lang="en-US" sz="2200" dirty="0"/>
          </a:p>
        </p:txBody>
      </p:sp>
      <p:sp>
        <p:nvSpPr>
          <p:cNvPr id="7" name="s8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Committez souvent, avec des messages clairs, et validez avant de pousser.</a:t>
            </a:r>
            <a:endParaRPr lang="en-US" sz="2200" dirty="0"/>
          </a:p>
        </p:txBody>
      </p:sp>
      <p:sp>
        <p:nvSpPr>
          <p:cNvPr id="8" name="s8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Vercel et OVH, mettre en ligne en quelques minutes.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et GitHub, le filet de sécurité du code</dc:title>
  <dc:subject>Vivier IA, Module 1, section 1, chapitre 3</dc:subject>
  <dc:creator>Zézé Bilivogui</dc:creator>
  <cp:lastModifiedBy>Zézé Bilivogui</cp:lastModifiedBy>
  <cp:revision>1</cp:revision>
  <dcterms:created xsi:type="dcterms:W3CDTF">2026-09-21T07:12:14Z</dcterms:created>
  <dcterms:modified xsi:type="dcterms:W3CDTF">2026-09-21T07:12:14Z</dcterms:modified>
</cp:coreProperties>
</file>