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 du script : 0:00. Accroche et annonce du plan : deux hébergeurs, comment choisir, puis un déploiement pas à pas sur Vercel. Dernier chapitre de la section 1. Tout s'anime tout seul à l'ouverture de la diapositive.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 du script : 0:18. La phrase apparaît seule. Clic à « Pas seulement quand le code fonctionne » : le texte d'appui. C'est le rôle de l'hébergement et du déploiement.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 du script : 0:40. Clic 1 à « Vercel est une plateforme » : la carte Vercel. Clic 2 à « OVH est un hébergeur » : la carte OVH. Vercel : MVP, sites vitrines, front-end. OVH : hébergeur plus traditionnel, coûts maîtrisés sur la durée.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 du script : 1:24. La ligne « Site vitrine » est déjà visible. Clic 1 à « À l'inverse » : la ligne « Backend n8n ». Clic 2 à la fin : la phrase finale.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 du script : 2:07. Un clic par étape (4 clics). Puis on bascule sur vercel.com, déjà connecté au compte de démonstration. Vérifier le libellé « Add New Project » à l'écran le jour de l'enregistrement (point 4 de la section 2 du script). Après cette diapositive : démonstration du déploiement dans le tableau de bord (3:05), sans diapositive.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 du script : 5:05. Un clic par étape (2 clics). Un VPS est un serveur privé virtuel. L'installation complète d'un n8n de production sur un VPS est couverte au Module 2, section 5. Afficher seulement le site et la page des offres : aucun achat, aucune information de paiement (point 4 de la section 2 du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Moment du script : 5:50. Le titre apparaît seul. Puis un clic par point, et un dernier clic pour l'annonce de la prochaine vidéo (section 2, chapitre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ogo" descr="Logo Vivier IA : le vivier des talents IA francophones">    </p:cNvPr>
          <p:cNvPicPr>
            <a:picLocks noChangeAspect="1"/>
          </p:cNvPicPr>
          <p:nvPr/>
        </p:nvPicPr>
        <p:blipFill>
          <a:blip r:embed="rId2"/>
          <a:stretch>
            <a:fillRect/>
          </a:stretch>
        </p:blipFill>
        <p:spPr>
          <a:xfrm>
            <a:off x="9448495" y="5074920"/>
            <a:ext cx="2103120" cy="1240003"/>
          </a:xfrm>
          <a:prstGeom prst="rect">
            <a:avLst/>
          </a:prstGeom>
        </p:spPr>
      </p:pic>
      <p:sp>
        <p:nvSpPr>
          <p:cNvPr id="3" name="s1-surtitre"/>
          <p:cNvSpPr txBox="1"/>
          <p:nvPr/>
        </p:nvSpPr>
        <p:spPr>
          <a:xfrm>
            <a:off x="5843016" y="1005840"/>
            <a:ext cx="5532120" cy="457200"/>
          </a:xfrm>
          <a:prstGeom prst="rect">
            <a:avLst/>
          </a:prstGeom>
          <a:noFill/>
          <a:ln/>
        </p:spPr>
        <p:txBody>
          <a:bodyPr wrap="square" lIns="0" tIns="0" rIns="0" bIns="0" rtlCol="0" anchor="t"/>
          <a:lstStyle/>
          <a:p>
            <a:pPr indent="0" marL="0">
              <a:buNone/>
            </a:pPr>
            <a:r>
              <a:rPr lang="en-US" sz="1300" b="1" spc="100" kern="0" dirty="0">
                <a:solidFill>
                  <a:srgbClr val="5FC7B8"/>
                </a:solidFill>
                <a:latin typeface="Arial" pitchFamily="34" charset="0"/>
                <a:ea typeface="Arial" pitchFamily="34" charset="-122"/>
                <a:cs typeface="Arial" pitchFamily="34" charset="-120"/>
              </a:rPr>
              <a:t>VIVIER IA · MODULE 1 · SECTION 1 · CHAPITRE 4</a:t>
            </a:r>
            <a:endParaRPr lang="en-US" sz="1300" dirty="0"/>
          </a:p>
        </p:txBody>
      </p:sp>
      <p:sp>
        <p:nvSpPr>
          <p:cNvPr id="4" name="s1-titre"/>
          <p:cNvSpPr txBox="1"/>
          <p:nvPr/>
        </p:nvSpPr>
        <p:spPr>
          <a:xfrm>
            <a:off x="5843016" y="1691640"/>
            <a:ext cx="5532120" cy="1463040"/>
          </a:xfrm>
          <a:prstGeom prst="rect">
            <a:avLst/>
          </a:prstGeom>
          <a:noFill/>
          <a:ln/>
        </p:spPr>
        <p:txBody>
          <a:bodyPr wrap="square" lIns="0" tIns="0" rIns="0" bIns="0" rtlCol="0" anchor="t"/>
          <a:lstStyle/>
          <a:p>
            <a:pPr indent="0" marL="0">
              <a:lnSpc>
                <a:spcPct val="105000"/>
              </a:lnSpc>
              <a:buNone/>
            </a:pPr>
            <a:r>
              <a:rPr lang="en-US" sz="3400" b="1" dirty="0">
                <a:solidFill>
                  <a:srgbClr val="F2F7F5"/>
                </a:solidFill>
                <a:latin typeface="Arial" pitchFamily="34" charset="0"/>
                <a:ea typeface="Arial" pitchFamily="34" charset="-122"/>
                <a:cs typeface="Arial" pitchFamily="34" charset="-120"/>
              </a:rPr>
              <a:t>Vercel et OVH,</a:t>
            </a:r>
            <a:endParaRPr lang="en-US" sz="3400" dirty="0"/>
          </a:p>
          <a:p>
            <a:pPr indent="0" marL="0">
              <a:lnSpc>
                <a:spcPct val="105000"/>
              </a:lnSpc>
              <a:buNone/>
            </a:pPr>
            <a:r>
              <a:rPr lang="en-US" sz="3400" b="1" dirty="0">
                <a:solidFill>
                  <a:srgbClr val="F2F7F5"/>
                </a:solidFill>
                <a:latin typeface="Arial" pitchFamily="34" charset="0"/>
                <a:ea typeface="Arial" pitchFamily="34" charset="-122"/>
                <a:cs typeface="Arial" pitchFamily="34" charset="-120"/>
              </a:rPr>
              <a:t>mettre en ligne</a:t>
            </a:r>
            <a:endParaRPr lang="en-US" sz="3400" dirty="0"/>
          </a:p>
          <a:p>
            <a:pPr indent="0" marL="0">
              <a:lnSpc>
                <a:spcPct val="105000"/>
              </a:lnSpc>
              <a:buNone/>
            </a:pPr>
            <a:r>
              <a:rPr lang="en-US" sz="3400" b="1" dirty="0">
                <a:solidFill>
                  <a:srgbClr val="F2F7F5"/>
                </a:solidFill>
                <a:latin typeface="Arial" pitchFamily="34" charset="0"/>
                <a:ea typeface="Arial" pitchFamily="34" charset="-122"/>
                <a:cs typeface="Arial" pitchFamily="34" charset="-120"/>
              </a:rPr>
              <a:t>en quelques minutes</a:t>
            </a:r>
            <a:endParaRPr lang="en-US" sz="3400" dirty="0"/>
          </a:p>
        </p:txBody>
      </p:sp>
      <p:sp>
        <p:nvSpPr>
          <p:cNvPr id="5" name="s1-objectif"/>
          <p:cNvSpPr txBox="1"/>
          <p:nvPr/>
        </p:nvSpPr>
        <p:spPr>
          <a:xfrm>
            <a:off x="5843016" y="3429000"/>
            <a:ext cx="5532120" cy="822960"/>
          </a:xfrm>
          <a:prstGeom prst="rect">
            <a:avLst/>
          </a:prstGeom>
          <a:noFill/>
          <a:ln/>
        </p:spPr>
        <p:txBody>
          <a:bodyPr wrap="square" lIns="0" tIns="0" rIns="0" bIns="0" rtlCol="0" anchor="t"/>
          <a:lstStyle/>
          <a:p>
            <a:pPr indent="0" marL="0">
              <a:buNone/>
            </a:pPr>
            <a:r>
              <a:rPr lang="en-US" sz="1700" dirty="0">
                <a:solidFill>
                  <a:srgbClr val="BFD8D5"/>
                </a:solidFill>
                <a:latin typeface="Calibri" pitchFamily="34" charset="0"/>
                <a:ea typeface="Calibri" pitchFamily="34" charset="-122"/>
                <a:cs typeface="Calibri" pitchFamily="34" charset="-120"/>
              </a:rPr>
              <a:t>Objectif : choisir votre hébergeur, puis déployer une page sur Vercel.</a:t>
            </a:r>
            <a:endParaRPr lang="en-US" sz="1700" dirty="0"/>
          </a:p>
        </p:txBody>
      </p:sp>
      <p:sp>
        <p:nvSpPr>
          <p:cNvPr id="6" name="s1-pastille-0"/>
          <p:cNvSpPr/>
          <p:nvPr/>
        </p:nvSpPr>
        <p:spPr>
          <a:xfrm>
            <a:off x="5843016" y="4526280"/>
            <a:ext cx="2286000" cy="457200"/>
          </a:xfrm>
          <a:prstGeom prst="roundRect">
            <a:avLst>
              <a:gd name="adj" fmla="val 50000"/>
            </a:avLst>
          </a:prstGeom>
          <a:solidFill>
            <a:srgbClr val="1D4A43"/>
          </a:solidFill>
          <a:ln/>
        </p:spPr>
        <p:txBody>
          <a:bodyPr wrap="square" lIns="127000" tIns="0" rIns="127000" bIns="0" rtlCol="0" anchor="ctr"/>
          <a:lstStyle/>
          <a:p>
            <a:pPr algn="ctr" indent="0" marL="0">
              <a:buNone/>
            </a:pPr>
            <a:r>
              <a:rPr lang="en-US" sz="1400" b="1" dirty="0">
                <a:solidFill>
                  <a:srgbClr val="FF7A4D"/>
                </a:solidFill>
                <a:latin typeface="Arial" pitchFamily="34" charset="0"/>
                <a:ea typeface="Arial" pitchFamily="34" charset="-122"/>
                <a:cs typeface="Arial" pitchFamily="34" charset="-120"/>
              </a:rPr>
              <a:t>1  </a:t>
            </a:r>
            <a:pPr algn="ctr" indent="0" marL="0">
              <a:buNone/>
            </a:pPr>
            <a:r>
              <a:rPr lang="en-US" sz="1400" b="1" dirty="0">
                <a:solidFill>
                  <a:srgbClr val="F2F7F5"/>
                </a:solidFill>
                <a:latin typeface="Arial" pitchFamily="34" charset="0"/>
                <a:ea typeface="Arial" pitchFamily="34" charset="-122"/>
                <a:cs typeface="Arial" pitchFamily="34" charset="-120"/>
              </a:rPr>
              <a:t>Vercel et OVH</a:t>
            </a:r>
            <a:endParaRPr lang="en-US" sz="1400" dirty="0"/>
          </a:p>
        </p:txBody>
      </p:sp>
      <p:sp>
        <p:nvSpPr>
          <p:cNvPr id="7" name="s1-pastille-1"/>
          <p:cNvSpPr/>
          <p:nvPr/>
        </p:nvSpPr>
        <p:spPr>
          <a:xfrm>
            <a:off x="8311896" y="4526280"/>
            <a:ext cx="1737360" cy="457200"/>
          </a:xfrm>
          <a:prstGeom prst="roundRect">
            <a:avLst>
              <a:gd name="adj" fmla="val 50000"/>
            </a:avLst>
          </a:prstGeom>
          <a:solidFill>
            <a:srgbClr val="1D4A43"/>
          </a:solidFill>
          <a:ln/>
        </p:spPr>
        <p:txBody>
          <a:bodyPr wrap="square" lIns="127000" tIns="0" rIns="127000" bIns="0" rtlCol="0" anchor="ctr"/>
          <a:lstStyle/>
          <a:p>
            <a:pPr algn="ctr" indent="0" marL="0">
              <a:buNone/>
            </a:pPr>
            <a:r>
              <a:rPr lang="en-US" sz="1400" b="1" dirty="0">
                <a:solidFill>
                  <a:srgbClr val="FF7A4D"/>
                </a:solidFill>
                <a:latin typeface="Arial" pitchFamily="34" charset="0"/>
                <a:ea typeface="Arial" pitchFamily="34" charset="-122"/>
                <a:cs typeface="Arial" pitchFamily="34" charset="-120"/>
              </a:rPr>
              <a:t>2  </a:t>
            </a:r>
            <a:pPr algn="ctr" indent="0" marL="0">
              <a:buNone/>
            </a:pPr>
            <a:r>
              <a:rPr lang="en-US" sz="1400" b="1" dirty="0">
                <a:solidFill>
                  <a:srgbClr val="F2F7F5"/>
                </a:solidFill>
                <a:latin typeface="Arial" pitchFamily="34" charset="0"/>
                <a:ea typeface="Arial" pitchFamily="34" charset="-122"/>
                <a:cs typeface="Arial" pitchFamily="34" charset="-120"/>
              </a:rPr>
              <a:t>Le choix</a:t>
            </a:r>
            <a:endParaRPr lang="en-US" sz="1400" dirty="0"/>
          </a:p>
        </p:txBody>
      </p:sp>
      <p:sp>
        <p:nvSpPr>
          <p:cNvPr id="8" name="s1-pastille-2"/>
          <p:cNvSpPr/>
          <p:nvPr/>
        </p:nvSpPr>
        <p:spPr>
          <a:xfrm>
            <a:off x="5843016" y="5166360"/>
            <a:ext cx="2377440" cy="457200"/>
          </a:xfrm>
          <a:prstGeom prst="roundRect">
            <a:avLst>
              <a:gd name="adj" fmla="val 50000"/>
            </a:avLst>
          </a:prstGeom>
          <a:solidFill>
            <a:srgbClr val="1D4A43"/>
          </a:solidFill>
          <a:ln/>
        </p:spPr>
        <p:txBody>
          <a:bodyPr wrap="square" lIns="127000" tIns="0" rIns="127000" bIns="0" rtlCol="0" anchor="ctr"/>
          <a:lstStyle/>
          <a:p>
            <a:pPr algn="ctr" indent="0" marL="0">
              <a:buNone/>
            </a:pPr>
            <a:r>
              <a:rPr lang="en-US" sz="1400" b="1" dirty="0">
                <a:solidFill>
                  <a:srgbClr val="FF7A4D"/>
                </a:solidFill>
                <a:latin typeface="Arial" pitchFamily="34" charset="0"/>
                <a:ea typeface="Arial" pitchFamily="34" charset="-122"/>
                <a:cs typeface="Arial" pitchFamily="34" charset="-120"/>
              </a:rPr>
              <a:t>3  </a:t>
            </a:r>
            <a:pPr algn="ctr" indent="0" marL="0">
              <a:buNone/>
            </a:pPr>
            <a:r>
              <a:rPr lang="en-US" sz="1400" b="1" dirty="0">
                <a:solidFill>
                  <a:srgbClr val="F2F7F5"/>
                </a:solidFill>
                <a:latin typeface="Arial" pitchFamily="34" charset="0"/>
                <a:ea typeface="Arial" pitchFamily="34" charset="-122"/>
                <a:cs typeface="Arial" pitchFamily="34" charset="-120"/>
              </a:rPr>
              <a:t>Le déploiement</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nodeType="withEffect">
                                  <p:stCondLst>
                                    <p:cond delay="3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22" presetClass="entr" presetSubtype="8" fill="hold" nodeType="withEffect">
                                  <p:stCondLst>
                                    <p:cond delay="70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900"/>
                                        <p:tgtEl>
                                          <p:spTgt spid="4"/>
                                        </p:tgtEl>
                                      </p:cBhvr>
                                    </p:animEffect>
                                  </p:childTnLst>
                                </p:cTn>
                              </p:par>
                              <p:par>
                                <p:cTn id="14" presetID="10" presetClass="entr" presetSubtype="0" fill="hold" nodeType="withEffect">
                                  <p:stCondLst>
                                    <p:cond delay="15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nodeType="withEffect">
                                  <p:stCondLst>
                                    <p:cond delay="21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nodeType="withEffect">
                                  <p:stCondLst>
                                    <p:cond delay="25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290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ogo" descr="Logo Vivier IA : le vivier des talents IA francophones">    </p:cNvPr>
          <p:cNvPicPr>
            <a:picLocks noChangeAspect="1"/>
          </p:cNvPicPr>
          <p:nvPr/>
        </p:nvPicPr>
        <p:blipFill>
          <a:blip r:embed="rId2"/>
          <a:stretch>
            <a:fillRect/>
          </a:stretch>
        </p:blipFill>
        <p:spPr>
          <a:xfrm>
            <a:off x="10500055" y="457200"/>
            <a:ext cx="1188720" cy="700871"/>
          </a:xfrm>
          <a:prstGeom prst="rect">
            <a:avLst/>
          </a:prstGeom>
        </p:spPr>
      </p:pic>
      <p:sp>
        <p:nvSpPr>
          <p:cNvPr id="3" name="Text 0"/>
          <p:cNvSpPr txBox="1"/>
          <p:nvPr/>
        </p:nvSpPr>
        <p:spPr>
          <a:xfrm>
            <a:off x="812902" y="812902"/>
            <a:ext cx="8686800" cy="365760"/>
          </a:xfrm>
          <a:prstGeom prst="rect">
            <a:avLst/>
          </a:prstGeom>
          <a:noFill/>
          <a:ln/>
        </p:spPr>
        <p:txBody>
          <a:bodyPr wrap="square" lIns="0" tIns="0" rIns="0" bIns="0" rtlCol="0" anchor="t"/>
          <a:lstStyle/>
          <a:p>
            <a:pPr indent="0" marL="0">
              <a:buNone/>
            </a:pPr>
            <a:r>
              <a:rPr lang="en-US" sz="1300" b="1" spc="100" kern="0" dirty="0">
                <a:solidFill>
                  <a:srgbClr val="5FC7B8"/>
                </a:solidFill>
                <a:latin typeface="Arial" pitchFamily="34" charset="0"/>
                <a:ea typeface="Arial" pitchFamily="34" charset="-122"/>
                <a:cs typeface="Arial" pitchFamily="34" charset="-120"/>
              </a:rPr>
              <a:t>POURQUOI METTRE EN LIGNE</a:t>
            </a:r>
            <a:endParaRPr lang="en-US" sz="1300" dirty="0"/>
          </a:p>
        </p:txBody>
      </p:sp>
      <p:sp>
        <p:nvSpPr>
          <p:cNvPr id="4" name="s2-enonce"/>
          <p:cNvSpPr txBox="1"/>
          <p:nvPr/>
        </p:nvSpPr>
        <p:spPr>
          <a:xfrm>
            <a:off x="812902" y="2011680"/>
            <a:ext cx="9692640" cy="2194560"/>
          </a:xfrm>
          <a:prstGeom prst="rect">
            <a:avLst/>
          </a:prstGeom>
          <a:noFill/>
          <a:ln/>
        </p:spPr>
        <p:txBody>
          <a:bodyPr wrap="square" lIns="0" tIns="0" rIns="0" bIns="0" rtlCol="0" anchor="t"/>
          <a:lstStyle/>
          <a:p>
            <a:pPr indent="0" marL="0">
              <a:lnSpc>
                <a:spcPct val="105000"/>
              </a:lnSpc>
              <a:buNone/>
            </a:pPr>
            <a:r>
              <a:rPr lang="en-US" sz="3600" b="1" dirty="0">
                <a:solidFill>
                  <a:srgbClr val="F2F7F5"/>
                </a:solidFill>
                <a:latin typeface="Arial" pitchFamily="34" charset="0"/>
                <a:ea typeface="Arial" pitchFamily="34" charset="-122"/>
                <a:cs typeface="Arial" pitchFamily="34" charset="-120"/>
              </a:rPr>
              <a:t>Un projet n'est </a:t>
            </a:r>
            <a:pPr indent="0" marL="0">
              <a:lnSpc>
                <a:spcPct val="105000"/>
              </a:lnSpc>
              <a:buNone/>
            </a:pPr>
            <a:r>
              <a:rPr lang="en-US" sz="3600" b="1" dirty="0">
                <a:solidFill>
                  <a:srgbClr val="FF7A4D"/>
                </a:solidFill>
                <a:latin typeface="Arial" pitchFamily="34" charset="0"/>
                <a:ea typeface="Arial" pitchFamily="34" charset="-122"/>
                <a:cs typeface="Arial" pitchFamily="34" charset="-120"/>
              </a:rPr>
              <a:t>livré</a:t>
            </a:r>
            <a:endParaRPr lang="en-US" sz="3600" dirty="0"/>
          </a:p>
          <a:p>
            <a:pPr indent="0" marL="0">
              <a:lnSpc>
                <a:spcPct val="105000"/>
              </a:lnSpc>
              <a:buNone/>
            </a:pPr>
            <a:r>
              <a:rPr lang="en-US" sz="3600" b="1" dirty="0">
                <a:solidFill>
                  <a:srgbClr val="F2F7F5"/>
                </a:solidFill>
                <a:latin typeface="Arial" pitchFamily="34" charset="0"/>
                <a:ea typeface="Arial" pitchFamily="34" charset="-122"/>
                <a:cs typeface="Arial" pitchFamily="34" charset="-120"/>
              </a:rPr>
              <a:t>que lorsqu'il est </a:t>
            </a:r>
            <a:pPr indent="0" marL="0">
              <a:lnSpc>
                <a:spcPct val="105000"/>
              </a:lnSpc>
              <a:buNone/>
            </a:pPr>
            <a:r>
              <a:rPr lang="en-US" sz="3600" b="1" dirty="0">
                <a:solidFill>
                  <a:srgbClr val="FF7A4D"/>
                </a:solidFill>
                <a:latin typeface="Arial" pitchFamily="34" charset="0"/>
                <a:ea typeface="Arial" pitchFamily="34" charset="-122"/>
                <a:cs typeface="Arial" pitchFamily="34" charset="-120"/>
              </a:rPr>
              <a:t>en ligne</a:t>
            </a:r>
            <a:pPr indent="0" marL="0">
              <a:lnSpc>
                <a:spcPct val="105000"/>
              </a:lnSpc>
              <a:buNone/>
            </a:pPr>
            <a:r>
              <a:rPr lang="en-US" sz="3600" b="1" dirty="0">
                <a:solidFill>
                  <a:srgbClr val="F2F7F5"/>
                </a:solidFill>
                <a:latin typeface="Arial" pitchFamily="34" charset="0"/>
                <a:ea typeface="Arial" pitchFamily="34" charset="-122"/>
                <a:cs typeface="Arial" pitchFamily="34" charset="-120"/>
              </a:rPr>
              <a:t>.</a:t>
            </a:r>
            <a:endParaRPr lang="en-US" sz="3600" dirty="0"/>
          </a:p>
        </p:txBody>
      </p:sp>
      <p:sp>
        <p:nvSpPr>
          <p:cNvPr id="5" name="s2-appui"/>
          <p:cNvSpPr txBox="1"/>
          <p:nvPr/>
        </p:nvSpPr>
        <p:spPr>
          <a:xfrm>
            <a:off x="812902" y="4389120"/>
            <a:ext cx="9692640" cy="1280160"/>
          </a:xfrm>
          <a:prstGeom prst="rect">
            <a:avLst/>
          </a:prstGeom>
          <a:noFill/>
          <a:ln/>
        </p:spPr>
        <p:txBody>
          <a:bodyPr wrap="square" lIns="0" tIns="0" rIns="0" bIns="0" rtlCol="0" anchor="t"/>
          <a:lstStyle/>
          <a:p>
            <a:pPr indent="0" marL="0">
              <a:buNone/>
            </a:pPr>
            <a:r>
              <a:rPr lang="en-US" sz="2000" dirty="0">
                <a:solidFill>
                  <a:srgbClr val="BFD8D5"/>
                </a:solidFill>
                <a:latin typeface="Calibri" pitchFamily="34" charset="0"/>
                <a:ea typeface="Calibri" pitchFamily="34" charset="-122"/>
                <a:cs typeface="Calibri" pitchFamily="34" charset="-120"/>
              </a:rPr>
              <a:t>Pas seulement quand le code fonctionne en local, sur votre machine.</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9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ogo" descr="Logo Vivier IA : le vivier des talents IA francophones">    </p:cNvPr>
          <p:cNvPicPr>
            <a:picLocks noChangeAspect="1"/>
          </p:cNvPicPr>
          <p:nvPr/>
        </p:nvPicPr>
        <p:blipFill>
          <a:blip r:embed="rId2"/>
          <a:stretch>
            <a:fillRect/>
          </a:stretch>
        </p:blipFill>
        <p:spPr>
          <a:xfrm>
            <a:off x="10500055" y="457200"/>
            <a:ext cx="1188720" cy="700871"/>
          </a:xfrm>
          <a:prstGeom prst="rect">
            <a:avLst/>
          </a:prstGeom>
        </p:spPr>
      </p:pic>
      <p:sp>
        <p:nvSpPr>
          <p:cNvPr id="3" name="Text 0"/>
          <p:cNvSpPr txBox="1"/>
          <p:nvPr/>
        </p:nvSpPr>
        <p:spPr>
          <a:xfrm>
            <a:off x="812902" y="812902"/>
            <a:ext cx="8686800" cy="365760"/>
          </a:xfrm>
          <a:prstGeom prst="rect">
            <a:avLst/>
          </a:prstGeom>
          <a:noFill/>
          <a:ln/>
        </p:spPr>
        <p:txBody>
          <a:bodyPr wrap="square" lIns="0" tIns="0" rIns="0" bIns="0" rtlCol="0" anchor="t"/>
          <a:lstStyle/>
          <a:p>
            <a:pPr indent="0" marL="0">
              <a:buNone/>
            </a:pPr>
            <a:r>
              <a:rPr lang="en-US" sz="1300" b="1" spc="100" kern="0" dirty="0">
                <a:solidFill>
                  <a:srgbClr val="5FC7B8"/>
                </a:solidFill>
                <a:latin typeface="Arial" pitchFamily="34" charset="0"/>
                <a:ea typeface="Arial" pitchFamily="34" charset="-122"/>
                <a:cs typeface="Arial" pitchFamily="34" charset="-120"/>
              </a:rPr>
              <a:t>DEUX OPTIONS À CONNAÎTRE</a:t>
            </a:r>
            <a:endParaRPr lang="en-US" sz="1300" dirty="0"/>
          </a:p>
        </p:txBody>
      </p:sp>
      <p:sp>
        <p:nvSpPr>
          <p:cNvPr id="4" name="Text 1"/>
          <p:cNvSpPr txBox="1"/>
          <p:nvPr/>
        </p:nvSpPr>
        <p:spPr>
          <a:xfrm>
            <a:off x="812902" y="1234440"/>
            <a:ext cx="9235440" cy="822960"/>
          </a:xfrm>
          <a:prstGeom prst="rect">
            <a:avLst/>
          </a:prstGeom>
          <a:noFill/>
          <a:ln/>
        </p:spPr>
        <p:txBody>
          <a:bodyPr wrap="square" lIns="0" tIns="0" rIns="0" bIns="0" rtlCol="0" anchor="t"/>
          <a:lstStyle/>
          <a:p>
            <a:pPr indent="0" marL="0">
              <a:buNone/>
            </a:pPr>
            <a:r>
              <a:rPr lang="en-US" sz="3200" b="1" dirty="0">
                <a:solidFill>
                  <a:srgbClr val="F2F7F5"/>
                </a:solidFill>
                <a:latin typeface="Arial" pitchFamily="34" charset="0"/>
                <a:ea typeface="Arial" pitchFamily="34" charset="-122"/>
                <a:cs typeface="Arial" pitchFamily="34" charset="-120"/>
              </a:rPr>
              <a:t>Vercel et OVH, qui fait quoi ?</a:t>
            </a:r>
            <a:endParaRPr lang="en-US" sz="3200" dirty="0"/>
          </a:p>
        </p:txBody>
      </p:sp>
      <p:sp>
        <p:nvSpPr>
          <p:cNvPr id="5" name="Text 2"/>
          <p:cNvSpPr txBox="1"/>
          <p:nvPr/>
        </p:nvSpPr>
        <p:spPr>
          <a:xfrm>
            <a:off x="812902" y="2103120"/>
            <a:ext cx="9601200" cy="457200"/>
          </a:xfrm>
          <a:prstGeom prst="rect">
            <a:avLst/>
          </a:prstGeom>
          <a:noFill/>
          <a:ln/>
        </p:spPr>
        <p:txBody>
          <a:bodyPr wrap="square" lIns="0" tIns="0" rIns="0" bIns="0" rtlCol="0" anchor="t"/>
          <a:lstStyle/>
          <a:p>
            <a:pPr indent="0" marL="0">
              <a:buNone/>
            </a:pPr>
            <a:r>
              <a:rPr lang="en-US" sz="1800" dirty="0">
                <a:solidFill>
                  <a:srgbClr val="BFD8D5"/>
                </a:solidFill>
                <a:latin typeface="Calibri" pitchFamily="34" charset="0"/>
                <a:ea typeface="Calibri" pitchFamily="34" charset="-122"/>
                <a:cs typeface="Calibri" pitchFamily="34" charset="-120"/>
              </a:rPr>
              <a:t>Le choix dépend du projet.</a:t>
            </a:r>
            <a:endParaRPr lang="en-US" sz="1800" dirty="0"/>
          </a:p>
        </p:txBody>
      </p:sp>
      <p:sp>
        <p:nvSpPr>
          <p:cNvPr id="6" name="s3-avant-forme"/>
          <p:cNvSpPr/>
          <p:nvPr/>
        </p:nvSpPr>
        <p:spPr>
          <a:xfrm>
            <a:off x="812902" y="2926080"/>
            <a:ext cx="5100523" cy="2468880"/>
          </a:xfrm>
          <a:prstGeom prst="roundRect">
            <a:avLst>
              <a:gd name="adj" fmla="val 6667"/>
            </a:avLst>
          </a:prstGeom>
          <a:solidFill>
            <a:srgbClr val="1D4A43"/>
          </a:solidFill>
          <a:ln w="6350">
            <a:solidFill>
              <a:srgbClr val="1D4A43"/>
            </a:solidFill>
            <a:prstDash val="solid"/>
          </a:ln>
        </p:spPr>
      </p:sp>
      <p:sp>
        <p:nvSpPr>
          <p:cNvPr id="7" name="s3-avant-etiquette"/>
          <p:cNvSpPr txBox="1"/>
          <p:nvPr/>
        </p:nvSpPr>
        <p:spPr>
          <a:xfrm>
            <a:off x="1178662" y="3200400"/>
            <a:ext cx="3657600" cy="320040"/>
          </a:xfrm>
          <a:prstGeom prst="rect">
            <a:avLst/>
          </a:prstGeom>
          <a:noFill/>
          <a:ln/>
        </p:spPr>
        <p:txBody>
          <a:bodyPr wrap="square" lIns="0" tIns="0" rIns="0" bIns="0" rtlCol="0" anchor="t"/>
          <a:lstStyle/>
          <a:p>
            <a:pPr indent="0" marL="0">
              <a:buNone/>
            </a:pPr>
            <a:r>
              <a:rPr lang="en-US" sz="1300" b="1" spc="100" kern="0" dirty="0">
                <a:solidFill>
                  <a:srgbClr val="BFD8D5"/>
                </a:solidFill>
                <a:latin typeface="Arial" pitchFamily="34" charset="0"/>
                <a:ea typeface="Arial" pitchFamily="34" charset="-122"/>
                <a:cs typeface="Arial" pitchFamily="34" charset="-120"/>
              </a:rPr>
              <a:t>VERCEL</a:t>
            </a:r>
            <a:endParaRPr lang="en-US" sz="1300" dirty="0"/>
          </a:p>
        </p:txBody>
      </p:sp>
      <p:sp>
        <p:nvSpPr>
          <p:cNvPr id="8" name="s3-avant-titre"/>
          <p:cNvSpPr txBox="1"/>
          <p:nvPr/>
        </p:nvSpPr>
        <p:spPr>
          <a:xfrm>
            <a:off x="1178662" y="3657600"/>
            <a:ext cx="4369003" cy="548640"/>
          </a:xfrm>
          <a:prstGeom prst="rect">
            <a:avLst/>
          </a:prstGeom>
          <a:noFill/>
          <a:ln/>
        </p:spPr>
        <p:txBody>
          <a:bodyPr wrap="square" lIns="0" tIns="0" rIns="0" bIns="0" rtlCol="0" anchor="t"/>
          <a:lstStyle/>
          <a:p>
            <a:pPr indent="0" marL="0">
              <a:buNone/>
            </a:pPr>
            <a:r>
              <a:rPr lang="en-US" sz="2400" b="1" dirty="0">
                <a:solidFill>
                  <a:srgbClr val="F2F7F5"/>
                </a:solidFill>
                <a:latin typeface="Arial" pitchFamily="34" charset="0"/>
                <a:ea typeface="Arial" pitchFamily="34" charset="-122"/>
                <a:cs typeface="Arial" pitchFamily="34" charset="-120"/>
              </a:rPr>
              <a:t>Rapidité et simplicité</a:t>
            </a:r>
            <a:endParaRPr lang="en-US" sz="2400" dirty="0"/>
          </a:p>
        </p:txBody>
      </p:sp>
      <p:sp>
        <p:nvSpPr>
          <p:cNvPr id="9" name="s3-avant-texte"/>
          <p:cNvSpPr txBox="1"/>
          <p:nvPr/>
        </p:nvSpPr>
        <p:spPr>
          <a:xfrm>
            <a:off x="1178662" y="4343400"/>
            <a:ext cx="4369003" cy="822960"/>
          </a:xfrm>
          <a:prstGeom prst="rect">
            <a:avLst/>
          </a:prstGeom>
          <a:noFill/>
          <a:ln/>
        </p:spPr>
        <p:txBody>
          <a:bodyPr wrap="square" lIns="0" tIns="0" rIns="0" bIns="0" rtlCol="0" anchor="t"/>
          <a:lstStyle/>
          <a:p>
            <a:pPr indent="0" marL="0">
              <a:buNone/>
            </a:pPr>
            <a:r>
              <a:rPr lang="en-US" sz="1700" dirty="0">
                <a:solidFill>
                  <a:srgbClr val="BFD8D5"/>
                </a:solidFill>
                <a:latin typeface="Calibri" pitchFamily="34" charset="0"/>
                <a:ea typeface="Calibri" pitchFamily="34" charset="-122"/>
                <a:cs typeface="Calibri" pitchFamily="34" charset="-120"/>
              </a:rPr>
              <a:t>Sites et applications web modernes, déploiement automatique.</a:t>
            </a:r>
            <a:endParaRPr lang="en-US" sz="1700" dirty="0"/>
          </a:p>
        </p:txBody>
      </p:sp>
      <p:sp>
        <p:nvSpPr>
          <p:cNvPr id="10" name="s3-apres-forme"/>
          <p:cNvSpPr/>
          <p:nvPr/>
        </p:nvSpPr>
        <p:spPr>
          <a:xfrm>
            <a:off x="6279185" y="2926080"/>
            <a:ext cx="5100523" cy="2468880"/>
          </a:xfrm>
          <a:prstGeom prst="roundRect">
            <a:avLst>
              <a:gd name="adj" fmla="val 6667"/>
            </a:avLst>
          </a:prstGeom>
          <a:solidFill>
            <a:srgbClr val="FF7A4D"/>
          </a:solidFill>
          <a:ln w="6350">
            <a:solidFill>
              <a:srgbClr val="FF7A4D"/>
            </a:solidFill>
            <a:prstDash val="solid"/>
          </a:ln>
        </p:spPr>
      </p:sp>
      <p:sp>
        <p:nvSpPr>
          <p:cNvPr id="11" name="s3-apres-etiquette"/>
          <p:cNvSpPr txBox="1"/>
          <p:nvPr/>
        </p:nvSpPr>
        <p:spPr>
          <a:xfrm>
            <a:off x="6644945" y="3200400"/>
            <a:ext cx="3657600" cy="320040"/>
          </a:xfrm>
          <a:prstGeom prst="rect">
            <a:avLst/>
          </a:prstGeom>
          <a:noFill/>
          <a:ln/>
        </p:spPr>
        <p:txBody>
          <a:bodyPr wrap="square" lIns="0" tIns="0" rIns="0" bIns="0" rtlCol="0" anchor="t"/>
          <a:lstStyle/>
          <a:p>
            <a:pPr indent="0" marL="0">
              <a:buNone/>
            </a:pPr>
            <a:r>
              <a:rPr lang="en-US" sz="1300" b="1" spc="100" kern="0" dirty="0">
                <a:solidFill>
                  <a:srgbClr val="113832"/>
                </a:solidFill>
                <a:latin typeface="Arial" pitchFamily="34" charset="0"/>
                <a:ea typeface="Arial" pitchFamily="34" charset="-122"/>
                <a:cs typeface="Arial" pitchFamily="34" charset="-120"/>
              </a:rPr>
              <a:t>OVH</a:t>
            </a:r>
            <a:endParaRPr lang="en-US" sz="1300" dirty="0"/>
          </a:p>
        </p:txBody>
      </p:sp>
      <p:sp>
        <p:nvSpPr>
          <p:cNvPr id="12" name="s3-apres-titre"/>
          <p:cNvSpPr txBox="1"/>
          <p:nvPr/>
        </p:nvSpPr>
        <p:spPr>
          <a:xfrm>
            <a:off x="6644945" y="3657600"/>
            <a:ext cx="4369003" cy="548640"/>
          </a:xfrm>
          <a:prstGeom prst="rect">
            <a:avLst/>
          </a:prstGeom>
          <a:noFill/>
          <a:ln/>
        </p:spPr>
        <p:txBody>
          <a:bodyPr wrap="square" lIns="0" tIns="0" rIns="0" bIns="0" rtlCol="0" anchor="t"/>
          <a:lstStyle/>
          <a:p>
            <a:pPr indent="0" marL="0">
              <a:buNone/>
            </a:pPr>
            <a:r>
              <a:rPr lang="en-US" sz="2400" b="1" dirty="0">
                <a:solidFill>
                  <a:srgbClr val="113832"/>
                </a:solidFill>
                <a:latin typeface="Arial" pitchFamily="34" charset="0"/>
                <a:ea typeface="Arial" pitchFamily="34" charset="-122"/>
                <a:cs typeface="Arial" pitchFamily="34" charset="-120"/>
              </a:rPr>
              <a:t>Contrôle et infrastructure</a:t>
            </a:r>
            <a:endParaRPr lang="en-US" sz="2400" dirty="0"/>
          </a:p>
        </p:txBody>
      </p:sp>
      <p:sp>
        <p:nvSpPr>
          <p:cNvPr id="13" name="s3-apres-texte"/>
          <p:cNvSpPr txBox="1"/>
          <p:nvPr/>
        </p:nvSpPr>
        <p:spPr>
          <a:xfrm>
            <a:off x="6644945" y="4343400"/>
            <a:ext cx="4369003" cy="822960"/>
          </a:xfrm>
          <a:prstGeom prst="rect">
            <a:avLst/>
          </a:prstGeom>
          <a:noFill/>
          <a:ln/>
        </p:spPr>
        <p:txBody>
          <a:bodyPr wrap="square" lIns="0" tIns="0" rIns="0" bIns="0" rtlCol="0" anchor="t"/>
          <a:lstStyle/>
          <a:p>
            <a:pPr indent="0" marL="0">
              <a:buNone/>
            </a:pPr>
            <a:r>
              <a:rPr lang="en-US" sz="1700" dirty="0">
                <a:solidFill>
                  <a:srgbClr val="113832"/>
                </a:solidFill>
                <a:latin typeface="Calibri" pitchFamily="34" charset="0"/>
                <a:ea typeface="Calibri" pitchFamily="34" charset="-122"/>
                <a:cs typeface="Calibri" pitchFamily="34" charset="-120"/>
              </a:rPr>
              <a:t>Serveur dédié, base de données auto-hébergée, contraintes spécifiques.</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8" presetID="10" presetClass="entr" presetSubtype="0" fill="hold" nodeType="withEffect">
                                  <p:stCondLst>
                                    <p:cond delay="15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25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40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600"/>
                                        <p:tgtEl>
                                          <p:spTgt spid="10"/>
                                        </p:tgtEl>
                                      </p:cBhvr>
                                    </p:animEffect>
                                  </p:childTnLst>
                                </p:cTn>
                              </p:par>
                              <p:par>
                                <p:cTn id="22" presetID="10" presetClass="entr" presetSubtype="0" fill="hold" nodeType="withEffect">
                                  <p:stCondLst>
                                    <p:cond delay="15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nodeType="withEffect">
                                  <p:stCondLst>
                                    <p:cond delay="25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10" presetClass="entr" presetSubtype="0" fill="hold" nodeType="withEffect">
                                  <p:stCondLst>
                                    <p:cond delay="40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ogo" descr="Logo Vivier IA : le vivier des talents IA francophones">    </p:cNvPr>
          <p:cNvPicPr>
            <a:picLocks noChangeAspect="1"/>
          </p:cNvPicPr>
          <p:nvPr/>
        </p:nvPicPr>
        <p:blipFill>
          <a:blip r:embed="rId2"/>
          <a:stretch>
            <a:fillRect/>
          </a:stretch>
        </p:blipFill>
        <p:spPr>
          <a:xfrm>
            <a:off x="10500055" y="457200"/>
            <a:ext cx="1188720" cy="700871"/>
          </a:xfrm>
          <a:prstGeom prst="rect">
            <a:avLst/>
          </a:prstGeom>
        </p:spPr>
      </p:pic>
      <p:sp>
        <p:nvSpPr>
          <p:cNvPr id="3" name="Text 0"/>
          <p:cNvSpPr txBox="1"/>
          <p:nvPr/>
        </p:nvSpPr>
        <p:spPr>
          <a:xfrm>
            <a:off x="812902" y="812902"/>
            <a:ext cx="8686800" cy="365760"/>
          </a:xfrm>
          <a:prstGeom prst="rect">
            <a:avLst/>
          </a:prstGeom>
          <a:noFill/>
          <a:ln/>
        </p:spPr>
        <p:txBody>
          <a:bodyPr wrap="square" lIns="0" tIns="0" rIns="0" bIns="0" rtlCol="0" anchor="t"/>
          <a:lstStyle/>
          <a:p>
            <a:pPr indent="0" marL="0">
              <a:buNone/>
            </a:pPr>
            <a:r>
              <a:rPr lang="en-US" sz="1300" b="1" spc="100" kern="0" dirty="0">
                <a:solidFill>
                  <a:srgbClr val="5FC7B8"/>
                </a:solidFill>
                <a:latin typeface="Arial" pitchFamily="34" charset="0"/>
                <a:ea typeface="Arial" pitchFamily="34" charset="-122"/>
                <a:cs typeface="Arial" pitchFamily="34" charset="-120"/>
              </a:rPr>
              <a:t>L'EXEMPLE CONCRET</a:t>
            </a:r>
            <a:endParaRPr lang="en-US" sz="1300" dirty="0"/>
          </a:p>
        </p:txBody>
      </p:sp>
      <p:sp>
        <p:nvSpPr>
          <p:cNvPr id="4" name="s4-r0-etiquette"/>
          <p:cNvSpPr txBox="1"/>
          <p:nvPr/>
        </p:nvSpPr>
        <p:spPr>
          <a:xfrm>
            <a:off x="812902" y="1508760"/>
            <a:ext cx="4572000" cy="320040"/>
          </a:xfrm>
          <a:prstGeom prst="rect">
            <a:avLst/>
          </a:prstGeom>
          <a:noFill/>
          <a:ln/>
        </p:spPr>
        <p:txBody>
          <a:bodyPr wrap="square" lIns="0" tIns="0" rIns="0" bIns="0" rtlCol="0" anchor="t"/>
          <a:lstStyle/>
          <a:p>
            <a:pPr indent="0" marL="0">
              <a:buNone/>
            </a:pPr>
            <a:r>
              <a:rPr lang="en-US" sz="1300" b="1" spc="100" kern="0" dirty="0">
                <a:solidFill>
                  <a:srgbClr val="BFD8D5"/>
                </a:solidFill>
                <a:latin typeface="Arial" pitchFamily="34" charset="0"/>
                <a:ea typeface="Arial" pitchFamily="34" charset="-122"/>
                <a:cs typeface="Arial" pitchFamily="34" charset="-120"/>
              </a:rPr>
              <a:t>SITE VITRINE</a:t>
            </a:r>
            <a:endParaRPr lang="en-US" sz="1300" dirty="0"/>
          </a:p>
        </p:txBody>
      </p:sp>
      <p:sp>
        <p:nvSpPr>
          <p:cNvPr id="5" name="s4-r0-b0"/>
          <p:cNvSpPr/>
          <p:nvPr/>
        </p:nvSpPr>
        <p:spPr>
          <a:xfrm>
            <a:off x="812902" y="1874520"/>
            <a:ext cx="3450431" cy="914400"/>
          </a:xfrm>
          <a:prstGeom prst="roundRect">
            <a:avLst>
              <a:gd name="adj" fmla="val 15000"/>
            </a:avLst>
          </a:prstGeom>
          <a:solidFill>
            <a:srgbClr val="F2F7F5"/>
          </a:solidFill>
          <a:ln/>
        </p:spPr>
        <p:txBody>
          <a:bodyPr wrap="square" lIns="127000" tIns="0" rIns="127000" bIns="0" rtlCol="0" anchor="ctr"/>
          <a:lstStyle/>
          <a:p>
            <a:pPr algn="ctr" indent="0" marL="0">
              <a:buNone/>
            </a:pPr>
            <a:r>
              <a:rPr lang="en-US" sz="2200" b="1" dirty="0">
                <a:solidFill>
                  <a:srgbClr val="113832"/>
                </a:solidFill>
                <a:latin typeface="Arial" pitchFamily="34" charset="0"/>
                <a:ea typeface="Arial" pitchFamily="34" charset="-122"/>
                <a:cs typeface="Arial" pitchFamily="34" charset="-120"/>
              </a:rPr>
              <a:t>Site statique</a:t>
            </a:r>
            <a:endParaRPr lang="en-US" sz="2200" dirty="0"/>
          </a:p>
        </p:txBody>
      </p:sp>
      <p:sp>
        <p:nvSpPr>
          <p:cNvPr id="6" name="s4-r0-f0"/>
          <p:cNvSpPr/>
          <p:nvPr/>
        </p:nvSpPr>
        <p:spPr>
          <a:xfrm>
            <a:off x="4491933" y="2148840"/>
            <a:ext cx="731520" cy="365760"/>
          </a:xfrm>
          <a:prstGeom prst="rightArrow">
            <a:avLst/>
          </a:prstGeom>
          <a:solidFill>
            <a:srgbClr val="5FC7B8"/>
          </a:solidFill>
          <a:ln w="6350">
            <a:solidFill>
              <a:srgbClr val="5FC7B8"/>
            </a:solidFill>
            <a:prstDash val="solid"/>
          </a:ln>
        </p:spPr>
      </p:sp>
      <p:sp>
        <p:nvSpPr>
          <p:cNvPr id="7" name="s4-r0-b1"/>
          <p:cNvSpPr/>
          <p:nvPr/>
        </p:nvSpPr>
        <p:spPr>
          <a:xfrm>
            <a:off x="5331323" y="1874520"/>
            <a:ext cx="2793206" cy="914400"/>
          </a:xfrm>
          <a:prstGeom prst="roundRect">
            <a:avLst>
              <a:gd name="adj" fmla="val 15000"/>
            </a:avLst>
          </a:prstGeom>
          <a:solidFill>
            <a:srgbClr val="F2F7F5"/>
          </a:solidFill>
          <a:ln/>
        </p:spPr>
        <p:txBody>
          <a:bodyPr wrap="square" lIns="127000" tIns="0" rIns="127000" bIns="0" rtlCol="0" anchor="ctr"/>
          <a:lstStyle/>
          <a:p>
            <a:pPr algn="ctr" indent="0" marL="0">
              <a:buNone/>
            </a:pPr>
            <a:r>
              <a:rPr lang="en-US" sz="2200" b="1" dirty="0">
                <a:solidFill>
                  <a:srgbClr val="113832"/>
                </a:solidFill>
                <a:latin typeface="Arial" pitchFamily="34" charset="0"/>
                <a:ea typeface="Arial" pitchFamily="34" charset="-122"/>
                <a:cs typeface="Arial" pitchFamily="34" charset="-120"/>
              </a:rPr>
              <a:t>Push GitHub</a:t>
            </a:r>
            <a:endParaRPr lang="en-US" sz="2200" dirty="0"/>
          </a:p>
        </p:txBody>
      </p:sp>
      <p:sp>
        <p:nvSpPr>
          <p:cNvPr id="8" name="s4-r0-f1"/>
          <p:cNvSpPr/>
          <p:nvPr/>
        </p:nvSpPr>
        <p:spPr>
          <a:xfrm>
            <a:off x="8353130" y="2148840"/>
            <a:ext cx="731520" cy="365760"/>
          </a:xfrm>
          <a:prstGeom prst="rightArrow">
            <a:avLst/>
          </a:prstGeom>
          <a:solidFill>
            <a:srgbClr val="5FC7B8"/>
          </a:solidFill>
          <a:ln w="6350">
            <a:solidFill>
              <a:srgbClr val="5FC7B8"/>
            </a:solidFill>
            <a:prstDash val="solid"/>
          </a:ln>
        </p:spPr>
      </p:sp>
      <p:sp>
        <p:nvSpPr>
          <p:cNvPr id="9" name="s4-r0-b2"/>
          <p:cNvSpPr/>
          <p:nvPr/>
        </p:nvSpPr>
        <p:spPr>
          <a:xfrm>
            <a:off x="9192520" y="1874520"/>
            <a:ext cx="2135981" cy="914400"/>
          </a:xfrm>
          <a:prstGeom prst="roundRect">
            <a:avLst>
              <a:gd name="adj" fmla="val 15000"/>
            </a:avLst>
          </a:prstGeom>
          <a:solidFill>
            <a:srgbClr val="2B8C82"/>
          </a:solidFill>
          <a:ln/>
        </p:spPr>
        <p:txBody>
          <a:bodyPr wrap="square" lIns="127000" tIns="0" rIns="127000" bIns="0" rtlCol="0" anchor="ctr"/>
          <a:lstStyle/>
          <a:p>
            <a:pPr algn="ctr" indent="0" marL="0">
              <a:buNone/>
            </a:pPr>
            <a:r>
              <a:rPr lang="en-US" sz="2200" b="1" dirty="0">
                <a:solidFill>
                  <a:srgbClr val="F2F7F5"/>
                </a:solidFill>
                <a:latin typeface="Arial" pitchFamily="34" charset="0"/>
                <a:ea typeface="Arial" pitchFamily="34" charset="-122"/>
                <a:cs typeface="Arial" pitchFamily="34" charset="-120"/>
              </a:rPr>
              <a:t>Vercel</a:t>
            </a:r>
            <a:endParaRPr lang="en-US" sz="2200" dirty="0"/>
          </a:p>
        </p:txBody>
      </p:sp>
      <p:sp>
        <p:nvSpPr>
          <p:cNvPr id="10" name="s4-r1-etiquette"/>
          <p:cNvSpPr txBox="1"/>
          <p:nvPr/>
        </p:nvSpPr>
        <p:spPr>
          <a:xfrm>
            <a:off x="812902" y="3246120"/>
            <a:ext cx="4572000" cy="320040"/>
          </a:xfrm>
          <a:prstGeom prst="rect">
            <a:avLst/>
          </a:prstGeom>
          <a:noFill/>
          <a:ln/>
        </p:spPr>
        <p:txBody>
          <a:bodyPr wrap="square" lIns="0" tIns="0" rIns="0" bIns="0" rtlCol="0" anchor="t"/>
          <a:lstStyle/>
          <a:p>
            <a:pPr indent="0" marL="0">
              <a:buNone/>
            </a:pPr>
            <a:r>
              <a:rPr lang="en-US" sz="1300" b="1" spc="100" kern="0" dirty="0">
                <a:solidFill>
                  <a:srgbClr val="BFD8D5"/>
                </a:solidFill>
                <a:latin typeface="Arial" pitchFamily="34" charset="0"/>
                <a:ea typeface="Arial" pitchFamily="34" charset="-122"/>
                <a:cs typeface="Arial" pitchFamily="34" charset="-120"/>
              </a:rPr>
              <a:t>BACKEND N8N</a:t>
            </a:r>
            <a:endParaRPr lang="en-US" sz="1300" dirty="0"/>
          </a:p>
        </p:txBody>
      </p:sp>
      <p:sp>
        <p:nvSpPr>
          <p:cNvPr id="11" name="s4-r1-b0"/>
          <p:cNvSpPr/>
          <p:nvPr/>
        </p:nvSpPr>
        <p:spPr>
          <a:xfrm>
            <a:off x="812902" y="3611880"/>
            <a:ext cx="3423684" cy="914400"/>
          </a:xfrm>
          <a:prstGeom prst="roundRect">
            <a:avLst>
              <a:gd name="adj" fmla="val 15000"/>
            </a:avLst>
          </a:prstGeom>
          <a:solidFill>
            <a:srgbClr val="F2F7F5"/>
          </a:solidFill>
          <a:ln/>
        </p:spPr>
        <p:txBody>
          <a:bodyPr wrap="square" lIns="127000" tIns="0" rIns="127000" bIns="0" rtlCol="0" anchor="ctr"/>
          <a:lstStyle/>
          <a:p>
            <a:pPr algn="ctr" indent="0" marL="0">
              <a:buNone/>
            </a:pPr>
            <a:r>
              <a:rPr lang="en-US" sz="2200" b="1" dirty="0">
                <a:solidFill>
                  <a:srgbClr val="113832"/>
                </a:solidFill>
                <a:latin typeface="Arial" pitchFamily="34" charset="0"/>
                <a:ea typeface="Arial" pitchFamily="34" charset="-122"/>
                <a:cs typeface="Arial" pitchFamily="34" charset="-120"/>
              </a:rPr>
              <a:t>Docker et workers</a:t>
            </a:r>
            <a:endParaRPr lang="en-US" sz="2200" dirty="0"/>
          </a:p>
        </p:txBody>
      </p:sp>
      <p:sp>
        <p:nvSpPr>
          <p:cNvPr id="12" name="s4-r1-f0"/>
          <p:cNvSpPr/>
          <p:nvPr/>
        </p:nvSpPr>
        <p:spPr>
          <a:xfrm>
            <a:off x="4465185" y="3886200"/>
            <a:ext cx="731520" cy="365760"/>
          </a:xfrm>
          <a:prstGeom prst="rightArrow">
            <a:avLst/>
          </a:prstGeom>
          <a:solidFill>
            <a:srgbClr val="5FC7B8"/>
          </a:solidFill>
          <a:ln w="6350">
            <a:solidFill>
              <a:srgbClr val="5FC7B8"/>
            </a:solidFill>
            <a:prstDash val="solid"/>
          </a:ln>
        </p:spPr>
      </p:sp>
      <p:sp>
        <p:nvSpPr>
          <p:cNvPr id="13" name="s4-r1-b1"/>
          <p:cNvSpPr/>
          <p:nvPr/>
        </p:nvSpPr>
        <p:spPr>
          <a:xfrm>
            <a:off x="5296297" y="3611880"/>
            <a:ext cx="3423684" cy="914400"/>
          </a:xfrm>
          <a:prstGeom prst="roundRect">
            <a:avLst>
              <a:gd name="adj" fmla="val 15000"/>
            </a:avLst>
          </a:prstGeom>
          <a:solidFill>
            <a:srgbClr val="F2F7F5"/>
          </a:solidFill>
          <a:ln/>
        </p:spPr>
        <p:txBody>
          <a:bodyPr wrap="square" lIns="127000" tIns="0" rIns="127000" bIns="0" rtlCol="0" anchor="ctr"/>
          <a:lstStyle/>
          <a:p>
            <a:pPr algn="ctr" indent="0" marL="0">
              <a:buNone/>
            </a:pPr>
            <a:r>
              <a:rPr lang="en-US" sz="2200" b="1" dirty="0">
                <a:solidFill>
                  <a:srgbClr val="113832"/>
                </a:solidFill>
                <a:latin typeface="Arial" pitchFamily="34" charset="0"/>
                <a:ea typeface="Arial" pitchFamily="34" charset="-122"/>
                <a:cs typeface="Arial" pitchFamily="34" charset="-120"/>
              </a:rPr>
              <a:t>Contrôle serveur</a:t>
            </a:r>
            <a:endParaRPr lang="en-US" sz="2200" dirty="0"/>
          </a:p>
        </p:txBody>
      </p:sp>
      <p:sp>
        <p:nvSpPr>
          <p:cNvPr id="14" name="s4-r1-f1"/>
          <p:cNvSpPr/>
          <p:nvPr/>
        </p:nvSpPr>
        <p:spPr>
          <a:xfrm>
            <a:off x="8948581" y="3886200"/>
            <a:ext cx="731520" cy="365760"/>
          </a:xfrm>
          <a:prstGeom prst="rightArrow">
            <a:avLst/>
          </a:prstGeom>
          <a:solidFill>
            <a:srgbClr val="5FC7B8"/>
          </a:solidFill>
          <a:ln w="6350">
            <a:solidFill>
              <a:srgbClr val="5FC7B8"/>
            </a:solidFill>
            <a:prstDash val="solid"/>
          </a:ln>
        </p:spPr>
      </p:sp>
      <p:sp>
        <p:nvSpPr>
          <p:cNvPr id="15" name="s4-r1-b2"/>
          <p:cNvSpPr/>
          <p:nvPr/>
        </p:nvSpPr>
        <p:spPr>
          <a:xfrm>
            <a:off x="9779692" y="3611880"/>
            <a:ext cx="1548809" cy="914400"/>
          </a:xfrm>
          <a:prstGeom prst="roundRect">
            <a:avLst>
              <a:gd name="adj" fmla="val 15000"/>
            </a:avLst>
          </a:prstGeom>
          <a:solidFill>
            <a:srgbClr val="2B8C82"/>
          </a:solidFill>
          <a:ln/>
        </p:spPr>
        <p:txBody>
          <a:bodyPr wrap="square" lIns="127000" tIns="0" rIns="127000" bIns="0" rtlCol="0" anchor="ctr"/>
          <a:lstStyle/>
          <a:p>
            <a:pPr algn="ctr" indent="0" marL="0">
              <a:buNone/>
            </a:pPr>
            <a:r>
              <a:rPr lang="en-US" sz="2200" b="1" dirty="0">
                <a:solidFill>
                  <a:srgbClr val="F2F7F5"/>
                </a:solidFill>
                <a:latin typeface="Arial" pitchFamily="34" charset="0"/>
                <a:ea typeface="Arial" pitchFamily="34" charset="-122"/>
                <a:cs typeface="Arial" pitchFamily="34" charset="-120"/>
              </a:rPr>
              <a:t>OVH</a:t>
            </a:r>
            <a:endParaRPr lang="en-US" sz="2200" dirty="0"/>
          </a:p>
        </p:txBody>
      </p:sp>
      <p:sp>
        <p:nvSpPr>
          <p:cNvPr id="16" name="s4-phrase"/>
          <p:cNvSpPr txBox="1"/>
          <p:nvPr/>
        </p:nvSpPr>
        <p:spPr>
          <a:xfrm>
            <a:off x="812902" y="5074920"/>
            <a:ext cx="10515600" cy="640080"/>
          </a:xfrm>
          <a:prstGeom prst="rect">
            <a:avLst/>
          </a:prstGeom>
          <a:noFill/>
          <a:ln/>
        </p:spPr>
        <p:txBody>
          <a:bodyPr wrap="square" lIns="0" tIns="0" rIns="0" bIns="0" rtlCol="0" anchor="t"/>
          <a:lstStyle/>
          <a:p>
            <a:pPr indent="0" marL="0">
              <a:buNone/>
            </a:pPr>
            <a:r>
              <a:rPr lang="en-US" sz="2800" b="1" dirty="0">
                <a:solidFill>
                  <a:srgbClr val="F2F7F5"/>
                </a:solidFill>
                <a:latin typeface="Arial" pitchFamily="34" charset="0"/>
                <a:ea typeface="Arial" pitchFamily="34" charset="-122"/>
                <a:cs typeface="Arial" pitchFamily="34" charset="-120"/>
              </a:rPr>
              <a:t>Le choix dépend du </a:t>
            </a:r>
            <a:pPr indent="0" marL="0">
              <a:buNone/>
            </a:pPr>
            <a:r>
              <a:rPr lang="en-US" sz="2800" b="1" dirty="0">
                <a:solidFill>
                  <a:srgbClr val="FF7A4D"/>
                </a:solidFill>
                <a:latin typeface="Arial" pitchFamily="34" charset="0"/>
                <a:ea typeface="Arial" pitchFamily="34" charset="-122"/>
                <a:cs typeface="Arial" pitchFamily="34" charset="-120"/>
              </a:rPr>
              <a:t>projet</a:t>
            </a:r>
            <a:pPr indent="0" marL="0">
              <a:buNone/>
            </a:pPr>
            <a:r>
              <a:rPr lang="en-US" sz="2800" b="1" dirty="0">
                <a:solidFill>
                  <a:srgbClr val="F2F7F5"/>
                </a:solidFill>
                <a:latin typeface="Arial" pitchFamily="34" charset="0"/>
                <a:ea typeface="Arial" pitchFamily="34" charset="-122"/>
                <a:cs typeface="Arial" pitchFamily="34" charset="-120"/>
              </a:rPr>
              <a:t>.</a:t>
            </a:r>
            <a:endParaRPr lang="en-US" sz="2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16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32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nodeType="withEffect">
                                  <p:stCondLst>
                                    <p:cond delay="48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nodeType="withEffect">
                                  <p:stCondLst>
                                    <p:cond delay="64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10" presetClass="entr" presetSubtype="0" fill="hold" nodeType="withEffect">
                                  <p:stCondLst>
                                    <p:cond delay="80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left)">
                                      <p:cBhvr>
                                        <p:cTn id="27" dur="8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ogo" descr="Logo Vivier IA : le vivier des talents IA francophones">    </p:cNvPr>
          <p:cNvPicPr>
            <a:picLocks noChangeAspect="1"/>
          </p:cNvPicPr>
          <p:nvPr/>
        </p:nvPicPr>
        <p:blipFill>
          <a:blip r:embed="rId2"/>
          <a:stretch>
            <a:fillRect/>
          </a:stretch>
        </p:blipFill>
        <p:spPr>
          <a:xfrm>
            <a:off x="10500055" y="457200"/>
            <a:ext cx="1188720" cy="700871"/>
          </a:xfrm>
          <a:prstGeom prst="rect">
            <a:avLst/>
          </a:prstGeom>
        </p:spPr>
      </p:pic>
      <p:sp>
        <p:nvSpPr>
          <p:cNvPr id="3" name="Text 0"/>
          <p:cNvSpPr txBox="1"/>
          <p:nvPr/>
        </p:nvSpPr>
        <p:spPr>
          <a:xfrm>
            <a:off x="812902" y="812902"/>
            <a:ext cx="8686800" cy="365760"/>
          </a:xfrm>
          <a:prstGeom prst="rect">
            <a:avLst/>
          </a:prstGeom>
          <a:noFill/>
          <a:ln/>
        </p:spPr>
        <p:txBody>
          <a:bodyPr wrap="square" lIns="0" tIns="0" rIns="0" bIns="0" rtlCol="0" anchor="t"/>
          <a:lstStyle/>
          <a:p>
            <a:pPr indent="0" marL="0">
              <a:buNone/>
            </a:pPr>
            <a:r>
              <a:rPr lang="en-US" sz="1300" b="1" spc="100" kern="0" dirty="0">
                <a:solidFill>
                  <a:srgbClr val="5FC7B8"/>
                </a:solidFill>
                <a:latin typeface="Arial" pitchFamily="34" charset="0"/>
                <a:ea typeface="Arial" pitchFamily="34" charset="-122"/>
                <a:cs typeface="Arial" pitchFamily="34" charset="-120"/>
              </a:rPr>
              <a:t>PASSONS À LA PRATIQUE</a:t>
            </a:r>
            <a:endParaRPr lang="en-US" sz="1300" dirty="0"/>
          </a:p>
        </p:txBody>
      </p:sp>
      <p:sp>
        <p:nvSpPr>
          <p:cNvPr id="4" name="Text 1"/>
          <p:cNvSpPr txBox="1"/>
          <p:nvPr/>
        </p:nvSpPr>
        <p:spPr>
          <a:xfrm>
            <a:off x="812902" y="1234440"/>
            <a:ext cx="9235440" cy="822960"/>
          </a:xfrm>
          <a:prstGeom prst="rect">
            <a:avLst/>
          </a:prstGeom>
          <a:noFill/>
          <a:ln/>
        </p:spPr>
        <p:txBody>
          <a:bodyPr wrap="square" lIns="0" tIns="0" rIns="0" bIns="0" rtlCol="0" anchor="t"/>
          <a:lstStyle/>
          <a:p>
            <a:pPr indent="0" marL="0">
              <a:buNone/>
            </a:pPr>
            <a:r>
              <a:rPr lang="en-US" sz="2800" b="1" dirty="0">
                <a:solidFill>
                  <a:srgbClr val="F2F7F5"/>
                </a:solidFill>
                <a:latin typeface="Arial" pitchFamily="34" charset="0"/>
                <a:ea typeface="Arial" pitchFamily="34" charset="-122"/>
                <a:cs typeface="Arial" pitchFamily="34" charset="-120"/>
              </a:rPr>
              <a:t>Déployer sur Vercel</a:t>
            </a:r>
            <a:endParaRPr lang="en-US" sz="2800" dirty="0"/>
          </a:p>
        </p:txBody>
      </p:sp>
      <p:sp>
        <p:nvSpPr>
          <p:cNvPr id="5" name="s5-l0-cadre"/>
          <p:cNvSpPr/>
          <p:nvPr/>
        </p:nvSpPr>
        <p:spPr>
          <a:xfrm>
            <a:off x="1463040" y="2121408"/>
            <a:ext cx="9966960" cy="781812"/>
          </a:xfrm>
          <a:prstGeom prst="roundRect">
            <a:avLst>
              <a:gd name="adj" fmla="val 14035"/>
            </a:avLst>
          </a:prstGeom>
          <a:solidFill>
            <a:srgbClr val="FFFFFF">
              <a:alpha val="10000"/>
            </a:srgbClr>
          </a:solidFill>
          <a:ln w="9525">
            <a:solidFill>
              <a:srgbClr val="2B8C82"/>
            </a:solidFill>
            <a:prstDash val="solid"/>
          </a:ln>
        </p:spPr>
      </p:sp>
      <p:sp>
        <p:nvSpPr>
          <p:cNvPr id="6" name="s5-l0-num"/>
          <p:cNvSpPr txBox="1"/>
          <p:nvPr/>
        </p:nvSpPr>
        <p:spPr>
          <a:xfrm>
            <a:off x="812902" y="2221992"/>
            <a:ext cx="640080" cy="658368"/>
          </a:xfrm>
          <a:prstGeom prst="rect">
            <a:avLst/>
          </a:prstGeom>
          <a:noFill/>
          <a:ln/>
        </p:spPr>
        <p:txBody>
          <a:bodyPr wrap="square" lIns="0" tIns="0" rIns="0" bIns="0" rtlCol="0" anchor="ctr"/>
          <a:lstStyle/>
          <a:p>
            <a:pPr indent="0" marL="0">
              <a:buNone/>
            </a:pPr>
            <a:r>
              <a:rPr lang="en-US" sz="2600" b="1" dirty="0">
                <a:solidFill>
                  <a:srgbClr val="FF7A4D"/>
                </a:solidFill>
                <a:latin typeface="Arial" pitchFamily="34" charset="0"/>
                <a:ea typeface="Arial" pitchFamily="34" charset="-122"/>
                <a:cs typeface="Arial" pitchFamily="34" charset="-120"/>
              </a:rPr>
              <a:t>1</a:t>
            </a:r>
            <a:endParaRPr lang="en-US" sz="2600" dirty="0"/>
          </a:p>
        </p:txBody>
      </p:sp>
      <p:sp>
        <p:nvSpPr>
          <p:cNvPr id="7" name="s5-l0-etiquette"/>
          <p:cNvSpPr txBox="1"/>
          <p:nvPr/>
        </p:nvSpPr>
        <p:spPr>
          <a:xfrm>
            <a:off x="1600200" y="2176272"/>
            <a:ext cx="8229600" cy="320040"/>
          </a:xfrm>
          <a:prstGeom prst="rect">
            <a:avLst/>
          </a:prstGeom>
          <a:noFill/>
          <a:ln/>
        </p:spPr>
        <p:txBody>
          <a:bodyPr wrap="square" lIns="0" tIns="0" rIns="0" bIns="0" rtlCol="0" anchor="t"/>
          <a:lstStyle/>
          <a:p>
            <a:pPr indent="0" marL="0">
              <a:buNone/>
            </a:pPr>
            <a:r>
              <a:rPr lang="en-US" sz="1600" b="1" dirty="0">
                <a:solidFill>
                  <a:srgbClr val="BFD8D5"/>
                </a:solidFill>
                <a:latin typeface="Calibri" pitchFamily="34" charset="0"/>
                <a:ea typeface="Calibri" pitchFamily="34" charset="-122"/>
                <a:cs typeface="Calibri" pitchFamily="34" charset="-120"/>
              </a:rPr>
              <a:t>Créer un compte gratuit</a:t>
            </a:r>
            <a:endParaRPr lang="en-US" sz="1600" dirty="0"/>
          </a:p>
        </p:txBody>
      </p:sp>
      <p:sp>
        <p:nvSpPr>
          <p:cNvPr id="8" name="s5-l0-detail"/>
          <p:cNvSpPr txBox="1"/>
          <p:nvPr/>
        </p:nvSpPr>
        <p:spPr>
          <a:xfrm>
            <a:off x="1600200" y="2468880"/>
            <a:ext cx="9601200" cy="457200"/>
          </a:xfrm>
          <a:prstGeom prst="rect">
            <a:avLst/>
          </a:prstGeom>
          <a:noFill/>
          <a:ln/>
        </p:spPr>
        <p:txBody>
          <a:bodyPr wrap="square" lIns="0" tIns="0" rIns="0" bIns="0" rtlCol="0" anchor="t"/>
          <a:lstStyle/>
          <a:p>
            <a:pPr indent="0" marL="0">
              <a:buNone/>
            </a:pPr>
            <a:r>
              <a:rPr lang="en-US" sz="1800" dirty="0">
                <a:solidFill>
                  <a:srgbClr val="F2F7F5"/>
                </a:solidFill>
                <a:latin typeface="Calibri" pitchFamily="34" charset="0"/>
                <a:ea typeface="Calibri" pitchFamily="34" charset="-122"/>
                <a:cs typeface="Calibri" pitchFamily="34" charset="-120"/>
              </a:rPr>
              <a:t>Sur vercel.com, idéalement avec votre compte GitHub.</a:t>
            </a:r>
            <a:endParaRPr lang="en-US" sz="1800" dirty="0"/>
          </a:p>
        </p:txBody>
      </p:sp>
      <p:sp>
        <p:nvSpPr>
          <p:cNvPr id="9" name="s5-l1-cadre"/>
          <p:cNvSpPr/>
          <p:nvPr/>
        </p:nvSpPr>
        <p:spPr>
          <a:xfrm>
            <a:off x="1463040" y="3012948"/>
            <a:ext cx="9966960" cy="781812"/>
          </a:xfrm>
          <a:prstGeom prst="roundRect">
            <a:avLst>
              <a:gd name="adj" fmla="val 14035"/>
            </a:avLst>
          </a:prstGeom>
          <a:solidFill>
            <a:srgbClr val="FFFFFF">
              <a:alpha val="10000"/>
            </a:srgbClr>
          </a:solidFill>
          <a:ln w="9525">
            <a:solidFill>
              <a:srgbClr val="2B8C82"/>
            </a:solidFill>
            <a:prstDash val="solid"/>
          </a:ln>
        </p:spPr>
      </p:sp>
      <p:sp>
        <p:nvSpPr>
          <p:cNvPr id="10" name="s5-l1-num"/>
          <p:cNvSpPr txBox="1"/>
          <p:nvPr/>
        </p:nvSpPr>
        <p:spPr>
          <a:xfrm>
            <a:off x="812902" y="3113532"/>
            <a:ext cx="640080" cy="658368"/>
          </a:xfrm>
          <a:prstGeom prst="rect">
            <a:avLst/>
          </a:prstGeom>
          <a:noFill/>
          <a:ln/>
        </p:spPr>
        <p:txBody>
          <a:bodyPr wrap="square" lIns="0" tIns="0" rIns="0" bIns="0" rtlCol="0" anchor="ctr"/>
          <a:lstStyle/>
          <a:p>
            <a:pPr indent="0" marL="0">
              <a:buNone/>
            </a:pPr>
            <a:r>
              <a:rPr lang="en-US" sz="2600" b="1" dirty="0">
                <a:solidFill>
                  <a:srgbClr val="FF7A4D"/>
                </a:solidFill>
                <a:latin typeface="Arial" pitchFamily="34" charset="0"/>
                <a:ea typeface="Arial" pitchFamily="34" charset="-122"/>
                <a:cs typeface="Arial" pitchFamily="34" charset="-120"/>
              </a:rPr>
              <a:t>2</a:t>
            </a:r>
            <a:endParaRPr lang="en-US" sz="2600" dirty="0"/>
          </a:p>
        </p:txBody>
      </p:sp>
      <p:sp>
        <p:nvSpPr>
          <p:cNvPr id="11" name="s5-l1-etiquette"/>
          <p:cNvSpPr txBox="1"/>
          <p:nvPr/>
        </p:nvSpPr>
        <p:spPr>
          <a:xfrm>
            <a:off x="1600200" y="3067812"/>
            <a:ext cx="8229600" cy="320040"/>
          </a:xfrm>
          <a:prstGeom prst="rect">
            <a:avLst/>
          </a:prstGeom>
          <a:noFill/>
          <a:ln/>
        </p:spPr>
        <p:txBody>
          <a:bodyPr wrap="square" lIns="0" tIns="0" rIns="0" bIns="0" rtlCol="0" anchor="t"/>
          <a:lstStyle/>
          <a:p>
            <a:pPr indent="0" marL="0">
              <a:buNone/>
            </a:pPr>
            <a:r>
              <a:rPr lang="en-US" sz="1600" b="1" dirty="0">
                <a:solidFill>
                  <a:srgbClr val="BFD8D5"/>
                </a:solidFill>
                <a:latin typeface="Calibri" pitchFamily="34" charset="0"/>
                <a:ea typeface="Calibri" pitchFamily="34" charset="-122"/>
                <a:cs typeface="Calibri" pitchFamily="34" charset="-120"/>
              </a:rPr>
              <a:t>Ajouter un projet</a:t>
            </a:r>
            <a:endParaRPr lang="en-US" sz="1600" dirty="0"/>
          </a:p>
        </p:txBody>
      </p:sp>
      <p:sp>
        <p:nvSpPr>
          <p:cNvPr id="12" name="s5-l1-detail"/>
          <p:cNvSpPr txBox="1"/>
          <p:nvPr/>
        </p:nvSpPr>
        <p:spPr>
          <a:xfrm>
            <a:off x="1600200" y="3360420"/>
            <a:ext cx="9601200" cy="457200"/>
          </a:xfrm>
          <a:prstGeom prst="rect">
            <a:avLst/>
          </a:prstGeom>
          <a:noFill/>
          <a:ln/>
        </p:spPr>
        <p:txBody>
          <a:bodyPr wrap="square" lIns="0" tIns="0" rIns="0" bIns="0" rtlCol="0" anchor="t"/>
          <a:lstStyle/>
          <a:p>
            <a:pPr indent="0" marL="0">
              <a:buNone/>
            </a:pPr>
            <a:r>
              <a:rPr lang="en-US" sz="1800" dirty="0">
                <a:solidFill>
                  <a:srgbClr val="F2F7F5"/>
                </a:solidFill>
                <a:latin typeface="Calibri" pitchFamily="34" charset="0"/>
                <a:ea typeface="Calibri" pitchFamily="34" charset="-122"/>
                <a:cs typeface="Calibri" pitchFamily="34" charset="-120"/>
              </a:rPr>
              <a:t>Tableau de bord, « Add New Project », puis le dépôt GitHub.</a:t>
            </a:r>
            <a:endParaRPr lang="en-US" sz="1800" dirty="0"/>
          </a:p>
        </p:txBody>
      </p:sp>
      <p:sp>
        <p:nvSpPr>
          <p:cNvPr id="13" name="s5-l2-cadre"/>
          <p:cNvSpPr/>
          <p:nvPr/>
        </p:nvSpPr>
        <p:spPr>
          <a:xfrm>
            <a:off x="1463040" y="3904488"/>
            <a:ext cx="9966960" cy="781812"/>
          </a:xfrm>
          <a:prstGeom prst="roundRect">
            <a:avLst>
              <a:gd name="adj" fmla="val 14035"/>
            </a:avLst>
          </a:prstGeom>
          <a:solidFill>
            <a:srgbClr val="FFFFFF">
              <a:alpha val="10000"/>
            </a:srgbClr>
          </a:solidFill>
          <a:ln w="9525">
            <a:solidFill>
              <a:srgbClr val="2B8C82"/>
            </a:solidFill>
            <a:prstDash val="solid"/>
          </a:ln>
        </p:spPr>
      </p:sp>
      <p:sp>
        <p:nvSpPr>
          <p:cNvPr id="14" name="s5-l2-num"/>
          <p:cNvSpPr txBox="1"/>
          <p:nvPr/>
        </p:nvSpPr>
        <p:spPr>
          <a:xfrm>
            <a:off x="812902" y="4005072"/>
            <a:ext cx="640080" cy="658368"/>
          </a:xfrm>
          <a:prstGeom prst="rect">
            <a:avLst/>
          </a:prstGeom>
          <a:noFill/>
          <a:ln/>
        </p:spPr>
        <p:txBody>
          <a:bodyPr wrap="square" lIns="0" tIns="0" rIns="0" bIns="0" rtlCol="0" anchor="ctr"/>
          <a:lstStyle/>
          <a:p>
            <a:pPr indent="0" marL="0">
              <a:buNone/>
            </a:pPr>
            <a:r>
              <a:rPr lang="en-US" sz="2600" b="1" dirty="0">
                <a:solidFill>
                  <a:srgbClr val="FF7A4D"/>
                </a:solidFill>
                <a:latin typeface="Arial" pitchFamily="34" charset="0"/>
                <a:ea typeface="Arial" pitchFamily="34" charset="-122"/>
                <a:cs typeface="Arial" pitchFamily="34" charset="-120"/>
              </a:rPr>
              <a:t>3</a:t>
            </a:r>
            <a:endParaRPr lang="en-US" sz="2600" dirty="0"/>
          </a:p>
        </p:txBody>
      </p:sp>
      <p:sp>
        <p:nvSpPr>
          <p:cNvPr id="15" name="s5-l2-etiquette"/>
          <p:cNvSpPr txBox="1"/>
          <p:nvPr/>
        </p:nvSpPr>
        <p:spPr>
          <a:xfrm>
            <a:off x="1600200" y="3959352"/>
            <a:ext cx="8229600" cy="320040"/>
          </a:xfrm>
          <a:prstGeom prst="rect">
            <a:avLst/>
          </a:prstGeom>
          <a:noFill/>
          <a:ln/>
        </p:spPr>
        <p:txBody>
          <a:bodyPr wrap="square" lIns="0" tIns="0" rIns="0" bIns="0" rtlCol="0" anchor="t"/>
          <a:lstStyle/>
          <a:p>
            <a:pPr indent="0" marL="0">
              <a:buNone/>
            </a:pPr>
            <a:r>
              <a:rPr lang="en-US" sz="1600" b="1" dirty="0">
                <a:solidFill>
                  <a:srgbClr val="BFD8D5"/>
                </a:solidFill>
                <a:latin typeface="Calibri" pitchFamily="34" charset="0"/>
                <a:ea typeface="Calibri" pitchFamily="34" charset="-122"/>
                <a:cs typeface="Calibri" pitchFamily="34" charset="-120"/>
              </a:rPr>
              <a:t>Valider la configuration</a:t>
            </a:r>
            <a:endParaRPr lang="en-US" sz="1600" dirty="0"/>
          </a:p>
        </p:txBody>
      </p:sp>
      <p:sp>
        <p:nvSpPr>
          <p:cNvPr id="16" name="s5-l2-detail"/>
          <p:cNvSpPr txBox="1"/>
          <p:nvPr/>
        </p:nvSpPr>
        <p:spPr>
          <a:xfrm>
            <a:off x="1600200" y="4251960"/>
            <a:ext cx="9601200" cy="457200"/>
          </a:xfrm>
          <a:prstGeom prst="rect">
            <a:avLst/>
          </a:prstGeom>
          <a:noFill/>
          <a:ln/>
        </p:spPr>
        <p:txBody>
          <a:bodyPr wrap="square" lIns="0" tIns="0" rIns="0" bIns="0" rtlCol="0" anchor="t"/>
          <a:lstStyle/>
          <a:p>
            <a:pPr indent="0" marL="0">
              <a:buNone/>
            </a:pPr>
            <a:r>
              <a:rPr lang="en-US" sz="1800" dirty="0">
                <a:solidFill>
                  <a:srgbClr val="F2F7F5"/>
                </a:solidFill>
                <a:latin typeface="Calibri" pitchFamily="34" charset="0"/>
                <a:ea typeface="Calibri" pitchFamily="34" charset="-122"/>
                <a:cs typeface="Calibri" pitchFamily="34" charset="-120"/>
              </a:rPr>
              <a:t>Vercel détecte votre projet et propose une configuration par défaut.</a:t>
            </a:r>
            <a:endParaRPr lang="en-US" sz="1800" dirty="0"/>
          </a:p>
        </p:txBody>
      </p:sp>
      <p:sp>
        <p:nvSpPr>
          <p:cNvPr id="17" name="s5-l3-cadre"/>
          <p:cNvSpPr/>
          <p:nvPr/>
        </p:nvSpPr>
        <p:spPr>
          <a:xfrm>
            <a:off x="1463040" y="4796028"/>
            <a:ext cx="9966960" cy="781812"/>
          </a:xfrm>
          <a:prstGeom prst="roundRect">
            <a:avLst>
              <a:gd name="adj" fmla="val 14035"/>
            </a:avLst>
          </a:prstGeom>
          <a:solidFill>
            <a:srgbClr val="FFFFFF">
              <a:alpha val="10000"/>
            </a:srgbClr>
          </a:solidFill>
          <a:ln w="9525">
            <a:solidFill>
              <a:srgbClr val="2B8C82"/>
            </a:solidFill>
            <a:prstDash val="solid"/>
          </a:ln>
        </p:spPr>
      </p:sp>
      <p:sp>
        <p:nvSpPr>
          <p:cNvPr id="18" name="s5-l3-num"/>
          <p:cNvSpPr txBox="1"/>
          <p:nvPr/>
        </p:nvSpPr>
        <p:spPr>
          <a:xfrm>
            <a:off x="812902" y="4896612"/>
            <a:ext cx="640080" cy="658368"/>
          </a:xfrm>
          <a:prstGeom prst="rect">
            <a:avLst/>
          </a:prstGeom>
          <a:noFill/>
          <a:ln/>
        </p:spPr>
        <p:txBody>
          <a:bodyPr wrap="square" lIns="0" tIns="0" rIns="0" bIns="0" rtlCol="0" anchor="ctr"/>
          <a:lstStyle/>
          <a:p>
            <a:pPr indent="0" marL="0">
              <a:buNone/>
            </a:pPr>
            <a:r>
              <a:rPr lang="en-US" sz="2600" b="1" dirty="0">
                <a:solidFill>
                  <a:srgbClr val="FF7A4D"/>
                </a:solidFill>
                <a:latin typeface="Arial" pitchFamily="34" charset="0"/>
                <a:ea typeface="Arial" pitchFamily="34" charset="-122"/>
                <a:cs typeface="Arial" pitchFamily="34" charset="-120"/>
              </a:rPr>
              <a:t>4</a:t>
            </a:r>
            <a:endParaRPr lang="en-US" sz="2600" dirty="0"/>
          </a:p>
        </p:txBody>
      </p:sp>
      <p:sp>
        <p:nvSpPr>
          <p:cNvPr id="19" name="s5-l3-etiquette"/>
          <p:cNvSpPr txBox="1"/>
          <p:nvPr/>
        </p:nvSpPr>
        <p:spPr>
          <a:xfrm>
            <a:off x="1600200" y="4850892"/>
            <a:ext cx="8229600" cy="320040"/>
          </a:xfrm>
          <a:prstGeom prst="rect">
            <a:avLst/>
          </a:prstGeom>
          <a:noFill/>
          <a:ln/>
        </p:spPr>
        <p:txBody>
          <a:bodyPr wrap="square" lIns="0" tIns="0" rIns="0" bIns="0" rtlCol="0" anchor="t"/>
          <a:lstStyle/>
          <a:p>
            <a:pPr indent="0" marL="0">
              <a:buNone/>
            </a:pPr>
            <a:r>
              <a:rPr lang="en-US" sz="1600" b="1" dirty="0">
                <a:solidFill>
                  <a:srgbClr val="BFD8D5"/>
                </a:solidFill>
                <a:latin typeface="Calibri" pitchFamily="34" charset="0"/>
                <a:ea typeface="Calibri" pitchFamily="34" charset="-122"/>
                <a:cs typeface="Calibri" pitchFamily="34" charset="-120"/>
              </a:rPr>
              <a:t>Chaque git push redéploie le site</a:t>
            </a:r>
            <a:endParaRPr lang="en-US" sz="1600" dirty="0"/>
          </a:p>
        </p:txBody>
      </p:sp>
      <p:sp>
        <p:nvSpPr>
          <p:cNvPr id="20" name="s5-l3-detail"/>
          <p:cNvSpPr txBox="1"/>
          <p:nvPr/>
        </p:nvSpPr>
        <p:spPr>
          <a:xfrm>
            <a:off x="1600200" y="5143500"/>
            <a:ext cx="9601200" cy="457200"/>
          </a:xfrm>
          <a:prstGeom prst="rect">
            <a:avLst/>
          </a:prstGeom>
          <a:noFill/>
          <a:ln/>
        </p:spPr>
        <p:txBody>
          <a:bodyPr wrap="square" lIns="0" tIns="0" rIns="0" bIns="0" rtlCol="0" anchor="t"/>
          <a:lstStyle/>
          <a:p>
            <a:pPr indent="0" marL="0">
              <a:buNone/>
            </a:pPr>
            <a:r>
              <a:rPr lang="en-US" sz="1800" dirty="0">
                <a:solidFill>
                  <a:srgbClr val="F2F7F5"/>
                </a:solidFill>
                <a:latin typeface="Calibri" pitchFamily="34" charset="0"/>
                <a:ea typeface="Calibri" pitchFamily="34" charset="-122"/>
                <a:cs typeface="Calibri" pitchFamily="34" charset="-120"/>
              </a:rPr>
              <a:t>Sur la branche principale, sans action manuelle supplémentaire.</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10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nodeType="withEffect">
                                  <p:stCondLst>
                                    <p:cond delay="25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nodeType="withEffect">
                                  <p:stCondLst>
                                    <p:cond delay="10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nodeType="withEffect">
                                  <p:stCondLst>
                                    <p:cond delay="25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nodeType="withEffect">
                                  <p:stCondLst>
                                    <p:cond delay="10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nodeType="withEffect">
                                  <p:stCondLst>
                                    <p:cond delay="25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nodeType="withEffect">
                                  <p:stCondLst>
                                    <p:cond delay="10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nodeType="withEffect">
                                  <p:stCondLst>
                                    <p:cond delay="25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ogo" descr="Logo Vivier IA : le vivier des talents IA francophones">    </p:cNvPr>
          <p:cNvPicPr>
            <a:picLocks noChangeAspect="1"/>
          </p:cNvPicPr>
          <p:nvPr/>
        </p:nvPicPr>
        <p:blipFill>
          <a:blip r:embed="rId2"/>
          <a:stretch>
            <a:fillRect/>
          </a:stretch>
        </p:blipFill>
        <p:spPr>
          <a:xfrm>
            <a:off x="10500055" y="457200"/>
            <a:ext cx="1188720" cy="700871"/>
          </a:xfrm>
          <a:prstGeom prst="rect">
            <a:avLst/>
          </a:prstGeom>
        </p:spPr>
      </p:pic>
      <p:sp>
        <p:nvSpPr>
          <p:cNvPr id="3" name="Text 0"/>
          <p:cNvSpPr txBox="1"/>
          <p:nvPr/>
        </p:nvSpPr>
        <p:spPr>
          <a:xfrm>
            <a:off x="812902" y="812902"/>
            <a:ext cx="8686800" cy="365760"/>
          </a:xfrm>
          <a:prstGeom prst="rect">
            <a:avLst/>
          </a:prstGeom>
          <a:noFill/>
          <a:ln/>
        </p:spPr>
        <p:txBody>
          <a:bodyPr wrap="square" lIns="0" tIns="0" rIns="0" bIns="0" rtlCol="0" anchor="t"/>
          <a:lstStyle/>
          <a:p>
            <a:pPr indent="0" marL="0">
              <a:buNone/>
            </a:pPr>
            <a:r>
              <a:rPr lang="en-US" sz="1300" b="1" spc="100" kern="0" dirty="0">
                <a:solidFill>
                  <a:srgbClr val="5FC7B8"/>
                </a:solidFill>
                <a:latin typeface="Arial" pitchFamily="34" charset="0"/>
                <a:ea typeface="Arial" pitchFamily="34" charset="-122"/>
                <a:cs typeface="Arial" pitchFamily="34" charset="-120"/>
              </a:rPr>
              <a:t>CÔTÉ OVH</a:t>
            </a:r>
            <a:endParaRPr lang="en-US" sz="1300" dirty="0"/>
          </a:p>
        </p:txBody>
      </p:sp>
      <p:sp>
        <p:nvSpPr>
          <p:cNvPr id="4" name="Text 1"/>
          <p:cNvSpPr txBox="1"/>
          <p:nvPr/>
        </p:nvSpPr>
        <p:spPr>
          <a:xfrm>
            <a:off x="812902" y="1234440"/>
            <a:ext cx="9235440" cy="822960"/>
          </a:xfrm>
          <a:prstGeom prst="rect">
            <a:avLst/>
          </a:prstGeom>
          <a:noFill/>
          <a:ln/>
        </p:spPr>
        <p:txBody>
          <a:bodyPr wrap="square" lIns="0" tIns="0" rIns="0" bIns="0" rtlCol="0" anchor="t"/>
          <a:lstStyle/>
          <a:p>
            <a:pPr indent="0" marL="0">
              <a:buNone/>
            </a:pPr>
            <a:r>
              <a:rPr lang="en-US" sz="2800" b="1" dirty="0">
                <a:solidFill>
                  <a:srgbClr val="F2F7F5"/>
                </a:solidFill>
                <a:latin typeface="Arial" pitchFamily="34" charset="0"/>
                <a:ea typeface="Arial" pitchFamily="34" charset="-122"/>
                <a:cs typeface="Arial" pitchFamily="34" charset="-120"/>
              </a:rPr>
              <a:t>Créer un compte OVH</a:t>
            </a:r>
            <a:endParaRPr lang="en-US" sz="2800" dirty="0"/>
          </a:p>
        </p:txBody>
      </p:sp>
      <p:sp>
        <p:nvSpPr>
          <p:cNvPr id="5" name="s6-l0-cadre"/>
          <p:cNvSpPr/>
          <p:nvPr/>
        </p:nvSpPr>
        <p:spPr>
          <a:xfrm>
            <a:off x="1463040" y="2121408"/>
            <a:ext cx="9966960" cy="868680"/>
          </a:xfrm>
          <a:prstGeom prst="roundRect">
            <a:avLst>
              <a:gd name="adj" fmla="val 12632"/>
            </a:avLst>
          </a:prstGeom>
          <a:solidFill>
            <a:srgbClr val="FFFFFF">
              <a:alpha val="10000"/>
            </a:srgbClr>
          </a:solidFill>
          <a:ln w="9525">
            <a:solidFill>
              <a:srgbClr val="2B8C82"/>
            </a:solidFill>
            <a:prstDash val="solid"/>
          </a:ln>
        </p:spPr>
      </p:sp>
      <p:sp>
        <p:nvSpPr>
          <p:cNvPr id="6" name="s6-l0-num"/>
          <p:cNvSpPr txBox="1"/>
          <p:nvPr/>
        </p:nvSpPr>
        <p:spPr>
          <a:xfrm>
            <a:off x="812902" y="2221992"/>
            <a:ext cx="640080" cy="658368"/>
          </a:xfrm>
          <a:prstGeom prst="rect">
            <a:avLst/>
          </a:prstGeom>
          <a:noFill/>
          <a:ln/>
        </p:spPr>
        <p:txBody>
          <a:bodyPr wrap="square" lIns="0" tIns="0" rIns="0" bIns="0" rtlCol="0" anchor="ctr"/>
          <a:lstStyle/>
          <a:p>
            <a:pPr indent="0" marL="0">
              <a:buNone/>
            </a:pPr>
            <a:r>
              <a:rPr lang="en-US" sz="2600" b="1" dirty="0">
                <a:solidFill>
                  <a:srgbClr val="FF7A4D"/>
                </a:solidFill>
                <a:latin typeface="Arial" pitchFamily="34" charset="0"/>
                <a:ea typeface="Arial" pitchFamily="34" charset="-122"/>
                <a:cs typeface="Arial" pitchFamily="34" charset="-120"/>
              </a:rPr>
              <a:t>1</a:t>
            </a:r>
            <a:endParaRPr lang="en-US" sz="2600" dirty="0"/>
          </a:p>
        </p:txBody>
      </p:sp>
      <p:sp>
        <p:nvSpPr>
          <p:cNvPr id="7" name="s6-l0-etiquette"/>
          <p:cNvSpPr txBox="1"/>
          <p:nvPr/>
        </p:nvSpPr>
        <p:spPr>
          <a:xfrm>
            <a:off x="1600200" y="2176272"/>
            <a:ext cx="8229600" cy="320040"/>
          </a:xfrm>
          <a:prstGeom prst="rect">
            <a:avLst/>
          </a:prstGeom>
          <a:noFill/>
          <a:ln/>
        </p:spPr>
        <p:txBody>
          <a:bodyPr wrap="square" lIns="0" tIns="0" rIns="0" bIns="0" rtlCol="0" anchor="t"/>
          <a:lstStyle/>
          <a:p>
            <a:pPr indent="0" marL="0">
              <a:buNone/>
            </a:pPr>
            <a:r>
              <a:rPr lang="en-US" sz="1600" b="1" dirty="0">
                <a:solidFill>
                  <a:srgbClr val="BFD8D5"/>
                </a:solidFill>
                <a:latin typeface="Calibri" pitchFamily="34" charset="0"/>
                <a:ea typeface="Calibri" pitchFamily="34" charset="-122"/>
                <a:cs typeface="Calibri" pitchFamily="34" charset="-120"/>
              </a:rPr>
              <a:t>Créer un compte</a:t>
            </a:r>
            <a:endParaRPr lang="en-US" sz="1600" dirty="0"/>
          </a:p>
        </p:txBody>
      </p:sp>
      <p:sp>
        <p:nvSpPr>
          <p:cNvPr id="8" name="s6-l0-detail"/>
          <p:cNvSpPr txBox="1"/>
          <p:nvPr/>
        </p:nvSpPr>
        <p:spPr>
          <a:xfrm>
            <a:off x="1600200" y="2468880"/>
            <a:ext cx="9601200" cy="457200"/>
          </a:xfrm>
          <a:prstGeom prst="rect">
            <a:avLst/>
          </a:prstGeom>
          <a:noFill/>
          <a:ln/>
        </p:spPr>
        <p:txBody>
          <a:bodyPr wrap="square" lIns="0" tIns="0" rIns="0" bIns="0" rtlCol="0" anchor="t"/>
          <a:lstStyle/>
          <a:p>
            <a:pPr indent="0" marL="0">
              <a:buNone/>
            </a:pPr>
            <a:r>
              <a:rPr lang="en-US" sz="1800" dirty="0">
                <a:solidFill>
                  <a:srgbClr val="F2F7F5"/>
                </a:solidFill>
                <a:latin typeface="Calibri" pitchFamily="34" charset="0"/>
                <a:ea typeface="Calibri" pitchFamily="34" charset="-122"/>
                <a:cs typeface="Calibri" pitchFamily="34" charset="-120"/>
              </a:rPr>
              <a:t>Sur ovh.com.</a:t>
            </a:r>
            <a:endParaRPr lang="en-US" sz="1800" dirty="0"/>
          </a:p>
        </p:txBody>
      </p:sp>
      <p:sp>
        <p:nvSpPr>
          <p:cNvPr id="9" name="s6-l1-cadre"/>
          <p:cNvSpPr/>
          <p:nvPr/>
        </p:nvSpPr>
        <p:spPr>
          <a:xfrm>
            <a:off x="1463040" y="3310128"/>
            <a:ext cx="9966960" cy="868680"/>
          </a:xfrm>
          <a:prstGeom prst="roundRect">
            <a:avLst>
              <a:gd name="adj" fmla="val 12632"/>
            </a:avLst>
          </a:prstGeom>
          <a:solidFill>
            <a:srgbClr val="FFFFFF">
              <a:alpha val="10000"/>
            </a:srgbClr>
          </a:solidFill>
          <a:ln w="9525">
            <a:solidFill>
              <a:srgbClr val="2B8C82"/>
            </a:solidFill>
            <a:prstDash val="solid"/>
          </a:ln>
        </p:spPr>
      </p:sp>
      <p:sp>
        <p:nvSpPr>
          <p:cNvPr id="10" name="s6-l1-num"/>
          <p:cNvSpPr txBox="1"/>
          <p:nvPr/>
        </p:nvSpPr>
        <p:spPr>
          <a:xfrm>
            <a:off x="812902" y="3410712"/>
            <a:ext cx="640080" cy="658368"/>
          </a:xfrm>
          <a:prstGeom prst="rect">
            <a:avLst/>
          </a:prstGeom>
          <a:noFill/>
          <a:ln/>
        </p:spPr>
        <p:txBody>
          <a:bodyPr wrap="square" lIns="0" tIns="0" rIns="0" bIns="0" rtlCol="0" anchor="ctr"/>
          <a:lstStyle/>
          <a:p>
            <a:pPr indent="0" marL="0">
              <a:buNone/>
            </a:pPr>
            <a:r>
              <a:rPr lang="en-US" sz="2600" b="1" dirty="0">
                <a:solidFill>
                  <a:srgbClr val="FF7A4D"/>
                </a:solidFill>
                <a:latin typeface="Arial" pitchFamily="34" charset="0"/>
                <a:ea typeface="Arial" pitchFamily="34" charset="-122"/>
                <a:cs typeface="Arial" pitchFamily="34" charset="-120"/>
              </a:rPr>
              <a:t>2</a:t>
            </a:r>
            <a:endParaRPr lang="en-US" sz="2600" dirty="0"/>
          </a:p>
        </p:txBody>
      </p:sp>
      <p:sp>
        <p:nvSpPr>
          <p:cNvPr id="11" name="s6-l1-etiquette"/>
          <p:cNvSpPr txBox="1"/>
          <p:nvPr/>
        </p:nvSpPr>
        <p:spPr>
          <a:xfrm>
            <a:off x="1600200" y="3364992"/>
            <a:ext cx="8229600" cy="320040"/>
          </a:xfrm>
          <a:prstGeom prst="rect">
            <a:avLst/>
          </a:prstGeom>
          <a:noFill/>
          <a:ln/>
        </p:spPr>
        <p:txBody>
          <a:bodyPr wrap="square" lIns="0" tIns="0" rIns="0" bIns="0" rtlCol="0" anchor="t"/>
          <a:lstStyle/>
          <a:p>
            <a:pPr indent="0" marL="0">
              <a:buNone/>
            </a:pPr>
            <a:r>
              <a:rPr lang="en-US" sz="1600" b="1" dirty="0">
                <a:solidFill>
                  <a:srgbClr val="BFD8D5"/>
                </a:solidFill>
                <a:latin typeface="Calibri" pitchFamily="34" charset="0"/>
                <a:ea typeface="Calibri" pitchFamily="34" charset="-122"/>
                <a:cs typeface="Calibri" pitchFamily="34" charset="-120"/>
              </a:rPr>
              <a:t>Choisir l'offre adaptée au besoin réel</a:t>
            </a:r>
            <a:endParaRPr lang="en-US" sz="1600" dirty="0"/>
          </a:p>
        </p:txBody>
      </p:sp>
      <p:sp>
        <p:nvSpPr>
          <p:cNvPr id="12" name="s6-l1-detail"/>
          <p:cNvSpPr txBox="1"/>
          <p:nvPr/>
        </p:nvSpPr>
        <p:spPr>
          <a:xfrm>
            <a:off x="1600200" y="3657600"/>
            <a:ext cx="9601200" cy="457200"/>
          </a:xfrm>
          <a:prstGeom prst="rect">
            <a:avLst/>
          </a:prstGeom>
          <a:noFill/>
          <a:ln/>
        </p:spPr>
        <p:txBody>
          <a:bodyPr wrap="square" lIns="0" tIns="0" rIns="0" bIns="0" rtlCol="0" anchor="t"/>
          <a:lstStyle/>
          <a:p>
            <a:pPr indent="0" marL="0">
              <a:buNone/>
            </a:pPr>
            <a:r>
              <a:rPr lang="en-US" sz="1800" dirty="0">
                <a:solidFill>
                  <a:srgbClr val="F2F7F5"/>
                </a:solidFill>
                <a:latin typeface="Calibri" pitchFamily="34" charset="0"/>
                <a:ea typeface="Calibri" pitchFamily="34" charset="-122"/>
                <a:cs typeface="Calibri" pitchFamily="34" charset="-120"/>
              </a:rPr>
              <a:t>Hébergement web mutualisé pour un site simple, VPS pour un backend comme n8n.</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10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nodeType="withEffect">
                                  <p:stCondLst>
                                    <p:cond delay="25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nodeType="withEffect">
                                  <p:stCondLst>
                                    <p:cond delay="10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nodeType="withEffect">
                                  <p:stCondLst>
                                    <p:cond delay="25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ogo" descr="Logo Vivier IA : le vivier des talents IA francophones">    </p:cNvPr>
          <p:cNvPicPr>
            <a:picLocks noChangeAspect="1"/>
          </p:cNvPicPr>
          <p:nvPr/>
        </p:nvPicPr>
        <p:blipFill>
          <a:blip r:embed="rId2"/>
          <a:stretch>
            <a:fillRect/>
          </a:stretch>
        </p:blipFill>
        <p:spPr>
          <a:xfrm>
            <a:off x="10500055" y="457200"/>
            <a:ext cx="1188720" cy="700871"/>
          </a:xfrm>
          <a:prstGeom prst="rect">
            <a:avLst/>
          </a:prstGeom>
        </p:spPr>
      </p:pic>
      <p:sp>
        <p:nvSpPr>
          <p:cNvPr id="3" name="Text 0"/>
          <p:cNvSpPr txBox="1"/>
          <p:nvPr/>
        </p:nvSpPr>
        <p:spPr>
          <a:xfrm>
            <a:off x="812902" y="812902"/>
            <a:ext cx="8686800" cy="365760"/>
          </a:xfrm>
          <a:prstGeom prst="rect">
            <a:avLst/>
          </a:prstGeom>
          <a:noFill/>
          <a:ln/>
        </p:spPr>
        <p:txBody>
          <a:bodyPr wrap="square" lIns="0" tIns="0" rIns="0" bIns="0" rtlCol="0" anchor="t"/>
          <a:lstStyle/>
          <a:p>
            <a:pPr indent="0" marL="0">
              <a:buNone/>
            </a:pPr>
            <a:r>
              <a:rPr lang="en-US" sz="1300" b="1" spc="100" kern="0" dirty="0">
                <a:solidFill>
                  <a:srgbClr val="5FC7B8"/>
                </a:solidFill>
                <a:latin typeface="Arial" pitchFamily="34" charset="0"/>
                <a:ea typeface="Arial" pitchFamily="34" charset="-122"/>
                <a:cs typeface="Arial" pitchFamily="34" charset="-120"/>
              </a:rPr>
              <a:t>À RETENIR</a:t>
            </a:r>
            <a:endParaRPr lang="en-US" sz="1300" dirty="0"/>
          </a:p>
        </p:txBody>
      </p:sp>
      <p:sp>
        <p:nvSpPr>
          <p:cNvPr id="4" name="s7-titre"/>
          <p:cNvSpPr txBox="1"/>
          <p:nvPr/>
        </p:nvSpPr>
        <p:spPr>
          <a:xfrm>
            <a:off x="812902" y="1371600"/>
            <a:ext cx="8412480" cy="1188720"/>
          </a:xfrm>
          <a:prstGeom prst="rect">
            <a:avLst/>
          </a:prstGeom>
          <a:noFill/>
          <a:ln/>
        </p:spPr>
        <p:txBody>
          <a:bodyPr wrap="square" lIns="0" tIns="0" rIns="0" bIns="0" rtlCol="0" anchor="t"/>
          <a:lstStyle/>
          <a:p>
            <a:pPr indent="0" marL="0">
              <a:buNone/>
            </a:pPr>
            <a:r>
              <a:rPr lang="en-US" sz="3000" b="1" dirty="0">
                <a:solidFill>
                  <a:srgbClr val="F2F7F5"/>
                </a:solidFill>
                <a:latin typeface="Arial" pitchFamily="34" charset="0"/>
                <a:ea typeface="Arial" pitchFamily="34" charset="-122"/>
                <a:cs typeface="Arial" pitchFamily="34" charset="-120"/>
              </a:rPr>
              <a:t>Vercel pour aller vite,</a:t>
            </a:r>
            <a:endParaRPr lang="en-US" sz="3000" dirty="0"/>
          </a:p>
          <a:p>
            <a:pPr indent="0" marL="0">
              <a:buNone/>
            </a:pPr>
            <a:r>
              <a:rPr lang="en-US" sz="3000" b="1" dirty="0">
                <a:solidFill>
                  <a:srgbClr val="F2F7F5"/>
                </a:solidFill>
                <a:latin typeface="Arial" pitchFamily="34" charset="0"/>
                <a:ea typeface="Arial" pitchFamily="34" charset="-122"/>
                <a:cs typeface="Arial" pitchFamily="34" charset="-120"/>
              </a:rPr>
              <a:t>OVH pour garder le contrôle.</a:t>
            </a:r>
            <a:endParaRPr lang="en-US" sz="3000" dirty="0"/>
          </a:p>
        </p:txBody>
      </p:sp>
      <p:sp>
        <p:nvSpPr>
          <p:cNvPr id="5" name="s7-point-0"/>
          <p:cNvSpPr txBox="1"/>
          <p:nvPr/>
        </p:nvSpPr>
        <p:spPr>
          <a:xfrm>
            <a:off x="812902" y="2971800"/>
            <a:ext cx="10424160" cy="548640"/>
          </a:xfrm>
          <a:prstGeom prst="rect">
            <a:avLst/>
          </a:prstGeom>
          <a:noFill/>
          <a:ln/>
        </p:spPr>
        <p:txBody>
          <a:bodyPr wrap="square" lIns="0" tIns="0" rIns="0" bIns="0" rtlCol="0" anchor="t"/>
          <a:lstStyle/>
          <a:p>
            <a:pPr marL="342900" indent="-342900">
              <a:buSzPct val="100000"/>
              <a:buChar char="•"/>
            </a:pPr>
            <a:r>
              <a:rPr lang="en-US" sz="2200" dirty="0">
                <a:solidFill>
                  <a:srgbClr val="BFD8D5"/>
                </a:solidFill>
                <a:latin typeface="Calibri" pitchFamily="34" charset="0"/>
                <a:ea typeface="Calibri" pitchFamily="34" charset="-122"/>
                <a:cs typeface="Calibri" pitchFamily="34" charset="-120"/>
              </a:rPr>
              <a:t>Vercel : rapide, automatisé, adapté aux projets web standards.</a:t>
            </a:r>
            <a:endParaRPr lang="en-US" sz="2200" dirty="0"/>
          </a:p>
        </p:txBody>
      </p:sp>
      <p:sp>
        <p:nvSpPr>
          <p:cNvPr id="6" name="s7-point-1"/>
          <p:cNvSpPr txBox="1"/>
          <p:nvPr/>
        </p:nvSpPr>
        <p:spPr>
          <a:xfrm>
            <a:off x="812902" y="3703320"/>
            <a:ext cx="10424160" cy="548640"/>
          </a:xfrm>
          <a:prstGeom prst="rect">
            <a:avLst/>
          </a:prstGeom>
          <a:noFill/>
          <a:ln/>
        </p:spPr>
        <p:txBody>
          <a:bodyPr wrap="square" lIns="0" tIns="0" rIns="0" bIns="0" rtlCol="0" anchor="t"/>
          <a:lstStyle/>
          <a:p>
            <a:pPr marL="342900" indent="-342900">
              <a:buSzPct val="100000"/>
              <a:buChar char="•"/>
            </a:pPr>
            <a:r>
              <a:rPr lang="en-US" sz="2200" dirty="0">
                <a:solidFill>
                  <a:srgbClr val="BFD8D5"/>
                </a:solidFill>
                <a:latin typeface="Calibri" pitchFamily="34" charset="0"/>
                <a:ea typeface="Calibri" pitchFamily="34" charset="-122"/>
                <a:cs typeface="Calibri" pitchFamily="34" charset="-120"/>
              </a:rPr>
              <a:t>OVH : plus de contrôle, adapté aux besoins d'infrastructure spécifiques.</a:t>
            </a:r>
            <a:endParaRPr lang="en-US" sz="2200" dirty="0"/>
          </a:p>
        </p:txBody>
      </p:sp>
      <p:sp>
        <p:nvSpPr>
          <p:cNvPr id="7" name="s7-point-2"/>
          <p:cNvSpPr txBox="1"/>
          <p:nvPr/>
        </p:nvSpPr>
        <p:spPr>
          <a:xfrm>
            <a:off x="812902" y="4434840"/>
            <a:ext cx="10424160" cy="548640"/>
          </a:xfrm>
          <a:prstGeom prst="rect">
            <a:avLst/>
          </a:prstGeom>
          <a:noFill/>
          <a:ln/>
        </p:spPr>
        <p:txBody>
          <a:bodyPr wrap="square" lIns="0" tIns="0" rIns="0" bIns="0" rtlCol="0" anchor="t"/>
          <a:lstStyle/>
          <a:p>
            <a:pPr marL="342900" indent="-342900">
              <a:buSzPct val="100000"/>
              <a:buChar char="•"/>
            </a:pPr>
            <a:r>
              <a:rPr lang="en-US" sz="2200" dirty="0">
                <a:solidFill>
                  <a:srgbClr val="BFD8D5"/>
                </a:solidFill>
                <a:latin typeface="Calibri" pitchFamily="34" charset="0"/>
                <a:ea typeface="Calibri" pitchFamily="34" charset="-122"/>
                <a:cs typeface="Calibri" pitchFamily="34" charset="-120"/>
              </a:rPr>
              <a:t>Un projet n'est livré que lorsqu'il est accessible en ligne.</a:t>
            </a:r>
            <a:endParaRPr lang="en-US" sz="2200" dirty="0"/>
          </a:p>
        </p:txBody>
      </p:sp>
      <p:sp>
        <p:nvSpPr>
          <p:cNvPr id="8" name="s7-final"/>
          <p:cNvSpPr/>
          <p:nvPr/>
        </p:nvSpPr>
        <p:spPr>
          <a:xfrm>
            <a:off x="812902" y="5212080"/>
            <a:ext cx="10566806" cy="868680"/>
          </a:xfrm>
          <a:prstGeom prst="roundRect">
            <a:avLst>
              <a:gd name="adj" fmla="val 21053"/>
            </a:avLst>
          </a:prstGeom>
          <a:solidFill>
            <a:srgbClr val="FF7A4D"/>
          </a:solidFill>
          <a:ln/>
        </p:spPr>
        <p:txBody>
          <a:bodyPr wrap="square" lIns="127000" tIns="0" rIns="127000" bIns="0" rtlCol="0" anchor="ctr"/>
          <a:lstStyle/>
          <a:p>
            <a:pPr algn="ctr" indent="0" marL="0">
              <a:buNone/>
            </a:pPr>
            <a:r>
              <a:rPr lang="en-US" sz="1800" b="1" dirty="0">
                <a:solidFill>
                  <a:srgbClr val="113832"/>
                </a:solidFill>
                <a:latin typeface="Arial" pitchFamily="34" charset="0"/>
                <a:ea typeface="Arial" pitchFamily="34" charset="-122"/>
                <a:cs typeface="Arial" pitchFamily="34" charset="-120"/>
              </a:rPr>
              <a:t>Prochaine vidéo : Agentic Coding vs Vibe Coding, la vraie différence.</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8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Vivier 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Vercel et OVH, mettre en ligne en quelques minutes</dc:title>
  <dc:subject>Vivier IA, Module 1, section 1, chapitre 4</dc:subject>
  <dc:creator>Zézé Bilivogui</dc:creator>
  <cp:lastModifiedBy>Zézé Bilivogui</cp:lastModifiedBy>
  <cp:revision>1</cp:revision>
  <dcterms:created xsi:type="dcterms:W3CDTF">2026-09-21T07:25:38Z</dcterms:created>
  <dcterms:modified xsi:type="dcterms:W3CDTF">2026-09-21T07:25:38Z</dcterms:modified>
</cp:coreProperties>
</file>