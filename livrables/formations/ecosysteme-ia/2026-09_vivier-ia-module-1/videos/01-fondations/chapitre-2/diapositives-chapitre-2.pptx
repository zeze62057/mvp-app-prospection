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0:00. Accroche et annonce du plan : à quoi sert chaque outil, comment les utiliser ensemble, puis l'installation pas à pas. À la fin, les deux sont ouverts côte à côte. Tout s'anime tout seul à l'ouverture de la diapositive.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0:22 (le terminal, clic 1) puis 0:53 (l'IDE, clic 2). Le terminal n'est pas une fenêtre intimidante : c'est le canal de conversation avec l'agent, qui utilise les commandes à votre place. L'IDE, comme VS Code, sert à voir et à naviguer dans les fichiers du projet, avec l'extension Claude Code qui montre les changements fichier par fichier.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1:20. La phrase apparaît seule. Clic au moment de « Rassurez-vous » : le texte d'appui apparaît. Se repérer, c'est savoir quel fichier fait quoi et où se trouve telle fonctionnalité.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1:42. La ligne « Dans le terminal » est déjà visible. Clic 1 à « Dans l'IDE » : la deuxième ligne apparaît. Clic 2 à « Puis vous validez, ou vous corrigez » : la phrase finale. Exemple général, sans fichier personnel : voir la section 2 du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Moments du script : 2:09 (étape 1, clic 1), 2:40 (étape 2, clic 2), 3:20 (étape 3, clic 3). Un clic par étape, puis on bascule sur l'écran : le navigateur sur code.visualstudio.com, VS Code ouvert sur un dossier vide, l'onglet Extensions. Visual Studio Code est déjà installé sur la machine d'enregistrement : afficher la page sans installer. Le raccourci vient du cours ; à tester sur votre clavier AZERTY avant d'enregistrer.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 du script : 5:13. Le titre apparaît seul. Puis un clic par point, et un dernier clic pour l'annonce de la prochaine vidéo (section 1, chapitre 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74920"/>
            <a:ext cx="2103120" cy="1240003"/>
          </a:xfrm>
          <a:prstGeom prst="rect">
            <a:avLst/>
          </a:prstGeom>
        </p:spPr>
      </p:pic>
      <p:sp>
        <p:nvSpPr>
          <p:cNvPr id="3" name="s1-surtitre"/>
          <p:cNvSpPr txBox="1"/>
          <p:nvPr/>
        </p:nvSpPr>
        <p:spPr>
          <a:xfrm>
            <a:off x="5843016" y="1005840"/>
            <a:ext cx="5532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VIVIER IA · MODULE 1 · SECTION 1 · CHAPITRE 2</a:t>
            </a:r>
            <a:endParaRPr lang="en-US" sz="1300" dirty="0"/>
          </a:p>
        </p:txBody>
      </p:sp>
      <p:sp>
        <p:nvSpPr>
          <p:cNvPr id="4" name="s1-titre"/>
          <p:cNvSpPr txBox="1"/>
          <p:nvPr/>
        </p:nvSpPr>
        <p:spPr>
          <a:xfrm>
            <a:off x="5843016" y="1691640"/>
            <a:ext cx="5532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terminal et l'IDE,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nouvel espace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travail</a:t>
            </a:r>
            <a:endParaRPr lang="en-US" sz="3400" dirty="0"/>
          </a:p>
        </p:txBody>
      </p:sp>
      <p:sp>
        <p:nvSpPr>
          <p:cNvPr id="5" name="s1-objectif"/>
          <p:cNvSpPr txBox="1"/>
          <p:nvPr/>
        </p:nvSpPr>
        <p:spPr>
          <a:xfrm>
            <a:off x="5843016" y="3429000"/>
            <a:ext cx="5532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 : ouvrir le terminal et l'IDE côte à côte, puis lancer Claude Code.</a:t>
            </a:r>
            <a:endParaRPr lang="en-US" sz="1700" dirty="0"/>
          </a:p>
        </p:txBody>
      </p:sp>
      <p:sp>
        <p:nvSpPr>
          <p:cNvPr id="6" name="s1-pastille-0"/>
          <p:cNvSpPr/>
          <p:nvPr/>
        </p:nvSpPr>
        <p:spPr>
          <a:xfrm>
            <a:off x="5843016" y="45262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terminal</a:t>
            </a:r>
            <a:endParaRPr lang="en-US" sz="1400" dirty="0"/>
          </a:p>
        </p:txBody>
      </p:sp>
      <p:sp>
        <p:nvSpPr>
          <p:cNvPr id="7" name="s1-pastille-1"/>
          <p:cNvSpPr/>
          <p:nvPr/>
        </p:nvSpPr>
        <p:spPr>
          <a:xfrm>
            <a:off x="8037576" y="45262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</a:t>
            </a:r>
            <a:endParaRPr lang="en-US" sz="1400" dirty="0"/>
          </a:p>
        </p:txBody>
      </p:sp>
      <p:sp>
        <p:nvSpPr>
          <p:cNvPr id="8" name="s1-pastille-2"/>
          <p:cNvSpPr/>
          <p:nvPr/>
        </p:nvSpPr>
        <p:spPr>
          <a:xfrm>
            <a:off x="5843016" y="516636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1D4A43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algn="ctr" indent="0" marL="0">
              <a:buNone/>
            </a:pPr>
            <a:r>
              <a:rPr lang="en-US" sz="1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L'installation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POSTE DE TRAVAIL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outils, deux rôles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se complètent. Vous les gardez ouverts en même temps.</a:t>
            </a:r>
            <a:endParaRPr lang="en-US" sz="1800" dirty="0"/>
          </a:p>
        </p:txBody>
      </p:sp>
      <p:sp>
        <p:nvSpPr>
          <p:cNvPr id="6" name="s2-avant-forme"/>
          <p:cNvSpPr/>
          <p:nvPr/>
        </p:nvSpPr>
        <p:spPr>
          <a:xfrm>
            <a:off x="812902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1D4A43"/>
          </a:solidFill>
          <a:ln w="6350">
            <a:solidFill>
              <a:srgbClr val="1D4A43"/>
            </a:solidFill>
            <a:prstDash val="solid"/>
          </a:ln>
        </p:spPr>
      </p:sp>
      <p:sp>
        <p:nvSpPr>
          <p:cNvPr id="7" name="s2-avant-etiquette"/>
          <p:cNvSpPr txBox="1"/>
          <p:nvPr/>
        </p:nvSpPr>
        <p:spPr>
          <a:xfrm>
            <a:off x="1178662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TERMINAL</a:t>
            </a:r>
            <a:endParaRPr lang="en-US" sz="1300" dirty="0"/>
          </a:p>
        </p:txBody>
      </p:sp>
      <p:sp>
        <p:nvSpPr>
          <p:cNvPr id="8" name="s2-avant-titre"/>
          <p:cNvSpPr txBox="1"/>
          <p:nvPr/>
        </p:nvSpPr>
        <p:spPr>
          <a:xfrm>
            <a:off x="1178662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Diriger l'agent</a:t>
            </a:r>
            <a:endParaRPr lang="en-US" sz="2400" dirty="0"/>
          </a:p>
        </p:txBody>
      </p:sp>
      <p:sp>
        <p:nvSpPr>
          <p:cNvPr id="9" name="s2-avant-texte"/>
          <p:cNvSpPr txBox="1"/>
          <p:nvPr/>
        </p:nvSpPr>
        <p:spPr>
          <a:xfrm>
            <a:off x="1178662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écrivez, Claude Code agit et vous montre ce qu'il a fait.</a:t>
            </a:r>
            <a:endParaRPr lang="en-US" sz="1700" dirty="0"/>
          </a:p>
        </p:txBody>
      </p:sp>
      <p:sp>
        <p:nvSpPr>
          <p:cNvPr id="10" name="s2-apres-forme"/>
          <p:cNvSpPr/>
          <p:nvPr/>
        </p:nvSpPr>
        <p:spPr>
          <a:xfrm>
            <a:off x="6279185" y="2926080"/>
            <a:ext cx="5100523" cy="2468880"/>
          </a:xfrm>
          <a:prstGeom prst="roundRect">
            <a:avLst>
              <a:gd name="adj" fmla="val 6667"/>
            </a:avLst>
          </a:prstGeom>
          <a:solidFill>
            <a:srgbClr val="FF7A4D"/>
          </a:solidFill>
          <a:ln w="6350">
            <a:solidFill>
              <a:srgbClr val="FF7A4D"/>
            </a:solidFill>
            <a:prstDash val="solid"/>
          </a:ln>
        </p:spPr>
      </p:sp>
      <p:sp>
        <p:nvSpPr>
          <p:cNvPr id="11" name="s2-apres-etiquette"/>
          <p:cNvSpPr txBox="1"/>
          <p:nvPr/>
        </p:nvSpPr>
        <p:spPr>
          <a:xfrm>
            <a:off x="6644945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</a:t>
            </a:r>
            <a:endParaRPr lang="en-US" sz="1300" dirty="0"/>
          </a:p>
        </p:txBody>
      </p:sp>
      <p:sp>
        <p:nvSpPr>
          <p:cNvPr id="12" name="s2-apres-titre"/>
          <p:cNvSpPr txBox="1"/>
          <p:nvPr/>
        </p:nvSpPr>
        <p:spPr>
          <a:xfrm>
            <a:off x="6644945" y="3657600"/>
            <a:ext cx="436900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Inspecter le projet</a:t>
            </a:r>
            <a:endParaRPr lang="en-US" sz="2400" dirty="0"/>
          </a:p>
        </p:txBody>
      </p:sp>
      <p:sp>
        <p:nvSpPr>
          <p:cNvPr id="13" name="s2-apres-texte"/>
          <p:cNvSpPr txBox="1"/>
          <p:nvPr/>
        </p:nvSpPr>
        <p:spPr>
          <a:xfrm>
            <a:off x="6644945" y="4343400"/>
            <a:ext cx="436900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13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Fichiers, dossiers et changements, vus en contexte.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BONNE PRATIQUE</a:t>
            </a:r>
            <a:endParaRPr lang="en-US" sz="1300" dirty="0"/>
          </a:p>
        </p:txBody>
      </p:sp>
      <p:sp>
        <p:nvSpPr>
          <p:cNvPr id="4" name="s3-enonce"/>
          <p:cNvSpPr txBox="1"/>
          <p:nvPr/>
        </p:nvSpPr>
        <p:spPr>
          <a:xfrm>
            <a:off x="812902" y="2011680"/>
            <a:ext cx="9692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terminal pour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diriger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l'agent.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 pour 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inspecter</a:t>
            </a:r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ce qu'il produit.</a:t>
            </a:r>
            <a:endParaRPr lang="en-US" sz="3600" dirty="0"/>
          </a:p>
        </p:txBody>
      </p:sp>
      <p:sp>
        <p:nvSpPr>
          <p:cNvPr id="5" name="s3-appui"/>
          <p:cNvSpPr txBox="1"/>
          <p:nvPr/>
        </p:nvSpPr>
        <p:spPr>
          <a:xfrm>
            <a:off x="812902" y="438912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d'écrire du code dans l'IDE. Il suffit de savoir vous y repérer.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EXEMPLE</a:t>
            </a:r>
            <a:endParaRPr lang="en-US" sz="1300" dirty="0"/>
          </a:p>
        </p:txBody>
      </p:sp>
      <p:sp>
        <p:nvSpPr>
          <p:cNvPr id="4" name="s4-r0-etiquette"/>
          <p:cNvSpPr txBox="1"/>
          <p:nvPr/>
        </p:nvSpPr>
        <p:spPr>
          <a:xfrm>
            <a:off x="812902" y="1508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LE TERMINAL</a:t>
            </a:r>
            <a:endParaRPr lang="en-US" sz="1300" dirty="0"/>
          </a:p>
        </p:txBody>
      </p:sp>
      <p:sp>
        <p:nvSpPr>
          <p:cNvPr id="5" name="s4-r0-b0"/>
          <p:cNvSpPr/>
          <p:nvPr/>
        </p:nvSpPr>
        <p:spPr>
          <a:xfrm>
            <a:off x="812902" y="187452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écrivez</a:t>
            </a:r>
            <a:endParaRPr lang="en-US" sz="2200" dirty="0"/>
          </a:p>
        </p:txBody>
      </p:sp>
      <p:sp>
        <p:nvSpPr>
          <p:cNvPr id="6" name="s4-r0-f0"/>
          <p:cNvSpPr/>
          <p:nvPr/>
        </p:nvSpPr>
        <p:spPr>
          <a:xfrm>
            <a:off x="3834708" y="2148840"/>
            <a:ext cx="731520" cy="365760"/>
          </a:xfrm>
          <a:prstGeom prst="rightArrow">
            <a:avLst/>
          </a:prstGeom>
          <a:solidFill>
            <a:srgbClr val="BFD8D5"/>
          </a:solidFill>
          <a:ln w="6350">
            <a:solidFill>
              <a:srgbClr val="BFD8D5"/>
            </a:solidFill>
            <a:prstDash val="solid"/>
          </a:ln>
        </p:spPr>
      </p:sp>
      <p:sp>
        <p:nvSpPr>
          <p:cNvPr id="7" name="s4-r0-b1"/>
          <p:cNvSpPr/>
          <p:nvPr/>
        </p:nvSpPr>
        <p:spPr>
          <a:xfrm>
            <a:off x="4674098" y="1874520"/>
            <a:ext cx="3450431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décrit</a:t>
            </a:r>
            <a:endParaRPr lang="en-US" sz="2200" dirty="0"/>
          </a:p>
        </p:txBody>
      </p:sp>
      <p:sp>
        <p:nvSpPr>
          <p:cNvPr id="8" name="s4-r0-f1"/>
          <p:cNvSpPr/>
          <p:nvPr/>
        </p:nvSpPr>
        <p:spPr>
          <a:xfrm>
            <a:off x="8353130" y="2148840"/>
            <a:ext cx="731520" cy="365760"/>
          </a:xfrm>
          <a:prstGeom prst="rightArrow">
            <a:avLst/>
          </a:prstGeom>
          <a:solidFill>
            <a:srgbClr val="BFD8D5"/>
          </a:solidFill>
          <a:ln w="6350">
            <a:solidFill>
              <a:srgbClr val="BFD8D5"/>
            </a:solidFill>
            <a:prstDash val="solid"/>
          </a:ln>
        </p:spPr>
      </p:sp>
      <p:sp>
        <p:nvSpPr>
          <p:cNvPr id="9" name="s4-r0-b2"/>
          <p:cNvSpPr/>
          <p:nvPr/>
        </p:nvSpPr>
        <p:spPr>
          <a:xfrm>
            <a:off x="9192520" y="1874520"/>
            <a:ext cx="2135981" cy="914400"/>
          </a:xfrm>
          <a:prstGeom prst="roundRect">
            <a:avLst>
              <a:gd name="adj" fmla="val 15000"/>
            </a:avLst>
          </a:prstGeom>
          <a:solidFill>
            <a:srgbClr val="E1ECE8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agit</a:t>
            </a:r>
            <a:endParaRPr lang="en-US" sz="2200" dirty="0"/>
          </a:p>
        </p:txBody>
      </p:sp>
      <p:sp>
        <p:nvSpPr>
          <p:cNvPr id="10" name="s4-r1-etiquette"/>
          <p:cNvSpPr txBox="1"/>
          <p:nvPr/>
        </p:nvSpPr>
        <p:spPr>
          <a:xfrm>
            <a:off x="812902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DANS L'IDE</a:t>
            </a:r>
            <a:endParaRPr lang="en-US" sz="1300" dirty="0"/>
          </a:p>
        </p:txBody>
      </p:sp>
      <p:sp>
        <p:nvSpPr>
          <p:cNvPr id="11" name="s4-r1-b0"/>
          <p:cNvSpPr/>
          <p:nvPr/>
        </p:nvSpPr>
        <p:spPr>
          <a:xfrm>
            <a:off x="812902" y="361188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ouvrez</a:t>
            </a:r>
            <a:endParaRPr lang="en-US" sz="2200" dirty="0"/>
          </a:p>
        </p:txBody>
      </p:sp>
      <p:sp>
        <p:nvSpPr>
          <p:cNvPr id="12" name="s4-r1-f0"/>
          <p:cNvSpPr/>
          <p:nvPr/>
        </p:nvSpPr>
        <p:spPr>
          <a:xfrm>
            <a:off x="3834708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3" name="s4-r1-b1"/>
          <p:cNvSpPr/>
          <p:nvPr/>
        </p:nvSpPr>
        <p:spPr>
          <a:xfrm>
            <a:off x="4674098" y="361188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F2F7F5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voyez</a:t>
            </a:r>
            <a:endParaRPr lang="en-US" sz="2200" dirty="0"/>
          </a:p>
        </p:txBody>
      </p:sp>
      <p:sp>
        <p:nvSpPr>
          <p:cNvPr id="14" name="s4-r1-f1"/>
          <p:cNvSpPr/>
          <p:nvPr/>
        </p:nvSpPr>
        <p:spPr>
          <a:xfrm>
            <a:off x="7695905" y="3886200"/>
            <a:ext cx="731520" cy="365760"/>
          </a:xfrm>
          <a:prstGeom prst="rightArrow">
            <a:avLst/>
          </a:prstGeom>
          <a:solidFill>
            <a:srgbClr val="5FC7B8"/>
          </a:solidFill>
          <a:ln w="6350">
            <a:solidFill>
              <a:srgbClr val="5FC7B8"/>
            </a:solidFill>
            <a:prstDash val="solid"/>
          </a:ln>
        </p:spPr>
      </p:sp>
      <p:sp>
        <p:nvSpPr>
          <p:cNvPr id="15" name="s4-r1-b2"/>
          <p:cNvSpPr/>
          <p:nvPr/>
        </p:nvSpPr>
        <p:spPr>
          <a:xfrm>
            <a:off x="8535295" y="3611880"/>
            <a:ext cx="2793206" cy="914400"/>
          </a:xfrm>
          <a:prstGeom prst="roundRect">
            <a:avLst>
              <a:gd name="adj" fmla="val 15000"/>
            </a:avLst>
          </a:prstGeom>
          <a:solidFill>
            <a:srgbClr val="2B8C82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</a:t>
            </a:r>
            <a:endParaRPr lang="en-US" sz="2200" dirty="0"/>
          </a:p>
        </p:txBody>
      </p:sp>
      <p:sp>
        <p:nvSpPr>
          <p:cNvPr id="16" name="s4-phrase"/>
          <p:cNvSpPr txBox="1"/>
          <p:nvPr/>
        </p:nvSpPr>
        <p:spPr>
          <a:xfrm>
            <a:off x="812902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lisez, puis </a:t>
            </a:r>
            <a:pPr indent="0" marL="0">
              <a:buNone/>
            </a:pPr>
            <a:r>
              <a:rPr lang="en-US" sz="28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vous validez ou vous corrigez</a:t>
            </a:r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48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8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PASSONS À LA PRATIQUE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123444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Installer votre poste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travail en trois étapes</a:t>
            </a:r>
            <a:endParaRPr lang="en-US" sz="2800" dirty="0"/>
          </a:p>
        </p:txBody>
      </p:sp>
      <p:sp>
        <p:nvSpPr>
          <p:cNvPr id="5" name="s5-l0-num"/>
          <p:cNvSpPr txBox="1"/>
          <p:nvPr/>
        </p:nvSpPr>
        <p:spPr>
          <a:xfrm>
            <a:off x="812902" y="257860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s5-l0-etiquette"/>
          <p:cNvSpPr txBox="1"/>
          <p:nvPr/>
        </p:nvSpPr>
        <p:spPr>
          <a:xfrm>
            <a:off x="1600200" y="2194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Télécharger et installer Visual Studio Code (gratuit)</a:t>
            </a:r>
            <a:endParaRPr lang="en-US" sz="1600" dirty="0"/>
          </a:p>
        </p:txBody>
      </p:sp>
      <p:sp>
        <p:nvSpPr>
          <p:cNvPr id="7" name="s5-l0-code"/>
          <p:cNvSpPr/>
          <p:nvPr/>
        </p:nvSpPr>
        <p:spPr>
          <a:xfrm>
            <a:off x="1600200" y="2578608"/>
            <a:ext cx="4024000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code.visualstudio.com</a:t>
            </a:r>
            <a:endParaRPr lang="en-US" sz="2000" dirty="0"/>
          </a:p>
        </p:txBody>
      </p:sp>
      <p:sp>
        <p:nvSpPr>
          <p:cNvPr id="8" name="s5-l1-num"/>
          <p:cNvSpPr txBox="1"/>
          <p:nvPr/>
        </p:nvSpPr>
        <p:spPr>
          <a:xfrm>
            <a:off x="812902" y="376732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5-l1-etiquette"/>
          <p:cNvSpPr txBox="1"/>
          <p:nvPr/>
        </p:nvSpPr>
        <p:spPr>
          <a:xfrm>
            <a:off x="1600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le terminal intégré : menu Terminal, puis New Terminal, ou le raccourci</a:t>
            </a:r>
            <a:endParaRPr lang="en-US" sz="1600" dirty="0"/>
          </a:p>
        </p:txBody>
      </p:sp>
      <p:sp>
        <p:nvSpPr>
          <p:cNvPr id="10" name="s5-l1-code"/>
          <p:cNvSpPr/>
          <p:nvPr/>
        </p:nvSpPr>
        <p:spPr>
          <a:xfrm>
            <a:off x="1600200" y="3767328"/>
            <a:ext cx="6462888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Ctrl+` (Windows, Linux)   Cmd+` (Mac)</a:t>
            </a:r>
            <a:endParaRPr lang="en-US" sz="2000" dirty="0"/>
          </a:p>
        </p:txBody>
      </p:sp>
      <p:sp>
        <p:nvSpPr>
          <p:cNvPr id="11" name="s5-l2-num"/>
          <p:cNvSpPr txBox="1"/>
          <p:nvPr/>
        </p:nvSpPr>
        <p:spPr>
          <a:xfrm>
            <a:off x="812902" y="4956048"/>
            <a:ext cx="640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2" name="s5-l2-etiquette"/>
          <p:cNvSpPr txBox="1"/>
          <p:nvPr/>
        </p:nvSpPr>
        <p:spPr>
          <a:xfrm>
            <a:off x="1600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Extensions : chercher et installer l'extension</a:t>
            </a:r>
            <a:endParaRPr lang="en-US" sz="1600" dirty="0"/>
          </a:p>
        </p:txBody>
      </p:sp>
      <p:sp>
        <p:nvSpPr>
          <p:cNvPr id="13" name="s5-l2-code"/>
          <p:cNvSpPr/>
          <p:nvPr/>
        </p:nvSpPr>
        <p:spPr>
          <a:xfrm>
            <a:off x="1600200" y="4956048"/>
            <a:ext cx="2499695" cy="658368"/>
          </a:xfrm>
          <a:prstGeom prst="roundRect">
            <a:avLst>
              <a:gd name="adj" fmla="val 13889"/>
            </a:avLst>
          </a:prstGeom>
          <a:solidFill>
            <a:srgbClr val="0B2622"/>
          </a:solidFill>
          <a:ln w="19050">
            <a:solidFill>
              <a:srgbClr val="2B8C82"/>
            </a:solidFill>
          </a:ln>
        </p:spPr>
        <p:txBody>
          <a:bodyPr wrap="square" lIns="228600" tIns="0" rIns="2286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2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2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Vivier IA : le vivier des talents IA francophon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457200"/>
            <a:ext cx="1188720" cy="70087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902" y="81290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FC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RETENIR</a:t>
            </a:r>
            <a:endParaRPr lang="en-US" sz="1300" dirty="0"/>
          </a:p>
        </p:txBody>
      </p:sp>
      <p:sp>
        <p:nvSpPr>
          <p:cNvPr id="4" name="s6-titre"/>
          <p:cNvSpPr txBox="1"/>
          <p:nvPr/>
        </p:nvSpPr>
        <p:spPr>
          <a:xfrm>
            <a:off x="812902" y="1371600"/>
            <a:ext cx="8412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terminal pour diriger,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l'IDE pour inspecter.</a:t>
            </a:r>
            <a:endParaRPr lang="en-US" sz="3000" dirty="0"/>
          </a:p>
        </p:txBody>
      </p:sp>
      <p:sp>
        <p:nvSpPr>
          <p:cNvPr id="5" name="s6-point-0"/>
          <p:cNvSpPr txBox="1"/>
          <p:nvPr/>
        </p:nvSpPr>
        <p:spPr>
          <a:xfrm>
            <a:off x="812902" y="2971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terminal : le canal de conversation et d'action.</a:t>
            </a:r>
            <a:endParaRPr lang="en-US" sz="2200" dirty="0"/>
          </a:p>
        </p:txBody>
      </p:sp>
      <p:sp>
        <p:nvSpPr>
          <p:cNvPr id="6" name="s6-point-1"/>
          <p:cNvSpPr txBox="1"/>
          <p:nvPr/>
        </p:nvSpPr>
        <p:spPr>
          <a:xfrm>
            <a:off x="812902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L'IDE : la fenêtre d'inspection visuelle du projet.</a:t>
            </a:r>
            <a:endParaRPr lang="en-US" sz="2200" dirty="0"/>
          </a:p>
        </p:txBody>
      </p:sp>
      <p:sp>
        <p:nvSpPr>
          <p:cNvPr id="7" name="s6-point-2"/>
          <p:cNvSpPr txBox="1"/>
          <p:nvPr/>
        </p:nvSpPr>
        <p:spPr>
          <a:xfrm>
            <a:off x="812902" y="44348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BF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repérer suffit : inutile d'écrire le code vous-même.</a:t>
            </a:r>
            <a:endParaRPr lang="en-US" sz="2200" dirty="0"/>
          </a:p>
        </p:txBody>
      </p:sp>
      <p:sp>
        <p:nvSpPr>
          <p:cNvPr id="8" name="s6-final"/>
          <p:cNvSpPr/>
          <p:nvPr/>
        </p:nvSpPr>
        <p:spPr>
          <a:xfrm>
            <a:off x="812902" y="5212080"/>
            <a:ext cx="10566806" cy="868680"/>
          </a:xfrm>
          <a:prstGeom prst="roundRect">
            <a:avLst>
              <a:gd name="adj" fmla="val 21053"/>
            </a:avLst>
          </a:prstGeom>
          <a:solidFill>
            <a:srgbClr val="FF7A4D"/>
          </a:solidFill>
          <a:ln/>
        </p:spPr>
        <p:txBody>
          <a:bodyPr wrap="square" lIns="127000" tIns="0" rIns="12700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38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vidéo : Git et GitHub, le filet de sécurité du code.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Vivier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terminal et l'IDE, votre nouvel espace de travail</dc:title>
  <dc:subject>Vivier IA, Module 1, section 1, chapitre 2</dc:subject>
  <dc:creator>Zézé Bilivogui</dc:creator>
  <cp:lastModifiedBy>Zézé Bilivogui</cp:lastModifiedBy>
  <cp:revision>1</cp:revision>
  <dcterms:created xsi:type="dcterms:W3CDTF">2026-09-21T02:04:01Z</dcterms:created>
  <dcterms:modified xsi:type="dcterms:W3CDTF">2026-09-21T02:04:01Z</dcterms:modified>
</cp:coreProperties>
</file>