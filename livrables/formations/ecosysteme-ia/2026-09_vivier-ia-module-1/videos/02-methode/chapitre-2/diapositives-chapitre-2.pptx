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les quatre éléments, une comparaison en direct, puis le réflexe à adopter. Tout s'anime tout seul à l'ouverture de la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0:20. La phrase apparaît seule. Clic à « Plus que la puissance du modèle » : le texte d'appui. C'est la compétence qui remplace l'apprentissage d'un langage de programmation.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0:43. Un clic par élément (4 clics), au début de chaque définition. Le périmètre est souvent l'élément oublié, et celui qui cause le plus de dégâts.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1:39. Clic 1 à « Première instruction » : la carte floue. Clic 2 à « La seconde instruction » : la carte complète. Ensuite, la démonstration se fait dans VS Code, sans diapositive, avec les deux prompts de l'Exemple 1 de la fiche pratique.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6:07. La phrase apparaît seule. Clic à « Elle force l'agent à deviner » : le texte d'appui. Le débutant conclut à tort que l'IA n'est pas 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6:35. La phrase apparaît seule. Clic à « Il n'a pas le contexte dans la tête » : le texte d'appui. Cette image évite la plupart des instructions trop courtes.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6:57. Le titre apparaît seul. Puis un clic par point, et un dernier clic pour l'annonce de la prochaine vidéo (section 2, chapitre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2 · CHAPITRE 2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L'art de donner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instructions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Claude Code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écrire des instructions que l'agent peut réussir.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éléments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exemple en direct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8064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bon réflexe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 CHAPITRE COMPTE</a:t>
            </a:r>
            <a:endParaRPr lang="en-US" sz="1300" dirty="0"/>
          </a:p>
        </p:txBody>
      </p:sp>
      <p:sp>
        <p:nvSpPr>
          <p:cNvPr id="4" name="s2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qualité du résultat dépend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d'abord de 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l'instruction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</p:txBody>
      </p:sp>
      <p:sp>
        <p:nvSpPr>
          <p:cNvPr id="5" name="s2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que la puissance du modèle, plus que le temps passé.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BONNE INSTRUCTION CONTIENT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éléments, non négociables</a:t>
            </a:r>
            <a:endParaRPr lang="en-US" sz="3000" dirty="0"/>
          </a:p>
        </p:txBody>
      </p:sp>
      <p:sp>
        <p:nvSpPr>
          <p:cNvPr id="5" name="s3-c0-forme"/>
          <p:cNvSpPr/>
          <p:nvPr/>
        </p:nvSpPr>
        <p:spPr>
          <a:xfrm>
            <a:off x="812902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3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3-c0-titre"/>
          <p:cNvSpPr txBox="1"/>
          <p:nvPr/>
        </p:nvSpPr>
        <p:spPr>
          <a:xfrm>
            <a:off x="1087222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contexte</a:t>
            </a:r>
            <a:endParaRPr lang="en-US" sz="2000" dirty="0"/>
          </a:p>
        </p:txBody>
      </p:sp>
      <p:sp>
        <p:nvSpPr>
          <p:cNvPr id="8" name="s3-c0-texte"/>
          <p:cNvSpPr txBox="1"/>
          <p:nvPr/>
        </p:nvSpPr>
        <p:spPr>
          <a:xfrm>
            <a:off x="1087222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projet, pour qui, avec quelles contraintes existantes.</a:t>
            </a:r>
            <a:endParaRPr lang="en-US" sz="1500" dirty="0"/>
          </a:p>
        </p:txBody>
      </p:sp>
      <p:sp>
        <p:nvSpPr>
          <p:cNvPr id="9" name="s3-c1-forme"/>
          <p:cNvSpPr/>
          <p:nvPr/>
        </p:nvSpPr>
        <p:spPr>
          <a:xfrm>
            <a:off x="3546043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3-c1-num"/>
          <p:cNvSpPr txBox="1"/>
          <p:nvPr/>
        </p:nvSpPr>
        <p:spPr>
          <a:xfrm>
            <a:off x="3820363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3-c1-titre"/>
          <p:cNvSpPr txBox="1"/>
          <p:nvPr/>
        </p:nvSpPr>
        <p:spPr>
          <a:xfrm>
            <a:off x="3820363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L'objectif</a:t>
            </a:r>
            <a:endParaRPr lang="en-US" sz="2000" dirty="0"/>
          </a:p>
        </p:txBody>
      </p:sp>
      <p:sp>
        <p:nvSpPr>
          <p:cNvPr id="12" name="s3-c1-texte"/>
          <p:cNvSpPr txBox="1"/>
          <p:nvPr/>
        </p:nvSpPr>
        <p:spPr>
          <a:xfrm>
            <a:off x="3820363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 : ce qui doit être vrai à la fin de la tâche.</a:t>
            </a:r>
            <a:endParaRPr lang="en-US" sz="1500" dirty="0"/>
          </a:p>
        </p:txBody>
      </p:sp>
      <p:sp>
        <p:nvSpPr>
          <p:cNvPr id="13" name="s3-c2-forme"/>
          <p:cNvSpPr/>
          <p:nvPr/>
        </p:nvSpPr>
        <p:spPr>
          <a:xfrm>
            <a:off x="6279185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3-c2-num"/>
          <p:cNvSpPr txBox="1"/>
          <p:nvPr/>
        </p:nvSpPr>
        <p:spPr>
          <a:xfrm>
            <a:off x="6553505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3-c2-titre"/>
          <p:cNvSpPr txBox="1"/>
          <p:nvPr/>
        </p:nvSpPr>
        <p:spPr>
          <a:xfrm>
            <a:off x="6553505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périmètre</a:t>
            </a:r>
            <a:endParaRPr lang="en-US" sz="2000" dirty="0"/>
          </a:p>
        </p:txBody>
      </p:sp>
      <p:sp>
        <p:nvSpPr>
          <p:cNvPr id="16" name="s3-c2-texte"/>
          <p:cNvSpPr txBox="1"/>
          <p:nvPr/>
        </p:nvSpPr>
        <p:spPr>
          <a:xfrm>
            <a:off x="6553505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concerné, et surtout ce qu'il ne faut pas toucher.</a:t>
            </a:r>
            <a:endParaRPr lang="en-US" sz="1500" dirty="0"/>
          </a:p>
        </p:txBody>
      </p:sp>
      <p:sp>
        <p:nvSpPr>
          <p:cNvPr id="17" name="s3-c3-forme"/>
          <p:cNvSpPr/>
          <p:nvPr/>
        </p:nvSpPr>
        <p:spPr>
          <a:xfrm>
            <a:off x="9012326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8" name="s3-c3-num"/>
          <p:cNvSpPr txBox="1"/>
          <p:nvPr/>
        </p:nvSpPr>
        <p:spPr>
          <a:xfrm>
            <a:off x="9286646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9" name="s3-c3-titre"/>
          <p:cNvSpPr txBox="1"/>
          <p:nvPr/>
        </p:nvSpPr>
        <p:spPr>
          <a:xfrm>
            <a:off x="9286646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L'autonomie</a:t>
            </a:r>
            <a:endParaRPr lang="en-US" sz="2000" dirty="0"/>
          </a:p>
        </p:txBody>
      </p:sp>
      <p:sp>
        <p:nvSpPr>
          <p:cNvPr id="20" name="s3-c3-texte"/>
          <p:cNvSpPr txBox="1"/>
          <p:nvPr/>
        </p:nvSpPr>
        <p:spPr>
          <a:xfrm>
            <a:off x="9286646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niveau souhaité : demander avant d'agir, ou avancer seul ?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EXEMPLE : LE SITE D'UN ARTISAN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façons de demander la même chose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formulaire de contact sur le site vitrine.</a:t>
            </a:r>
            <a:endParaRPr lang="en-US" sz="1800" dirty="0"/>
          </a:p>
        </p:txBody>
      </p:sp>
      <p:sp>
        <p:nvSpPr>
          <p:cNvPr id="6" name="s4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4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FLOUE</a:t>
            </a:r>
            <a:endParaRPr lang="en-US" sz="1300" dirty="0"/>
          </a:p>
        </p:txBody>
      </p:sp>
      <p:sp>
        <p:nvSpPr>
          <p:cNvPr id="8" name="s4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seule phrase</a:t>
            </a:r>
            <a:endParaRPr lang="en-US" sz="2400" dirty="0"/>
          </a:p>
        </p:txBody>
      </p:sp>
      <p:sp>
        <p:nvSpPr>
          <p:cNvPr id="9" name="s4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Ajoute un formulaire de contact sur le site. »</a:t>
            </a:r>
            <a:endParaRPr lang="en-US" sz="1700" dirty="0"/>
          </a:p>
        </p:txBody>
      </p:sp>
      <p:sp>
        <p:nvSpPr>
          <p:cNvPr id="10" name="s4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4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COMPLÈTE</a:t>
            </a:r>
            <a:endParaRPr lang="en-US" sz="1300" dirty="0"/>
          </a:p>
        </p:txBody>
      </p:sp>
      <p:sp>
        <p:nvSpPr>
          <p:cNvPr id="12" name="s4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quatre éléments</a:t>
            </a:r>
            <a:endParaRPr lang="en-US" sz="2400" dirty="0"/>
          </a:p>
        </p:txBody>
      </p:sp>
      <p:sp>
        <p:nvSpPr>
          <p:cNvPr id="13" name="s4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objectif, périmètre, autonomie.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L'ERREUR CLASSIQUE</a:t>
            </a:r>
            <a:endParaRPr lang="en-US" sz="1300" dirty="0"/>
          </a:p>
        </p:txBody>
      </p:sp>
      <p:sp>
        <p:nvSpPr>
          <p:cNvPr id="4" name="s5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 vient de 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l'instruction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l'agent.</a:t>
            </a:r>
            <a:endParaRPr lang="en-US" sz="3600" dirty="0"/>
          </a:p>
        </p:txBody>
      </p:sp>
      <p:sp>
        <p:nvSpPr>
          <p:cNvPr id="5" name="s5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Rends ça plus beau », « corrige le bug » : l'agent doit deviner.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RÉFLEXE À ADOPTER</a:t>
            </a:r>
            <a:endParaRPr lang="en-US" sz="1300" dirty="0"/>
          </a:p>
        </p:txBody>
      </p:sp>
      <p:sp>
        <p:nvSpPr>
          <p:cNvPr id="4" name="s6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Écrivez comme pour un 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collègue compétent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découvre le projet aujourd'hui.</a:t>
            </a:r>
            <a:endParaRPr lang="en-US" sz="3600" dirty="0"/>
          </a:p>
        </p:txBody>
      </p:sp>
      <p:sp>
        <p:nvSpPr>
          <p:cNvPr id="5" name="s6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n'a pas le contexte dans la tête : donnez-le lui explicitement.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7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éléments,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instruction complète.</a:t>
            </a:r>
            <a:endParaRPr lang="en-US" sz="3000" dirty="0"/>
          </a:p>
        </p:txBody>
      </p:sp>
      <p:sp>
        <p:nvSpPr>
          <p:cNvPr id="5" name="s7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objectif précis, périmètre, autonomie : non négociables.</a:t>
            </a:r>
            <a:endParaRPr lang="en-US" sz="2200" dirty="0"/>
          </a:p>
        </p:txBody>
      </p:sp>
      <p:sp>
        <p:nvSpPr>
          <p:cNvPr id="6" name="s7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floue, résultat approximatif : pas la faute de l'IA.</a:t>
            </a:r>
            <a:endParaRPr lang="en-US" sz="2200" dirty="0"/>
          </a:p>
        </p:txBody>
      </p:sp>
      <p:sp>
        <p:nvSpPr>
          <p:cNvPr id="7" name="s7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comme pour un collègue qui découvre le projet.</a:t>
            </a:r>
            <a:endParaRPr lang="en-US" sz="2200" dirty="0"/>
          </a:p>
        </p:txBody>
      </p:sp>
      <p:sp>
        <p:nvSpPr>
          <p:cNvPr id="8" name="s7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le workflow Plan, Execute, Validate.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L'art de donner des instructions à Claude Code</dc:title>
  <dc:subject>Vivier IA, Module 1, section 2, chapitre 2</dc:subject>
  <dc:creator>Zézé Bilivogui</dc:creator>
  <cp:lastModifiedBy>Zézé Bilivogui</cp:lastModifiedBy>
  <cp:revision>1</cp:revision>
  <dcterms:created xsi:type="dcterms:W3CDTF">2026-09-21T08:15:41Z</dcterms:created>
  <dcterms:modified xsi:type="dcterms:W3CDTF">2026-09-21T08:15:41Z</dcterms:modified>
</cp:coreProperties>
</file>