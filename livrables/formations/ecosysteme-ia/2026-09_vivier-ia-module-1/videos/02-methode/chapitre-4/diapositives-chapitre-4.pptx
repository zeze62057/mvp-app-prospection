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0:00. Accroche et annonce du plan : les trois réflexes face à une erreur, un exemple, puis pourquoi tester tôt coûte moins cher. Tout s'anime tout seul à l'ouverture de la diapositive.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0:19. La phrase apparaît seule. Clic à « Ce n'est pas un échec de la méthode » : le texte d'appui. Il serait illusoire de vouloir éviter toute erreur.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Moments du script : 0:41 (lire le message en entier, clic 1), 1:05 (isoler, clic 2), 1:25 (diagnostiquer, clic 3). Un clic au début de chaque paragraphe.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1:47. Un clic par réflexe (3 clics). La console est l'endroit où s'affichent les erreurs. Un correctif rapide masquerait le symptôme sans régler la vraie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2:28. Clic 1 à « un bug détecté et corrigé pendant la construction » : la carte de gauche. Clic 2 à « un projet livré à un client » : la carte de droite. En production : en ligne, utilisé par le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du script : 3:00. Le titre apparaît seul. Puis un clic par point, et un dernier clic pour l'annonce de la prochaine vidéo (section 3, chapitre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5074920"/>
            <a:ext cx="2103120" cy="1240003"/>
          </a:xfrm>
          <a:prstGeom prst="rect">
            <a:avLst/>
          </a:prstGeom>
        </p:spPr>
      </p:pic>
      <p:sp>
        <p:nvSpPr>
          <p:cNvPr id="3" name="s1-surtitre"/>
          <p:cNvSpPr txBox="1"/>
          <p:nvPr/>
        </p:nvSpPr>
        <p:spPr>
          <a:xfrm>
            <a:off x="5843016" y="10058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VIVIER IA · MODULE 1 · SECTION 2 · CHAPITRE 4</a:t>
            </a:r>
            <a:endParaRPr lang="en-US" sz="1300" dirty="0"/>
          </a:p>
        </p:txBody>
      </p:sp>
      <p:sp>
        <p:nvSpPr>
          <p:cNvPr id="4" name="s1-titre"/>
          <p:cNvSpPr txBox="1"/>
          <p:nvPr/>
        </p:nvSpPr>
        <p:spPr>
          <a:xfrm>
            <a:off x="5843016" y="1691640"/>
            <a:ext cx="5532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ça casse,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debugger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vérifier</a:t>
            </a:r>
            <a:endParaRPr lang="en-US" sz="3400" dirty="0"/>
          </a:p>
        </p:txBody>
      </p:sp>
      <p:sp>
        <p:nvSpPr>
          <p:cNvPr id="5" name="s1-objectif"/>
          <p:cNvSpPr txBox="1"/>
          <p:nvPr/>
        </p:nvSpPr>
        <p:spPr>
          <a:xfrm>
            <a:off x="5843016" y="3429000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 : réagir efficacement face à une erreur.</a:t>
            </a:r>
            <a:endParaRPr lang="en-US" sz="1700" dirty="0"/>
          </a:p>
        </p:txBody>
      </p:sp>
      <p:sp>
        <p:nvSpPr>
          <p:cNvPr id="6" name="s1-pastille-0"/>
          <p:cNvSpPr/>
          <p:nvPr/>
        </p:nvSpPr>
        <p:spPr>
          <a:xfrm>
            <a:off x="5843016" y="45262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D4A43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réflexes</a:t>
            </a:r>
            <a:endParaRPr lang="en-US" sz="1400" dirty="0"/>
          </a:p>
        </p:txBody>
      </p:sp>
      <p:sp>
        <p:nvSpPr>
          <p:cNvPr id="7" name="s1-pastille-1"/>
          <p:cNvSpPr/>
          <p:nvPr/>
        </p:nvSpPr>
        <p:spPr>
          <a:xfrm>
            <a:off x="8403336" y="45262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D4A43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exemple</a:t>
            </a:r>
            <a:endParaRPr lang="en-US" sz="1400" dirty="0"/>
          </a:p>
        </p:txBody>
      </p:sp>
      <p:sp>
        <p:nvSpPr>
          <p:cNvPr id="8" name="s1-pastille-2"/>
          <p:cNvSpPr/>
          <p:nvPr/>
        </p:nvSpPr>
        <p:spPr>
          <a:xfrm>
            <a:off x="5843016" y="516636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D4A43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 tôt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RÉFLEXE À AVOIR, PAS LA PEUR À ÉVITER</a:t>
            </a:r>
            <a:endParaRPr lang="en-US" sz="1300" dirty="0"/>
          </a:p>
        </p:txBody>
      </p:sp>
      <p:sp>
        <p:nvSpPr>
          <p:cNvPr id="4" name="s2-enonce"/>
          <p:cNvSpPr txBox="1"/>
          <p:nvPr/>
        </p:nvSpPr>
        <p:spPr>
          <a:xfrm>
            <a:off x="812902" y="2011680"/>
            <a:ext cx="9692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erreur n'est pas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échec de </a:t>
            </a:r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méthode</a:t>
            </a:r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600" dirty="0"/>
          </a:p>
        </p:txBody>
      </p:sp>
      <p:sp>
        <p:nvSpPr>
          <p:cNvPr id="5" name="s2-appui"/>
          <p:cNvSpPr txBox="1"/>
          <p:nvPr/>
        </p:nvSpPr>
        <p:spPr>
          <a:xfrm>
            <a:off x="812902" y="438912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une étape normale : on apprend à y réagir.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À UNE ERREUR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12902" y="123444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étapes, dans cet ordre</a:t>
            </a:r>
            <a:endParaRPr lang="en-US" sz="3000" dirty="0"/>
          </a:p>
        </p:txBody>
      </p:sp>
      <p:sp>
        <p:nvSpPr>
          <p:cNvPr id="5" name="s3-c0-forme"/>
          <p:cNvSpPr/>
          <p:nvPr/>
        </p:nvSpPr>
        <p:spPr>
          <a:xfrm>
            <a:off x="812902" y="2377440"/>
            <a:ext cx="3278429" cy="3566160"/>
          </a:xfrm>
          <a:prstGeom prst="roundRect">
            <a:avLst>
              <a:gd name="adj" fmla="val 5020"/>
            </a:avLst>
          </a:prstGeom>
          <a:solidFill>
            <a:srgbClr val="FFFFFF"/>
          </a:solidFill>
          <a:ln w="12700">
            <a:solidFill>
              <a:srgbClr val="D3E3DE"/>
            </a:solidFill>
            <a:prstDash val="solid"/>
          </a:ln>
        </p:spPr>
      </p:sp>
      <p:sp>
        <p:nvSpPr>
          <p:cNvPr id="6" name="s3-c0-num"/>
          <p:cNvSpPr txBox="1"/>
          <p:nvPr/>
        </p:nvSpPr>
        <p:spPr>
          <a:xfrm>
            <a:off x="1087222" y="25603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3-c0-titre"/>
          <p:cNvSpPr txBox="1"/>
          <p:nvPr/>
        </p:nvSpPr>
        <p:spPr>
          <a:xfrm>
            <a:off x="1087222" y="3383280"/>
            <a:ext cx="272978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message</a:t>
            </a:r>
            <a:endParaRPr lang="en-US" sz="2000" dirty="0"/>
          </a:p>
        </p:txBody>
      </p:sp>
      <p:sp>
        <p:nvSpPr>
          <p:cNvPr id="8" name="s3-c0-texte"/>
          <p:cNvSpPr txBox="1"/>
          <p:nvPr/>
        </p:nvSpPr>
        <p:spPr>
          <a:xfrm>
            <a:off x="1087222" y="4480560"/>
            <a:ext cx="27297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entier : pas seulement la première ligne, ni un résumé.</a:t>
            </a:r>
            <a:endParaRPr lang="en-US" sz="1500" dirty="0"/>
          </a:p>
        </p:txBody>
      </p:sp>
      <p:sp>
        <p:nvSpPr>
          <p:cNvPr id="9" name="s3-c1-forme"/>
          <p:cNvSpPr/>
          <p:nvPr/>
        </p:nvSpPr>
        <p:spPr>
          <a:xfrm>
            <a:off x="4457090" y="2377440"/>
            <a:ext cx="3278429" cy="3566160"/>
          </a:xfrm>
          <a:prstGeom prst="roundRect">
            <a:avLst>
              <a:gd name="adj" fmla="val 5020"/>
            </a:avLst>
          </a:prstGeom>
          <a:solidFill>
            <a:srgbClr val="FFFFFF"/>
          </a:solidFill>
          <a:ln w="12700">
            <a:solidFill>
              <a:srgbClr val="D3E3DE"/>
            </a:solidFill>
            <a:prstDash val="solid"/>
          </a:ln>
        </p:spPr>
      </p:sp>
      <p:sp>
        <p:nvSpPr>
          <p:cNvPr id="10" name="s3-c1-num"/>
          <p:cNvSpPr txBox="1"/>
          <p:nvPr/>
        </p:nvSpPr>
        <p:spPr>
          <a:xfrm>
            <a:off x="4731410" y="25603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s3-c1-titre"/>
          <p:cNvSpPr txBox="1"/>
          <p:nvPr/>
        </p:nvSpPr>
        <p:spPr>
          <a:xfrm>
            <a:off x="4731410" y="3383280"/>
            <a:ext cx="272978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Isoler le problème</a:t>
            </a:r>
            <a:endParaRPr lang="en-US" sz="2000" dirty="0"/>
          </a:p>
        </p:txBody>
      </p:sp>
      <p:sp>
        <p:nvSpPr>
          <p:cNvPr id="12" name="s3-c1-texte"/>
          <p:cNvSpPr txBox="1"/>
          <p:nvPr/>
        </p:nvSpPr>
        <p:spPr>
          <a:xfrm>
            <a:off x="4731410" y="4480560"/>
            <a:ext cx="27297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Partout, ou seulement dans un cas précis ? Cela évite de chercher au mauvais endroit.</a:t>
            </a:r>
            <a:endParaRPr lang="en-US" sz="1500" dirty="0"/>
          </a:p>
        </p:txBody>
      </p:sp>
      <p:sp>
        <p:nvSpPr>
          <p:cNvPr id="13" name="s3-c2-forme"/>
          <p:cNvSpPr/>
          <p:nvPr/>
        </p:nvSpPr>
        <p:spPr>
          <a:xfrm>
            <a:off x="8101279" y="2377440"/>
            <a:ext cx="3278429" cy="3566160"/>
          </a:xfrm>
          <a:prstGeom prst="roundRect">
            <a:avLst>
              <a:gd name="adj" fmla="val 5020"/>
            </a:avLst>
          </a:prstGeom>
          <a:solidFill>
            <a:srgbClr val="FFFFFF"/>
          </a:solidFill>
          <a:ln w="12700">
            <a:solidFill>
              <a:srgbClr val="D3E3DE"/>
            </a:solidFill>
            <a:prstDash val="solid"/>
          </a:ln>
        </p:spPr>
      </p:sp>
      <p:sp>
        <p:nvSpPr>
          <p:cNvPr id="14" name="s3-c2-num"/>
          <p:cNvSpPr txBox="1"/>
          <p:nvPr/>
        </p:nvSpPr>
        <p:spPr>
          <a:xfrm>
            <a:off x="8375599" y="25603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s3-c2-titre"/>
          <p:cNvSpPr txBox="1"/>
          <p:nvPr/>
        </p:nvSpPr>
        <p:spPr>
          <a:xfrm>
            <a:off x="8375599" y="3383280"/>
            <a:ext cx="272978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Diagnostiquer avant de corriger</a:t>
            </a:r>
            <a:endParaRPr lang="en-US" sz="2000" dirty="0"/>
          </a:p>
        </p:txBody>
      </p:sp>
      <p:sp>
        <p:nvSpPr>
          <p:cNvPr id="16" name="s3-c2-texte"/>
          <p:cNvSpPr txBox="1"/>
          <p:nvPr/>
        </p:nvSpPr>
        <p:spPr>
          <a:xfrm>
            <a:off x="8375599" y="4480560"/>
            <a:ext cx="27297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cause, pour ne pas masquer le symptôme.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L'EXEMPLE : LE PROJET FIL ROUGE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12902" y="123444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formulaire qui refuse les bons e-mails</a:t>
            </a:r>
            <a:endParaRPr lang="en-US" sz="2800" dirty="0"/>
          </a:p>
        </p:txBody>
      </p:sp>
      <p:sp>
        <p:nvSpPr>
          <p:cNvPr id="5" name="s4-l0-cadre"/>
          <p:cNvSpPr/>
          <p:nvPr/>
        </p:nvSpPr>
        <p:spPr>
          <a:xfrm>
            <a:off x="1463040" y="2121408"/>
            <a:ext cx="996696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2B8C82"/>
            </a:solidFill>
            <a:prstDash val="solid"/>
          </a:ln>
        </p:spPr>
      </p:sp>
      <p:sp>
        <p:nvSpPr>
          <p:cNvPr id="6" name="s4-l0-num"/>
          <p:cNvSpPr txBox="1"/>
          <p:nvPr/>
        </p:nvSpPr>
        <p:spPr>
          <a:xfrm>
            <a:off x="812902" y="222199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4-l0-etiquette"/>
          <p:cNvSpPr txBox="1"/>
          <p:nvPr/>
        </p:nvSpPr>
        <p:spPr>
          <a:xfrm>
            <a:off x="1600200" y="2176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le message d'erreur complet</a:t>
            </a:r>
            <a:endParaRPr lang="en-US" sz="1600" dirty="0"/>
          </a:p>
        </p:txBody>
      </p:sp>
      <p:sp>
        <p:nvSpPr>
          <p:cNvPr id="8" name="s4-l0-detail"/>
          <p:cNvSpPr txBox="1"/>
          <p:nvPr/>
        </p:nvSpPr>
        <p:spPr>
          <a:xfrm>
            <a:off x="1600200" y="2468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de la console, pas seulement « ça marche pas ».</a:t>
            </a:r>
            <a:endParaRPr lang="en-US" sz="1800" dirty="0"/>
          </a:p>
        </p:txBody>
      </p:sp>
      <p:sp>
        <p:nvSpPr>
          <p:cNvPr id="9" name="s4-l1-cadre"/>
          <p:cNvSpPr/>
          <p:nvPr/>
        </p:nvSpPr>
        <p:spPr>
          <a:xfrm>
            <a:off x="1463040" y="3310128"/>
            <a:ext cx="996696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2B8C82"/>
            </a:solidFill>
            <a:prstDash val="solid"/>
          </a:ln>
        </p:spPr>
      </p:sp>
      <p:sp>
        <p:nvSpPr>
          <p:cNvPr id="10" name="s4-l1-num"/>
          <p:cNvSpPr txBox="1"/>
          <p:nvPr/>
        </p:nvSpPr>
        <p:spPr>
          <a:xfrm>
            <a:off x="812902" y="341071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s4-l1-etiquette"/>
          <p:cNvSpPr txBox="1"/>
          <p:nvPr/>
        </p:nvSpPr>
        <p:spPr>
          <a:xfrm>
            <a:off x="1600200" y="3364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Isoler</a:t>
            </a:r>
            <a:endParaRPr lang="en-US" sz="1600" dirty="0"/>
          </a:p>
        </p:txBody>
      </p:sp>
      <p:sp>
        <p:nvSpPr>
          <p:cNvPr id="12" name="s4-l1-detail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e-mails, ou certains formats, par exemple avec un « + » ?</a:t>
            </a:r>
            <a:endParaRPr lang="en-US" sz="1800" dirty="0"/>
          </a:p>
        </p:txBody>
      </p:sp>
      <p:sp>
        <p:nvSpPr>
          <p:cNvPr id="13" name="s4-l2-cadre"/>
          <p:cNvSpPr/>
          <p:nvPr/>
        </p:nvSpPr>
        <p:spPr>
          <a:xfrm>
            <a:off x="1463040" y="4498848"/>
            <a:ext cx="996696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2B8C82"/>
            </a:solidFill>
            <a:prstDash val="solid"/>
          </a:ln>
        </p:spPr>
      </p:sp>
      <p:sp>
        <p:nvSpPr>
          <p:cNvPr id="14" name="s4-l2-num"/>
          <p:cNvSpPr txBox="1"/>
          <p:nvPr/>
        </p:nvSpPr>
        <p:spPr>
          <a:xfrm>
            <a:off x="812902" y="459943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s4-l2-etiquette"/>
          <p:cNvSpPr txBox="1"/>
          <p:nvPr/>
        </p:nvSpPr>
        <p:spPr>
          <a:xfrm>
            <a:off x="1600200" y="45537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Diagnostiquer avant de corriger</a:t>
            </a:r>
            <a:endParaRPr lang="en-US" sz="1600" dirty="0"/>
          </a:p>
        </p:txBody>
      </p:sp>
      <p:sp>
        <p:nvSpPr>
          <p:cNvPr id="16" name="s4-l2-detail"/>
          <p:cNvSpPr txBox="1"/>
          <p:nvPr/>
        </p:nvSpPr>
        <p:spPr>
          <a:xfrm>
            <a:off x="1600200" y="4846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validation, avant de la corriger à l'aveugle.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TESTER TÔT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12902" y="123444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 tôt coûte moins cher que tard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étape du workflow Plan, Execute, Validate.</a:t>
            </a:r>
            <a:endParaRPr lang="en-US" sz="1800" dirty="0"/>
          </a:p>
        </p:txBody>
      </p:sp>
      <p:sp>
        <p:nvSpPr>
          <p:cNvPr id="6" name="s5-avant-forme"/>
          <p:cNvSpPr/>
          <p:nvPr/>
        </p:nvSpPr>
        <p:spPr>
          <a:xfrm>
            <a:off x="812902" y="2926080"/>
            <a:ext cx="5100523" cy="2468880"/>
          </a:xfrm>
          <a:prstGeom prst="roundRect">
            <a:avLst>
              <a:gd name="adj" fmla="val 6667"/>
            </a:avLst>
          </a:prstGeom>
          <a:solidFill>
            <a:srgbClr val="1D4A43"/>
          </a:solidFill>
          <a:ln w="6350">
            <a:solidFill>
              <a:srgbClr val="1D4A43"/>
            </a:solidFill>
            <a:prstDash val="solid"/>
          </a:ln>
        </p:spPr>
      </p:sp>
      <p:sp>
        <p:nvSpPr>
          <p:cNvPr id="7" name="s5-avant-etiquette"/>
          <p:cNvSpPr txBox="1"/>
          <p:nvPr/>
        </p:nvSpPr>
        <p:spPr>
          <a:xfrm>
            <a:off x="1178662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PENDANT LA CONSTRUCTION</a:t>
            </a:r>
            <a:endParaRPr lang="en-US" sz="1300" dirty="0"/>
          </a:p>
        </p:txBody>
      </p:sp>
      <p:sp>
        <p:nvSpPr>
          <p:cNvPr id="8" name="s5-avant-titre"/>
          <p:cNvSpPr txBox="1"/>
          <p:nvPr/>
        </p:nvSpPr>
        <p:spPr>
          <a:xfrm>
            <a:off x="1178662" y="3657600"/>
            <a:ext cx="4369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corrigé tôt</a:t>
            </a:r>
            <a:endParaRPr lang="en-US" sz="2400" dirty="0"/>
          </a:p>
        </p:txBody>
      </p:sp>
      <p:sp>
        <p:nvSpPr>
          <p:cNvPr id="9" name="s5-avant-texte"/>
          <p:cNvSpPr txBox="1"/>
          <p:nvPr/>
        </p:nvSpPr>
        <p:spPr>
          <a:xfrm>
            <a:off x="1178662" y="4343400"/>
            <a:ext cx="43690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coûteux.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décisions structurelles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restent modifiables.</a:t>
            </a:r>
            <a:endParaRPr lang="en-US" sz="1700" dirty="0"/>
          </a:p>
        </p:txBody>
      </p:sp>
      <p:sp>
        <p:nvSpPr>
          <p:cNvPr id="10" name="s5-apres-forme"/>
          <p:cNvSpPr/>
          <p:nvPr/>
        </p:nvSpPr>
        <p:spPr>
          <a:xfrm>
            <a:off x="6279185" y="2926080"/>
            <a:ext cx="5100523" cy="2468880"/>
          </a:xfrm>
          <a:prstGeom prst="roundRect">
            <a:avLst>
              <a:gd name="adj" fmla="val 6667"/>
            </a:avLst>
          </a:prstGeom>
          <a:solidFill>
            <a:srgbClr val="FF7A4D"/>
          </a:solidFill>
          <a:ln w="6350">
            <a:solidFill>
              <a:srgbClr val="FF7A4D"/>
            </a:solidFill>
            <a:prstDash val="solid"/>
          </a:ln>
        </p:spPr>
      </p:sp>
      <p:sp>
        <p:nvSpPr>
          <p:cNvPr id="11" name="s5-apres-etiquette"/>
          <p:cNvSpPr txBox="1"/>
          <p:nvPr/>
        </p:nvSpPr>
        <p:spPr>
          <a:xfrm>
            <a:off x="6644945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FOIS EN PRODUCTION</a:t>
            </a:r>
            <a:endParaRPr lang="en-US" sz="1300" dirty="0"/>
          </a:p>
        </p:txBody>
      </p:sp>
      <p:sp>
        <p:nvSpPr>
          <p:cNvPr id="12" name="s5-apres-titre"/>
          <p:cNvSpPr txBox="1"/>
          <p:nvPr/>
        </p:nvSpPr>
        <p:spPr>
          <a:xfrm>
            <a:off x="6644945" y="3657600"/>
            <a:ext cx="4369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projet casse</a:t>
            </a:r>
            <a:endParaRPr lang="en-US" sz="2400" dirty="0"/>
          </a:p>
        </p:txBody>
      </p:sp>
      <p:sp>
        <p:nvSpPr>
          <p:cNvPr id="13" name="s5-apres-texte"/>
          <p:cNvSpPr txBox="1"/>
          <p:nvPr/>
        </p:nvSpPr>
        <p:spPr>
          <a:xfrm>
            <a:off x="6644945" y="4343400"/>
            <a:ext cx="43690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3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plus cher, surtout en confiance.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Vivier IA : le vivier des talents IA franco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457200"/>
            <a:ext cx="1188720" cy="70087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902" y="81290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C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300" dirty="0"/>
          </a:p>
        </p:txBody>
      </p:sp>
      <p:sp>
        <p:nvSpPr>
          <p:cNvPr id="4" name="s6-titre"/>
          <p:cNvSpPr txBox="1"/>
          <p:nvPr/>
        </p:nvSpPr>
        <p:spPr>
          <a:xfrm>
            <a:off x="812902" y="137160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complet, problème isolé,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2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 diagnostiquée.</a:t>
            </a:r>
            <a:endParaRPr lang="en-US" sz="3000" dirty="0"/>
          </a:p>
        </p:txBody>
      </p:sp>
      <p:sp>
        <p:nvSpPr>
          <p:cNvPr id="5" name="s6-point-0"/>
          <p:cNvSpPr txBox="1"/>
          <p:nvPr/>
        </p:nvSpPr>
        <p:spPr>
          <a:xfrm>
            <a:off x="812902" y="29718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le message d'erreur complet, jamais un résumé.</a:t>
            </a:r>
            <a:endParaRPr lang="en-US" sz="2200" dirty="0"/>
          </a:p>
        </p:txBody>
      </p:sp>
      <p:sp>
        <p:nvSpPr>
          <p:cNvPr id="6" name="s6-point-1"/>
          <p:cNvSpPr txBox="1"/>
          <p:nvPr/>
        </p:nvSpPr>
        <p:spPr>
          <a:xfrm>
            <a:off x="812902" y="3703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Isoler avant de corriger : partout, ou cas précis ?</a:t>
            </a:r>
            <a:endParaRPr lang="en-US" sz="2200" dirty="0"/>
          </a:p>
        </p:txBody>
      </p:sp>
      <p:sp>
        <p:nvSpPr>
          <p:cNvPr id="7" name="s6-point-2"/>
          <p:cNvSpPr txBox="1"/>
          <p:nvPr/>
        </p:nvSpPr>
        <p:spPr>
          <a:xfrm>
            <a:off x="812902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Diagnostiquer la cause réelle, pas seulement le symptôme.</a:t>
            </a:r>
            <a:endParaRPr lang="en-US" sz="2200" dirty="0"/>
          </a:p>
        </p:txBody>
      </p:sp>
      <p:sp>
        <p:nvSpPr>
          <p:cNvPr id="8" name="s6-final"/>
          <p:cNvSpPr/>
          <p:nvPr/>
        </p:nvSpPr>
        <p:spPr>
          <a:xfrm>
            <a:off x="812902" y="5212080"/>
            <a:ext cx="10566806" cy="868680"/>
          </a:xfrm>
          <a:prstGeom prst="roundRect">
            <a:avLst>
              <a:gd name="adj" fmla="val 21053"/>
            </a:avLst>
          </a:prstGeom>
          <a:solidFill>
            <a:srgbClr val="FF7A4D"/>
          </a:solidFill>
          <a:ln/>
        </p:spPr>
        <p:txBody>
          <a:bodyPr wrap="square" lIns="127000" tIns="0" rIns="12700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38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vidéo : premiers pas, outils principaux et permissions.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Vivier 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Quand ça casse, debugger et vérifier</dc:title>
  <dc:subject>Vivier IA, Module 1, section 2, chapitre 4</dc:subject>
  <dc:creator>Zézé Bilivogui</dc:creator>
  <cp:lastModifiedBy>Zézé Bilivogui</cp:lastModifiedBy>
  <cp:revision>1</cp:revision>
  <dcterms:created xsi:type="dcterms:W3CDTF">2026-09-21T08:53:13Z</dcterms:created>
  <dcterms:modified xsi:type="dcterms:W3CDTF">2026-09-21T08:53:13Z</dcterms:modified>
</cp:coreProperties>
</file>