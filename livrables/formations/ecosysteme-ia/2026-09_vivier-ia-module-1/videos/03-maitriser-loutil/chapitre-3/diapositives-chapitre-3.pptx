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deux mécanismes, comment choisir, et les créer en direct. Tout s'anime tout seul à l'ouverture de la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0:19 (Slash Command, clic 1) puis 0:56 (Skill, clic 2). Un Skill peut se déclencher automatiquement, quand la situation correspond à sa description, ou sur demande explicite.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1:25. La ligne « Slash Command » est visible : la commande crée toujours la même chose (dossier site vide, CLAUDE.md, README). Clic à « Un Skill, audit-site-vitrine » : la ligne « Skill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1:51. Clic 1 à « Si la tâche est toujours identique » : la commande. Clic 2 à « Si la tâche demande d'adapter » : le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2:13. Un clic par étape (3 clics). Ensuite, la démonstration se fait dans VS Code, sans diapositive : création du Slash Command, puis du Skill, avec les prompts de la fiche.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6:56. Le titre apparaît seul. Puis un clic par point, et un dernier clic pour l'annonce de la prochaine vidéo (section 3, chapitre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3 · CHAPITRE 3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et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Commands,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raccourcis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choisir et créer le bon raccourci.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mécanismes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8494776" y="45262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choisir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1663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créer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MÉCANISMES DE PERSONNALISATION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Ils ne répondent pas au même besoin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confondre, c'est choisir le mauvais outil.</a:t>
            </a:r>
            <a:endParaRPr lang="en-US" sz="1800" dirty="0"/>
          </a:p>
        </p:txBody>
      </p:sp>
      <p:sp>
        <p:nvSpPr>
          <p:cNvPr id="6" name="s2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2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</a:t>
            </a:r>
            <a:endParaRPr lang="en-US" sz="1300" dirty="0"/>
          </a:p>
        </p:txBody>
      </p:sp>
      <p:sp>
        <p:nvSpPr>
          <p:cNvPr id="8" name="s2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raccourci d'action</a:t>
            </a:r>
            <a:endParaRPr lang="en-US" sz="2400" dirty="0"/>
          </a:p>
        </p:txBody>
      </p:sp>
      <p:sp>
        <p:nvSpPr>
          <p:cNvPr id="9" name="s2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séquence fixe, toujours dans le même ordre.</a:t>
            </a:r>
            <a:endParaRPr lang="en-US" sz="1700" dirty="0"/>
          </a:p>
        </p:txBody>
      </p:sp>
      <p:sp>
        <p:nvSpPr>
          <p:cNvPr id="10" name="s2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2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300" dirty="0"/>
          </a:p>
        </p:txBody>
      </p:sp>
      <p:sp>
        <p:nvSpPr>
          <p:cNvPr id="12" name="s2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savoir-faire</a:t>
            </a:r>
            <a:endParaRPr lang="en-US" sz="2400" dirty="0"/>
          </a:p>
        </p:txBody>
      </p:sp>
      <p:sp>
        <p:nvSpPr>
          <p:cNvPr id="13" name="s2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 complète, avec du jugement.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L'EXEMPLE : LE SITE D'UN ARTISAN</a:t>
            </a:r>
            <a:endParaRPr lang="en-US" sz="1300" dirty="0"/>
          </a:p>
        </p:txBody>
      </p:sp>
      <p:sp>
        <p:nvSpPr>
          <p:cNvPr id="4" name="s3-r0-etiquette"/>
          <p:cNvSpPr txBox="1"/>
          <p:nvPr/>
        </p:nvSpPr>
        <p:spPr>
          <a:xfrm>
            <a:off x="812902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</a:t>
            </a:r>
            <a:endParaRPr lang="en-US" sz="1300" dirty="0"/>
          </a:p>
        </p:txBody>
      </p:sp>
      <p:sp>
        <p:nvSpPr>
          <p:cNvPr id="5" name="s3-r0-b0"/>
          <p:cNvSpPr/>
          <p:nvPr/>
        </p:nvSpPr>
        <p:spPr>
          <a:xfrm>
            <a:off x="812902" y="1874520"/>
            <a:ext cx="306705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/nouveau-client</a:t>
            </a:r>
            <a:endParaRPr lang="en-US" sz="2200" dirty="0"/>
          </a:p>
        </p:txBody>
      </p:sp>
      <p:sp>
        <p:nvSpPr>
          <p:cNvPr id="6" name="s3-r0-f0"/>
          <p:cNvSpPr/>
          <p:nvPr/>
        </p:nvSpPr>
        <p:spPr>
          <a:xfrm>
            <a:off x="4108552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7" name="s3-r0-b1"/>
          <p:cNvSpPr/>
          <p:nvPr/>
        </p:nvSpPr>
        <p:spPr>
          <a:xfrm>
            <a:off x="4829277" y="1874520"/>
            <a:ext cx="306705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séquence</a:t>
            </a:r>
            <a:endParaRPr lang="en-US" sz="2200" dirty="0"/>
          </a:p>
        </p:txBody>
      </p:sp>
      <p:sp>
        <p:nvSpPr>
          <p:cNvPr id="8" name="s3-r0-f1"/>
          <p:cNvSpPr/>
          <p:nvPr/>
        </p:nvSpPr>
        <p:spPr>
          <a:xfrm>
            <a:off x="8124927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9" name="s3-r0-b2"/>
          <p:cNvSpPr/>
          <p:nvPr/>
        </p:nvSpPr>
        <p:spPr>
          <a:xfrm>
            <a:off x="8845652" y="1874520"/>
            <a:ext cx="2482850" cy="914400"/>
          </a:xfrm>
          <a:prstGeom prst="roundRect">
            <a:avLst>
              <a:gd name="adj" fmla="val 15000"/>
            </a:avLst>
          </a:prstGeom>
          <a:solidFill>
            <a:srgbClr val="2B8C82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Prévisible</a:t>
            </a:r>
            <a:endParaRPr lang="en-US" sz="2200" dirty="0"/>
          </a:p>
        </p:txBody>
      </p:sp>
      <p:sp>
        <p:nvSpPr>
          <p:cNvPr id="10" name="s3-r1-etiquette"/>
          <p:cNvSpPr txBox="1"/>
          <p:nvPr/>
        </p:nvSpPr>
        <p:spPr>
          <a:xfrm>
            <a:off x="812902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300" dirty="0"/>
          </a:p>
        </p:txBody>
      </p:sp>
      <p:sp>
        <p:nvSpPr>
          <p:cNvPr id="11" name="s3-r1-b0"/>
          <p:cNvSpPr/>
          <p:nvPr/>
        </p:nvSpPr>
        <p:spPr>
          <a:xfrm>
            <a:off x="812902" y="3611880"/>
            <a:ext cx="3247465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audit-site-vitrine</a:t>
            </a:r>
            <a:endParaRPr lang="en-US" sz="2200" dirty="0"/>
          </a:p>
        </p:txBody>
      </p:sp>
      <p:sp>
        <p:nvSpPr>
          <p:cNvPr id="12" name="s3-r1-f0"/>
          <p:cNvSpPr/>
          <p:nvPr/>
        </p:nvSpPr>
        <p:spPr>
          <a:xfrm>
            <a:off x="4288966" y="388620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13" name="s3-r1-b1"/>
          <p:cNvSpPr/>
          <p:nvPr/>
        </p:nvSpPr>
        <p:spPr>
          <a:xfrm>
            <a:off x="5065534" y="3611880"/>
            <a:ext cx="3247465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adaptée</a:t>
            </a:r>
            <a:endParaRPr lang="en-US" sz="2200" dirty="0"/>
          </a:p>
        </p:txBody>
      </p:sp>
      <p:sp>
        <p:nvSpPr>
          <p:cNvPr id="14" name="s3-r1-f1"/>
          <p:cNvSpPr/>
          <p:nvPr/>
        </p:nvSpPr>
        <p:spPr>
          <a:xfrm>
            <a:off x="8541599" y="388620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15" name="s3-r1-b2"/>
          <p:cNvSpPr/>
          <p:nvPr/>
        </p:nvSpPr>
        <p:spPr>
          <a:xfrm>
            <a:off x="9318166" y="3611880"/>
            <a:ext cx="2010335" cy="914400"/>
          </a:xfrm>
          <a:prstGeom prst="roundRect">
            <a:avLst>
              <a:gd name="adj" fmla="val 15000"/>
            </a:avLst>
          </a:prstGeom>
          <a:solidFill>
            <a:srgbClr val="2B8C82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Jugement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CHOISIR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commande ou un Skill 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que la tâche change ou non.</a:t>
            </a:r>
            <a:endParaRPr lang="en-US" sz="1800" dirty="0"/>
          </a:p>
        </p:txBody>
      </p:sp>
      <p:sp>
        <p:nvSpPr>
          <p:cNvPr id="6" name="s4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4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TÂCHE TOUJOURS IDENTIQUE</a:t>
            </a:r>
            <a:endParaRPr lang="en-US" sz="1300" dirty="0"/>
          </a:p>
        </p:txBody>
      </p:sp>
      <p:sp>
        <p:nvSpPr>
          <p:cNvPr id="8" name="s4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commande</a:t>
            </a:r>
            <a:endParaRPr lang="en-US" sz="2400" dirty="0"/>
          </a:p>
        </p:txBody>
      </p:sp>
      <p:sp>
        <p:nvSpPr>
          <p:cNvPr id="9" name="s4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automatise un geste précis et répétitif.</a:t>
            </a:r>
            <a:endParaRPr lang="en-US" sz="1700" dirty="0"/>
          </a:p>
        </p:txBody>
      </p:sp>
      <p:sp>
        <p:nvSpPr>
          <p:cNvPr id="10" name="s4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4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TÂCHE À ADAPTER</a:t>
            </a:r>
            <a:endParaRPr lang="en-US" sz="1300" dirty="0"/>
          </a:p>
        </p:txBody>
      </p:sp>
      <p:sp>
        <p:nvSpPr>
          <p:cNvPr id="12" name="s4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Skill</a:t>
            </a:r>
            <a:endParaRPr lang="en-US" sz="2400" dirty="0"/>
          </a:p>
        </p:txBody>
      </p:sp>
      <p:sp>
        <p:nvSpPr>
          <p:cNvPr id="13" name="s4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adapte une méthode à chaque situation.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L'INSTALLATION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fichiers, un dossier</a:t>
            </a:r>
            <a:endParaRPr lang="en-US" sz="2800" dirty="0"/>
          </a:p>
        </p:txBody>
      </p:sp>
      <p:sp>
        <p:nvSpPr>
          <p:cNvPr id="5" name="s5-l0-num"/>
          <p:cNvSpPr txBox="1"/>
          <p:nvPr/>
        </p:nvSpPr>
        <p:spPr>
          <a:xfrm>
            <a:off x="812902" y="257860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5-l0-etiquette"/>
          <p:cNvSpPr txBox="1"/>
          <p:nvPr/>
        </p:nvSpPr>
        <p:spPr>
          <a:xfrm>
            <a:off x="1600200" y="2194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Slash Command : un fichier Markdown</a:t>
            </a:r>
            <a:endParaRPr lang="en-US" sz="1600" dirty="0"/>
          </a:p>
        </p:txBody>
      </p:sp>
      <p:sp>
        <p:nvSpPr>
          <p:cNvPr id="7" name="s5-l0-code"/>
          <p:cNvSpPr/>
          <p:nvPr/>
        </p:nvSpPr>
        <p:spPr>
          <a:xfrm>
            <a:off x="1600200" y="2578608"/>
            <a:ext cx="4328861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.claude/commands/nom.md</a:t>
            </a:r>
            <a:endParaRPr lang="en-US" sz="2000" dirty="0"/>
          </a:p>
        </p:txBody>
      </p:sp>
      <p:sp>
        <p:nvSpPr>
          <p:cNvPr id="8" name="s5-l1-num"/>
          <p:cNvSpPr txBox="1"/>
          <p:nvPr/>
        </p:nvSpPr>
        <p:spPr>
          <a:xfrm>
            <a:off x="812902" y="37673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5-l1-etiquette"/>
          <p:cNvSpPr txBox="1"/>
          <p:nvPr/>
        </p:nvSpPr>
        <p:spPr>
          <a:xfrm>
            <a:off x="1600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Skill : un dossier avec un fichier SKILL.md</a:t>
            </a:r>
            <a:endParaRPr lang="en-US" sz="1600" dirty="0"/>
          </a:p>
        </p:txBody>
      </p:sp>
      <p:sp>
        <p:nvSpPr>
          <p:cNvPr id="10" name="s5-l1-code"/>
          <p:cNvSpPr/>
          <p:nvPr/>
        </p:nvSpPr>
        <p:spPr>
          <a:xfrm>
            <a:off x="1600200" y="3767328"/>
            <a:ext cx="4938583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.claude/skills/nom/SKILL.md</a:t>
            </a:r>
            <a:endParaRPr lang="en-US" sz="2000" dirty="0"/>
          </a:p>
        </p:txBody>
      </p:sp>
      <p:sp>
        <p:nvSpPr>
          <p:cNvPr id="11" name="s5-l2-cadre"/>
          <p:cNvSpPr/>
          <p:nvPr/>
        </p:nvSpPr>
        <p:spPr>
          <a:xfrm>
            <a:off x="1463040" y="449884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12" name="s5-l2-num"/>
          <p:cNvSpPr txBox="1"/>
          <p:nvPr/>
        </p:nvSpPr>
        <p:spPr>
          <a:xfrm>
            <a:off x="812902" y="45994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5-l2-etiquette"/>
          <p:cNvSpPr txBox="1"/>
          <p:nvPr/>
        </p:nvSpPr>
        <p:spPr>
          <a:xfrm>
            <a:off x="1600200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 du SKILL.md : au minimum</a:t>
            </a:r>
            <a:endParaRPr lang="en-US" sz="1600" dirty="0"/>
          </a:p>
        </p:txBody>
      </p:sp>
      <p:sp>
        <p:nvSpPr>
          <p:cNvPr id="14" name="s5-l2-detail"/>
          <p:cNvSpPr txBox="1"/>
          <p:nvPr/>
        </p:nvSpPr>
        <p:spPr>
          <a:xfrm>
            <a:off x="1600200" y="4846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name et une description claire, qui sert au déclenchement automatique.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commande pour répéter,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Skill pour adapter.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 : une séquence précise, toujours identique.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 : un savoir-faire, avec du jugement contextuel.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évitent de répéter les mêmes explications.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MCP, connecter Claude Code à votre écosystème.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et Slash Commands, vos raccourcis personnalisés</dc:title>
  <dc:subject>Vivier IA, Module 1, section 3, chapitre 3</dc:subject>
  <dc:creator>Zézé Bilivogui</dc:creator>
  <cp:lastModifiedBy>Zézé Bilivogui</cp:lastModifiedBy>
  <cp:revision>1</cp:revision>
  <dcterms:created xsi:type="dcterms:W3CDTF">2026-09-21T08:41:18Z</dcterms:created>
  <dcterms:modified xsi:type="dcterms:W3CDTF">2026-09-21T08:41:18Z</dcterms:modified>
</cp:coreProperties>
</file>