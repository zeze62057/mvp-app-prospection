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0:00. Accroche et annonce du plan : ce qui distingue un hook d'une instruction, des exemples concrets, et un hook réel configuré et testé. Tout s'anime tout seul à l'ouverture.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0:19. Clic 1 : la carte « Une instruction ». Clic 2 : la carte « Un hook ». Exemples de moments de déclenchement : avant qu'un outil s'exécute, après une réponse, à la fin d'une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0:44. Un clic par carte (3 clics). Chaque exemple répond à un besoin de fiabilité qu'on ne veut plus laisser dépendre de la vigilance du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1:06. Un clic par ligne (3 clics). Ensuite, la démonstration se fait dans VS Code et le terminal, sans diapositive : configuration du hook, puis test avec un faux .env.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3:31. La phrase apparaît seule, puis un clic pour l'appui. C'est un mécanisme plus avancé, pertinent une fois identifié par l'expérience, pas dès le premier jour.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3:52. Le titre apparaît seul. Puis un clic par point, et un dernier clic pour l'annonce de la prochaine vidéo (section 3, chapitre 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5074920"/>
            <a:ext cx="2103120" cy="1240003"/>
          </a:xfrm>
          <a:prstGeom prst="rect">
            <a:avLst/>
          </a:prstGeom>
        </p:spPr>
      </p:pic>
      <p:sp>
        <p:nvSpPr>
          <p:cNvPr id="3" name="s1-surtitre"/>
          <p:cNvSpPr txBox="1"/>
          <p:nvPr/>
        </p:nvSpPr>
        <p:spPr>
          <a:xfrm>
            <a:off x="5843016" y="100584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VIVIER IA · MODULE 1 · SECTION 3 · CHAPITRE 5</a:t>
            </a:r>
            <a:endParaRPr lang="en-US" sz="1300" dirty="0"/>
          </a:p>
        </p:txBody>
      </p:sp>
      <p:sp>
        <p:nvSpPr>
          <p:cNvPr id="4" name="s1-titre"/>
          <p:cNvSpPr txBox="1"/>
          <p:nvPr/>
        </p:nvSpPr>
        <p:spPr>
          <a:xfrm>
            <a:off x="5843016" y="1691640"/>
            <a:ext cx="5532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Hooks,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automatiser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3400" dirty="0"/>
          </a:p>
        </p:txBody>
      </p:sp>
      <p:sp>
        <p:nvSpPr>
          <p:cNvPr id="5" name="s1-objectif"/>
          <p:cNvSpPr txBox="1"/>
          <p:nvPr/>
        </p:nvSpPr>
        <p:spPr>
          <a:xfrm>
            <a:off x="5843016" y="342900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 : configurer un hook réel.</a:t>
            </a:r>
            <a:endParaRPr lang="en-US" sz="1700" dirty="0"/>
          </a:p>
        </p:txBody>
      </p:sp>
      <p:sp>
        <p:nvSpPr>
          <p:cNvPr id="6" name="s1-pastille-0"/>
          <p:cNvSpPr/>
          <p:nvPr/>
        </p:nvSpPr>
        <p:spPr>
          <a:xfrm>
            <a:off x="5843016" y="452628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règle automatique</a:t>
            </a:r>
            <a:endParaRPr lang="en-US" sz="1400" dirty="0"/>
          </a:p>
        </p:txBody>
      </p:sp>
      <p:sp>
        <p:nvSpPr>
          <p:cNvPr id="7" name="s1-pastille-1"/>
          <p:cNvSpPr/>
          <p:nvPr/>
        </p:nvSpPr>
        <p:spPr>
          <a:xfrm>
            <a:off x="5843016" y="516636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exemples concrets</a:t>
            </a:r>
            <a:endParaRPr lang="en-US" sz="1400" dirty="0"/>
          </a:p>
        </p:txBody>
      </p:sp>
      <p:sp>
        <p:nvSpPr>
          <p:cNvPr id="8" name="s1-pastille-2"/>
          <p:cNvSpPr/>
          <p:nvPr/>
        </p:nvSpPr>
        <p:spPr>
          <a:xfrm>
            <a:off x="5843016" y="5806440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hook testé en direct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CHANGE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Systématique, pas ponctuel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différence tient à la régularité.</a:t>
            </a:r>
            <a:endParaRPr lang="en-US" sz="1800" dirty="0"/>
          </a:p>
        </p:txBody>
      </p:sp>
      <p:sp>
        <p:nvSpPr>
          <p:cNvPr id="6" name="s2-avant-forme"/>
          <p:cNvSpPr/>
          <p:nvPr/>
        </p:nvSpPr>
        <p:spPr>
          <a:xfrm>
            <a:off x="812902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1D4A43"/>
          </a:solidFill>
          <a:ln w="6350">
            <a:solidFill>
              <a:srgbClr val="1D4A43"/>
            </a:solidFill>
            <a:prstDash val="solid"/>
          </a:ln>
        </p:spPr>
      </p:sp>
      <p:sp>
        <p:nvSpPr>
          <p:cNvPr id="7" name="s2-avant-etiquette"/>
          <p:cNvSpPr txBox="1"/>
          <p:nvPr/>
        </p:nvSpPr>
        <p:spPr>
          <a:xfrm>
            <a:off x="1178662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INSTRUCTION</a:t>
            </a:r>
            <a:endParaRPr lang="en-US" sz="1300" dirty="0"/>
          </a:p>
        </p:txBody>
      </p:sp>
      <p:sp>
        <p:nvSpPr>
          <p:cNvPr id="8" name="s2-avant-titre"/>
          <p:cNvSpPr txBox="1"/>
          <p:nvPr/>
        </p:nvSpPr>
        <p:spPr>
          <a:xfrm>
            <a:off x="1178662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Dépend du moment</a:t>
            </a:r>
            <a:endParaRPr lang="en-US" sz="2400" dirty="0"/>
          </a:p>
        </p:txBody>
      </p:sp>
      <p:sp>
        <p:nvSpPr>
          <p:cNvPr id="9" name="s2-avant-texte"/>
          <p:cNvSpPr txBox="1"/>
          <p:nvPr/>
        </p:nvSpPr>
        <p:spPr>
          <a:xfrm>
            <a:off x="1178662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S'applique si on pense à la redemander ce jour-là.</a:t>
            </a:r>
            <a:endParaRPr lang="en-US" sz="1700" dirty="0"/>
          </a:p>
        </p:txBody>
      </p:sp>
      <p:sp>
        <p:nvSpPr>
          <p:cNvPr id="10" name="s2-apres-forme"/>
          <p:cNvSpPr/>
          <p:nvPr/>
        </p:nvSpPr>
        <p:spPr>
          <a:xfrm>
            <a:off x="6279185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FF7A4D"/>
          </a:solidFill>
          <a:ln w="6350">
            <a:solidFill>
              <a:srgbClr val="FF7A4D"/>
            </a:solidFill>
            <a:prstDash val="solid"/>
          </a:ln>
        </p:spPr>
      </p:sp>
      <p:sp>
        <p:nvSpPr>
          <p:cNvPr id="11" name="s2-apres-etiquette"/>
          <p:cNvSpPr txBox="1"/>
          <p:nvPr/>
        </p:nvSpPr>
        <p:spPr>
          <a:xfrm>
            <a:off x="6644945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HOOK</a:t>
            </a:r>
            <a:endParaRPr lang="en-US" sz="1300" dirty="0"/>
          </a:p>
        </p:txBody>
      </p:sp>
      <p:sp>
        <p:nvSpPr>
          <p:cNvPr id="12" name="s2-apres-titre"/>
          <p:cNvSpPr txBox="1"/>
          <p:nvPr/>
        </p:nvSpPr>
        <p:spPr>
          <a:xfrm>
            <a:off x="6644945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S'applique toujours</a:t>
            </a:r>
            <a:endParaRPr lang="en-US" sz="2400" dirty="0"/>
          </a:p>
        </p:txBody>
      </p:sp>
      <p:sp>
        <p:nvSpPr>
          <p:cNvPr id="13" name="s2-apres-texte"/>
          <p:cNvSpPr txBox="1"/>
          <p:nvPr/>
        </p:nvSpPr>
        <p:spPr>
          <a:xfrm>
            <a:off x="6644945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déclenche au même moment, à chaque fois, sans exception.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EXEMPLES CONCRETS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besoins de fiabilité</a:t>
            </a:r>
            <a:endParaRPr lang="en-US" sz="3000" dirty="0"/>
          </a:p>
        </p:txBody>
      </p:sp>
      <p:sp>
        <p:nvSpPr>
          <p:cNvPr id="5" name="s3-c0-forme"/>
          <p:cNvSpPr/>
          <p:nvPr/>
        </p:nvSpPr>
        <p:spPr>
          <a:xfrm>
            <a:off x="812902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6" name="s3-c0-num"/>
          <p:cNvSpPr txBox="1"/>
          <p:nvPr/>
        </p:nvSpPr>
        <p:spPr>
          <a:xfrm>
            <a:off x="1087222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s3-c0-titre"/>
          <p:cNvSpPr txBox="1"/>
          <p:nvPr/>
        </p:nvSpPr>
        <p:spPr>
          <a:xfrm>
            <a:off x="1087222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un commit</a:t>
            </a:r>
            <a:endParaRPr lang="en-US" sz="2000" dirty="0"/>
          </a:p>
        </p:txBody>
      </p:sp>
      <p:sp>
        <p:nvSpPr>
          <p:cNvPr id="8" name="s3-c0-texte"/>
          <p:cNvSpPr txBox="1"/>
          <p:nvPr/>
        </p:nvSpPr>
        <p:spPr>
          <a:xfrm>
            <a:off x="1087222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Forcer une vérification systématique avant chaque commit Git.</a:t>
            </a:r>
            <a:endParaRPr lang="en-US" sz="1500" dirty="0"/>
          </a:p>
        </p:txBody>
      </p:sp>
      <p:sp>
        <p:nvSpPr>
          <p:cNvPr id="9" name="s3-c1-forme"/>
          <p:cNvSpPr/>
          <p:nvPr/>
        </p:nvSpPr>
        <p:spPr>
          <a:xfrm>
            <a:off x="4457090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0" name="s3-c1-num"/>
          <p:cNvSpPr txBox="1"/>
          <p:nvPr/>
        </p:nvSpPr>
        <p:spPr>
          <a:xfrm>
            <a:off x="4731410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s3-c1-titre"/>
          <p:cNvSpPr txBox="1"/>
          <p:nvPr/>
        </p:nvSpPr>
        <p:spPr>
          <a:xfrm>
            <a:off x="4731410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 sensible</a:t>
            </a:r>
            <a:endParaRPr lang="en-US" sz="2000" dirty="0"/>
          </a:p>
        </p:txBody>
      </p:sp>
      <p:sp>
        <p:nvSpPr>
          <p:cNvPr id="12" name="s3-c1-texte"/>
          <p:cNvSpPr txBox="1"/>
          <p:nvPr/>
        </p:nvSpPr>
        <p:spPr>
          <a:xfrm>
            <a:off x="4731410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Empêcher une action dans un dossier de clés d'API.</a:t>
            </a:r>
            <a:endParaRPr lang="en-US" sz="1500" dirty="0"/>
          </a:p>
        </p:txBody>
      </p:sp>
      <p:sp>
        <p:nvSpPr>
          <p:cNvPr id="13" name="s3-c2-forme"/>
          <p:cNvSpPr/>
          <p:nvPr/>
        </p:nvSpPr>
        <p:spPr>
          <a:xfrm>
            <a:off x="8101279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4" name="s3-c2-num"/>
          <p:cNvSpPr txBox="1"/>
          <p:nvPr/>
        </p:nvSpPr>
        <p:spPr>
          <a:xfrm>
            <a:off x="8375599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s3-c2-titre"/>
          <p:cNvSpPr txBox="1"/>
          <p:nvPr/>
        </p:nvSpPr>
        <p:spPr>
          <a:xfrm>
            <a:off x="8375599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Tâche terminée</a:t>
            </a:r>
            <a:endParaRPr lang="en-US" sz="2000" dirty="0"/>
          </a:p>
        </p:txBody>
      </p:sp>
      <p:sp>
        <p:nvSpPr>
          <p:cNvPr id="16" name="s3-c2-texte"/>
          <p:cNvSpPr txBox="1"/>
          <p:nvPr/>
        </p:nvSpPr>
        <p:spPr>
          <a:xfrm>
            <a:off x="8375599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Déclencher une notification quand une tâche longue se termine.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L'INSTALLATION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fichier, une règle</a:t>
            </a:r>
            <a:endParaRPr lang="en-US" sz="2800" dirty="0"/>
          </a:p>
        </p:txBody>
      </p:sp>
      <p:sp>
        <p:nvSpPr>
          <p:cNvPr id="5" name="s4-l0-num"/>
          <p:cNvSpPr txBox="1"/>
          <p:nvPr/>
        </p:nvSpPr>
        <p:spPr>
          <a:xfrm>
            <a:off x="812902" y="257860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s4-l0-etiquette"/>
          <p:cNvSpPr txBox="1"/>
          <p:nvPr/>
        </p:nvSpPr>
        <p:spPr>
          <a:xfrm>
            <a:off x="1600200" y="2194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fichier, partagé ou personnel</a:t>
            </a:r>
            <a:endParaRPr lang="en-US" sz="1600" dirty="0"/>
          </a:p>
        </p:txBody>
      </p:sp>
      <p:sp>
        <p:nvSpPr>
          <p:cNvPr id="7" name="s4-l0-code"/>
          <p:cNvSpPr/>
          <p:nvPr/>
        </p:nvSpPr>
        <p:spPr>
          <a:xfrm>
            <a:off x="1600200" y="2578608"/>
            <a:ext cx="4024000" cy="658368"/>
          </a:xfrm>
          <a:prstGeom prst="roundRect">
            <a:avLst>
              <a:gd name="adj" fmla="val 13889"/>
            </a:avLst>
          </a:prstGeom>
          <a:solidFill>
            <a:srgbClr val="0B2622"/>
          </a:solidFill>
          <a:ln w="19050">
            <a:solidFill>
              <a:srgbClr val="2B8C82"/>
            </a:solidFill>
          </a:ln>
        </p:spPr>
        <p:txBody>
          <a:bodyPr wrap="square" lIns="228600" tIns="0" rIns="2286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.claude/settings.json</a:t>
            </a:r>
            <a:endParaRPr lang="en-US" sz="2000" dirty="0"/>
          </a:p>
        </p:txBody>
      </p:sp>
      <p:sp>
        <p:nvSpPr>
          <p:cNvPr id="8" name="s4-l1-num"/>
          <p:cNvSpPr txBox="1"/>
          <p:nvPr/>
        </p:nvSpPr>
        <p:spPr>
          <a:xfrm>
            <a:off x="812902" y="376732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s4-l1-etiquette"/>
          <p:cNvSpPr txBox="1"/>
          <p:nvPr/>
        </p:nvSpPr>
        <p:spPr>
          <a:xfrm>
            <a:off x="1600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moment de déclenchement (exemple)</a:t>
            </a:r>
            <a:endParaRPr lang="en-US" sz="1600" dirty="0"/>
          </a:p>
        </p:txBody>
      </p:sp>
      <p:sp>
        <p:nvSpPr>
          <p:cNvPr id="10" name="s4-l1-code"/>
          <p:cNvSpPr/>
          <p:nvPr/>
        </p:nvSpPr>
        <p:spPr>
          <a:xfrm>
            <a:off x="1600200" y="3767328"/>
            <a:ext cx="2347265" cy="658368"/>
          </a:xfrm>
          <a:prstGeom prst="roundRect">
            <a:avLst>
              <a:gd name="adj" fmla="val 13889"/>
            </a:avLst>
          </a:prstGeom>
          <a:solidFill>
            <a:srgbClr val="0B2622"/>
          </a:solidFill>
          <a:ln w="19050">
            <a:solidFill>
              <a:srgbClr val="2B8C82"/>
            </a:solidFill>
          </a:ln>
        </p:spPr>
        <p:txBody>
          <a:bodyPr wrap="square" lIns="228600" tIns="0" rIns="2286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PreToolUse</a:t>
            </a:r>
            <a:endParaRPr lang="en-US" sz="2000" dirty="0"/>
          </a:p>
        </p:txBody>
      </p:sp>
      <p:sp>
        <p:nvSpPr>
          <p:cNvPr id="11" name="s4-l2-cadre"/>
          <p:cNvSpPr/>
          <p:nvPr/>
        </p:nvSpPr>
        <p:spPr>
          <a:xfrm>
            <a:off x="1463040" y="4498848"/>
            <a:ext cx="996696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2B8C82"/>
            </a:solidFill>
            <a:prstDash val="solid"/>
          </a:ln>
        </p:spPr>
      </p:sp>
      <p:sp>
        <p:nvSpPr>
          <p:cNvPr id="12" name="s4-l2-num"/>
          <p:cNvSpPr txBox="1"/>
          <p:nvPr/>
        </p:nvSpPr>
        <p:spPr>
          <a:xfrm>
            <a:off x="812902" y="4599432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s4-l2-etiquette"/>
          <p:cNvSpPr txBox="1"/>
          <p:nvPr/>
        </p:nvSpPr>
        <p:spPr>
          <a:xfrm>
            <a:off x="1600200" y="45537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chemin le plus fiable</a:t>
            </a:r>
            <a:endParaRPr lang="en-US" sz="1600" dirty="0"/>
          </a:p>
        </p:txBody>
      </p:sp>
      <p:sp>
        <p:nvSpPr>
          <p:cNvPr id="14" name="s4-l2-detail"/>
          <p:cNvSpPr txBox="1"/>
          <p:nvPr/>
        </p:nvSpPr>
        <p:spPr>
          <a:xfrm>
            <a:off x="1600200" y="4846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Demander à Claude Code de configurer le hook, plutôt que l'écrire à la main.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 L'INTRODUIRE</a:t>
            </a:r>
            <a:endParaRPr lang="en-US" sz="1300" dirty="0"/>
          </a:p>
        </p:txBody>
      </p:sp>
      <p:sp>
        <p:nvSpPr>
          <p:cNvPr id="4" name="s5-enonce"/>
          <p:cNvSpPr txBox="1"/>
          <p:nvPr/>
        </p:nvSpPr>
        <p:spPr>
          <a:xfrm>
            <a:off x="812902" y="201168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besoin d'un hook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dès le premier projet.</a:t>
            </a:r>
            <a:endParaRPr lang="en-US" sz="3600" dirty="0"/>
          </a:p>
        </p:txBody>
      </p:sp>
      <p:sp>
        <p:nvSpPr>
          <p:cNvPr id="5" name="s5-appui"/>
          <p:cNvSpPr txBox="1"/>
          <p:nvPr/>
        </p:nvSpPr>
        <p:spPr>
          <a:xfrm>
            <a:off x="812902" y="438912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mécanisme à réserver au jour où un besoin récurrent de fiabilité se fait sentir.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4" name="s6-titre"/>
          <p:cNvSpPr txBox="1"/>
          <p:nvPr/>
        </p:nvSpPr>
        <p:spPr>
          <a:xfrm>
            <a:off x="812902" y="13716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règle automatique,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une instruction.</a:t>
            </a:r>
            <a:endParaRPr lang="en-US" sz="3000" dirty="0"/>
          </a:p>
        </p:txBody>
      </p:sp>
      <p:sp>
        <p:nvSpPr>
          <p:cNvPr id="5" name="s6-point-0"/>
          <p:cNvSpPr txBox="1"/>
          <p:nvPr/>
        </p:nvSpPr>
        <p:spPr>
          <a:xfrm>
            <a:off x="812902" y="29718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 : une règle qui se déclenche à un moment précis, systématiquement.</a:t>
            </a:r>
            <a:endParaRPr lang="en-US" sz="2200" dirty="0"/>
          </a:p>
        </p:txBody>
      </p:sp>
      <p:sp>
        <p:nvSpPr>
          <p:cNvPr id="6" name="s6-point-1"/>
          <p:cNvSpPr txBox="1"/>
          <p:nvPr/>
        </p:nvSpPr>
        <p:spPr>
          <a:xfrm>
            <a:off x="812902" y="3703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Indépendant de la vigilance du moment, contrairement à une instruction ponctuelle.</a:t>
            </a:r>
            <a:endParaRPr lang="en-US" sz="2200" dirty="0"/>
          </a:p>
        </p:txBody>
      </p:sp>
      <p:sp>
        <p:nvSpPr>
          <p:cNvPr id="7" name="s6-point-2"/>
          <p:cNvSpPr txBox="1"/>
          <p:nvPr/>
        </p:nvSpPr>
        <p:spPr>
          <a:xfrm>
            <a:off x="812902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Pertinent une fois un besoin de fiabilité identifié, pas dès le premier jour.</a:t>
            </a:r>
            <a:endParaRPr lang="en-US" sz="2200" dirty="0"/>
          </a:p>
        </p:txBody>
      </p:sp>
      <p:sp>
        <p:nvSpPr>
          <p:cNvPr id="8" name="s6-final"/>
          <p:cNvSpPr/>
          <p:nvPr/>
        </p:nvSpPr>
        <p:spPr>
          <a:xfrm>
            <a:off x="812902" y="5212080"/>
            <a:ext cx="10566806" cy="868680"/>
          </a:xfrm>
          <a:prstGeom prst="roundRect">
            <a:avLst>
              <a:gd name="adj" fmla="val 21053"/>
            </a:avLst>
          </a:prstGeom>
          <a:solidFill>
            <a:srgbClr val="FF7A4D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vidéo : structurer son projet, l'arborescence qui scale.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Vivier 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Hooks, automatiser Claude Code</dc:title>
  <dc:subject>Vivier IA, Module 1, section 3, chapitre 5</dc:subject>
  <dc:creator>Zézé Bilivogui</dc:creator>
  <cp:lastModifiedBy>Zézé Bilivogui</cp:lastModifiedBy>
  <cp:revision>1</cp:revision>
  <dcterms:created xsi:type="dcterms:W3CDTF">2026-09-22T01:02:13Z</dcterms:created>
  <dcterms:modified xsi:type="dcterms:W3CDTF">2026-09-22T01:02:13Z</dcterms:modified>
</cp:coreProperties>
</file>