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 : les outils, les permissions, les deux excès, le réflexe. Tout s'anime tout seul à l'ouverture de la diapositive.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0:21. Un clic par outil (4 clics), au moment où il est cité. Naviguer dans les dossiers fait aussi partie des outils. Chaque outil a un rôle délimité.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0:42. Clic 1 à « Une action réversible » : la carte « Action sûre ». Clic 2 à « Une action à impact plus large » : la carte « Action sensible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1:22. La ligne « Une action sensible » est déjà visible : le fichier est en fait référencé par la configuration Vercel, il évite une panne. Clic à « À l'inverse » : la ligne « Une action sûre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1:57. Clic 1 à « Le premier » : tout accepter. Clic 2 à « Le second » : tout refuser.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2:20. Un clic par geste (3 clics). Le réflexe devient rapide avec l'expérience, mais ne doit jamais disparaître. Ensuite, la démonstration du cadre d'autonomie se fait dans VS Code, sans diapositive.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3:56. Le titre apparaît seul. Puis un clic par point, et un dernier clic pour l'annonce de la prochaine vidéo (section 3, chapitre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3 · CHAPITRE 1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Premiers pas,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 principaux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permissions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savoir quand valider, et quand laisser faire.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outils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7946136" y="45262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permissions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1663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bon réflexe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CLAUDE CODE AGIT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des outils précis</a:t>
            </a:r>
            <a:endParaRPr lang="en-US" sz="3000" dirty="0"/>
          </a:p>
        </p:txBody>
      </p:sp>
      <p:sp>
        <p:nvSpPr>
          <p:cNvPr id="5" name="s2-c0-forme"/>
          <p:cNvSpPr/>
          <p:nvPr/>
        </p:nvSpPr>
        <p:spPr>
          <a:xfrm>
            <a:off x="812902" y="2377440"/>
            <a:ext cx="2367382" cy="3566160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2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2-c0-titre"/>
          <p:cNvSpPr txBox="1"/>
          <p:nvPr/>
        </p:nvSpPr>
        <p:spPr>
          <a:xfrm>
            <a:off x="1087222" y="3383280"/>
            <a:ext cx="18187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</a:t>
            </a:r>
            <a:endParaRPr lang="en-US" sz="2000" dirty="0"/>
          </a:p>
        </p:txBody>
      </p:sp>
      <p:sp>
        <p:nvSpPr>
          <p:cNvPr id="8" name="s2-c0-texte"/>
          <p:cNvSpPr txBox="1"/>
          <p:nvPr/>
        </p:nvSpPr>
        <p:spPr>
          <a:xfrm>
            <a:off x="1087222" y="4480560"/>
            <a:ext cx="18187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un fichier.</a:t>
            </a:r>
            <a:endParaRPr lang="en-US" sz="1500" dirty="0"/>
          </a:p>
        </p:txBody>
      </p:sp>
      <p:sp>
        <p:nvSpPr>
          <p:cNvPr id="9" name="s2-c1-forme"/>
          <p:cNvSpPr/>
          <p:nvPr/>
        </p:nvSpPr>
        <p:spPr>
          <a:xfrm>
            <a:off x="3546043" y="2377440"/>
            <a:ext cx="2367382" cy="3566160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2-c1-num"/>
          <p:cNvSpPr txBox="1"/>
          <p:nvPr/>
        </p:nvSpPr>
        <p:spPr>
          <a:xfrm>
            <a:off x="3820363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2-c1-titre"/>
          <p:cNvSpPr txBox="1"/>
          <p:nvPr/>
        </p:nvSpPr>
        <p:spPr>
          <a:xfrm>
            <a:off x="3820363" y="3383280"/>
            <a:ext cx="18187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Écrire</a:t>
            </a:r>
            <a:endParaRPr lang="en-US" sz="2000" dirty="0"/>
          </a:p>
        </p:txBody>
      </p:sp>
      <p:sp>
        <p:nvSpPr>
          <p:cNvPr id="12" name="s2-c1-texte"/>
          <p:cNvSpPr txBox="1"/>
          <p:nvPr/>
        </p:nvSpPr>
        <p:spPr>
          <a:xfrm>
            <a:off x="3820363" y="4480560"/>
            <a:ext cx="18187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ou modifier.</a:t>
            </a:r>
            <a:endParaRPr lang="en-US" sz="1500" dirty="0"/>
          </a:p>
        </p:txBody>
      </p:sp>
      <p:sp>
        <p:nvSpPr>
          <p:cNvPr id="13" name="s2-c2-forme"/>
          <p:cNvSpPr/>
          <p:nvPr/>
        </p:nvSpPr>
        <p:spPr>
          <a:xfrm>
            <a:off x="6279185" y="2377440"/>
            <a:ext cx="2367382" cy="3566160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2-c2-num"/>
          <p:cNvSpPr txBox="1"/>
          <p:nvPr/>
        </p:nvSpPr>
        <p:spPr>
          <a:xfrm>
            <a:off x="6553505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2-c2-titre"/>
          <p:cNvSpPr txBox="1"/>
          <p:nvPr/>
        </p:nvSpPr>
        <p:spPr>
          <a:xfrm>
            <a:off x="6553505" y="3383280"/>
            <a:ext cx="18187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</a:t>
            </a:r>
            <a:endParaRPr lang="en-US" sz="2000" dirty="0"/>
          </a:p>
        </p:txBody>
      </p:sp>
      <p:sp>
        <p:nvSpPr>
          <p:cNvPr id="16" name="s2-c2-texte"/>
          <p:cNvSpPr txBox="1"/>
          <p:nvPr/>
        </p:nvSpPr>
        <p:spPr>
          <a:xfrm>
            <a:off x="6553505" y="4480560"/>
            <a:ext cx="18187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une commande.</a:t>
            </a:r>
            <a:endParaRPr lang="en-US" sz="1500" dirty="0"/>
          </a:p>
        </p:txBody>
      </p:sp>
      <p:sp>
        <p:nvSpPr>
          <p:cNvPr id="17" name="s2-c3-forme"/>
          <p:cNvSpPr/>
          <p:nvPr/>
        </p:nvSpPr>
        <p:spPr>
          <a:xfrm>
            <a:off x="9012326" y="2377440"/>
            <a:ext cx="2367382" cy="3566160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8" name="s2-c3-num"/>
          <p:cNvSpPr txBox="1"/>
          <p:nvPr/>
        </p:nvSpPr>
        <p:spPr>
          <a:xfrm>
            <a:off x="9286646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19" name="s2-c3-titre"/>
          <p:cNvSpPr txBox="1"/>
          <p:nvPr/>
        </p:nvSpPr>
        <p:spPr>
          <a:xfrm>
            <a:off x="9286646" y="3383280"/>
            <a:ext cx="18187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Chercher</a:t>
            </a:r>
            <a:endParaRPr lang="en-US" sz="2000" dirty="0"/>
          </a:p>
        </p:txBody>
      </p:sp>
      <p:sp>
        <p:nvSpPr>
          <p:cNvPr id="20" name="s2-c3-texte"/>
          <p:cNvSpPr txBox="1"/>
          <p:nvPr/>
        </p:nvSpPr>
        <p:spPr>
          <a:xfrm>
            <a:off x="9286646" y="4480560"/>
            <a:ext cx="18187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Retrouver un mot.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SYSTÈME DE PERMISSION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principe de sécurité, pas une gêne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action sensible peut demander votre validation.</a:t>
            </a:r>
            <a:endParaRPr lang="en-US" sz="1800" dirty="0"/>
          </a:p>
        </p:txBody>
      </p:sp>
      <p:sp>
        <p:nvSpPr>
          <p:cNvPr id="6" name="s3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3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SÛRE</a:t>
            </a:r>
            <a:endParaRPr lang="en-US" sz="1300" dirty="0"/>
          </a:p>
        </p:txBody>
      </p:sp>
      <p:sp>
        <p:nvSpPr>
          <p:cNvPr id="8" name="s3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</a:t>
            </a:r>
            <a:endParaRPr lang="en-US" sz="2400" dirty="0"/>
          </a:p>
        </p:txBody>
      </p:sp>
      <p:sp>
        <p:nvSpPr>
          <p:cNvPr id="9" name="s3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fichier, chercher un mot dans le code.</a:t>
            </a:r>
            <a:endParaRPr lang="en-US" sz="1700" dirty="0"/>
          </a:p>
        </p:txBody>
      </p:sp>
      <p:sp>
        <p:nvSpPr>
          <p:cNvPr id="10" name="s3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3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SENSIBLE</a:t>
            </a:r>
            <a:endParaRPr lang="en-US" sz="1300" dirty="0"/>
          </a:p>
        </p:txBody>
      </p:sp>
      <p:sp>
        <p:nvSpPr>
          <p:cNvPr id="12" name="s3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explicite</a:t>
            </a:r>
            <a:endParaRPr lang="en-US" sz="2400" dirty="0"/>
          </a:p>
        </p:txBody>
      </p:sp>
      <p:sp>
        <p:nvSpPr>
          <p:cNvPr id="13" name="s3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un fichier, modifier des données, pousser du code en ligne.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L'EXEMPLE : UN FICHIER QUI SEMBLE INUTILISÉ</a:t>
            </a:r>
            <a:endParaRPr lang="en-US" sz="1300" dirty="0"/>
          </a:p>
        </p:txBody>
      </p:sp>
      <p:sp>
        <p:nvSpPr>
          <p:cNvPr id="4" name="s4-r0-etiquette"/>
          <p:cNvSpPr txBox="1"/>
          <p:nvPr/>
        </p:nvSpPr>
        <p:spPr>
          <a:xfrm>
            <a:off x="812902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ACTION SENSIBLE</a:t>
            </a:r>
            <a:endParaRPr lang="en-US" sz="1300" dirty="0"/>
          </a:p>
        </p:txBody>
      </p:sp>
      <p:sp>
        <p:nvSpPr>
          <p:cNvPr id="5" name="s4-r0-b0"/>
          <p:cNvSpPr/>
          <p:nvPr/>
        </p:nvSpPr>
        <p:spPr>
          <a:xfrm>
            <a:off x="812902" y="1874520"/>
            <a:ext cx="2482850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Suppression</a:t>
            </a:r>
            <a:endParaRPr lang="en-US" sz="2200" dirty="0"/>
          </a:p>
        </p:txBody>
      </p:sp>
      <p:sp>
        <p:nvSpPr>
          <p:cNvPr id="6" name="s4-r0-f0"/>
          <p:cNvSpPr/>
          <p:nvPr/>
        </p:nvSpPr>
        <p:spPr>
          <a:xfrm>
            <a:off x="3524352" y="214884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7" name="s4-r0-b1"/>
          <p:cNvSpPr/>
          <p:nvPr/>
        </p:nvSpPr>
        <p:spPr>
          <a:xfrm>
            <a:off x="4245077" y="1874520"/>
            <a:ext cx="3067050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attentive</a:t>
            </a:r>
            <a:endParaRPr lang="en-US" sz="2200" dirty="0"/>
          </a:p>
        </p:txBody>
      </p:sp>
      <p:sp>
        <p:nvSpPr>
          <p:cNvPr id="8" name="s4-r0-f1"/>
          <p:cNvSpPr/>
          <p:nvPr/>
        </p:nvSpPr>
        <p:spPr>
          <a:xfrm>
            <a:off x="7540727" y="214884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9" name="s4-r0-b2"/>
          <p:cNvSpPr/>
          <p:nvPr/>
        </p:nvSpPr>
        <p:spPr>
          <a:xfrm>
            <a:off x="8261452" y="1874520"/>
            <a:ext cx="3067050" cy="914400"/>
          </a:xfrm>
          <a:prstGeom prst="roundRect">
            <a:avLst>
              <a:gd name="adj" fmla="val 15000"/>
            </a:avLst>
          </a:prstGeom>
          <a:solidFill>
            <a:srgbClr val="2B8C82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Refusée, à vérifier</a:t>
            </a:r>
            <a:endParaRPr lang="en-US" sz="2200" dirty="0"/>
          </a:p>
        </p:txBody>
      </p:sp>
      <p:sp>
        <p:nvSpPr>
          <p:cNvPr id="10" name="s4-r1-etiquette"/>
          <p:cNvSpPr txBox="1"/>
          <p:nvPr/>
        </p:nvSpPr>
        <p:spPr>
          <a:xfrm>
            <a:off x="812902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ACTION SÛRE</a:t>
            </a:r>
            <a:endParaRPr lang="en-US" sz="1300" dirty="0"/>
          </a:p>
        </p:txBody>
      </p:sp>
      <p:sp>
        <p:nvSpPr>
          <p:cNvPr id="11" name="s4-r1-b0"/>
          <p:cNvSpPr/>
          <p:nvPr/>
        </p:nvSpPr>
        <p:spPr>
          <a:xfrm>
            <a:off x="812902" y="3611880"/>
            <a:ext cx="3067050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d'un fichier</a:t>
            </a:r>
            <a:endParaRPr lang="en-US" sz="2200" dirty="0"/>
          </a:p>
        </p:txBody>
      </p:sp>
      <p:sp>
        <p:nvSpPr>
          <p:cNvPr id="12" name="s4-r1-f0"/>
          <p:cNvSpPr/>
          <p:nvPr/>
        </p:nvSpPr>
        <p:spPr>
          <a:xfrm>
            <a:off x="4108552" y="388620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13" name="s4-r1-b1"/>
          <p:cNvSpPr/>
          <p:nvPr/>
        </p:nvSpPr>
        <p:spPr>
          <a:xfrm>
            <a:off x="4829277" y="3611880"/>
            <a:ext cx="2482850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risque</a:t>
            </a:r>
            <a:endParaRPr lang="en-US" sz="2200" dirty="0"/>
          </a:p>
        </p:txBody>
      </p:sp>
      <p:sp>
        <p:nvSpPr>
          <p:cNvPr id="14" name="s4-r1-f1"/>
          <p:cNvSpPr/>
          <p:nvPr/>
        </p:nvSpPr>
        <p:spPr>
          <a:xfrm>
            <a:off x="7540727" y="388620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15" name="s4-r1-b2"/>
          <p:cNvSpPr/>
          <p:nvPr/>
        </p:nvSpPr>
        <p:spPr>
          <a:xfrm>
            <a:off x="8261452" y="3611880"/>
            <a:ext cx="3067050" cy="914400"/>
          </a:xfrm>
          <a:prstGeom prst="roundRect">
            <a:avLst>
              <a:gd name="adj" fmla="val 15000"/>
            </a:avLst>
          </a:prstGeom>
          <a:solidFill>
            <a:srgbClr val="2B8C82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Validée sans souci</a:t>
            </a:r>
            <a:endParaRPr lang="en-US" sz="2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DEUX EXCÈS À ÉVITER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bouton « oui », ni méfiance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excès symétriques.</a:t>
            </a:r>
            <a:endParaRPr lang="en-US" sz="1800" dirty="0"/>
          </a:p>
        </p:txBody>
      </p:sp>
      <p:sp>
        <p:nvSpPr>
          <p:cNvPr id="6" name="s5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5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EXCÈS 1</a:t>
            </a:r>
            <a:endParaRPr lang="en-US" sz="1300" dirty="0"/>
          </a:p>
        </p:txBody>
      </p:sp>
      <p:sp>
        <p:nvSpPr>
          <p:cNvPr id="8" name="s5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accepter</a:t>
            </a:r>
            <a:endParaRPr lang="en-US" sz="2400" dirty="0"/>
          </a:p>
        </p:txBody>
      </p:sp>
      <p:sp>
        <p:nvSpPr>
          <p:cNvPr id="9" name="s5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devenez un simple bouton « oui ».</a:t>
            </a:r>
            <a:endParaRPr lang="en-US" sz="1700" dirty="0"/>
          </a:p>
        </p:txBody>
      </p:sp>
      <p:sp>
        <p:nvSpPr>
          <p:cNvPr id="10" name="s5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5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EXCÈS 2</a:t>
            </a:r>
            <a:endParaRPr lang="en-US" sz="1300" dirty="0"/>
          </a:p>
        </p:txBody>
      </p:sp>
      <p:sp>
        <p:nvSpPr>
          <p:cNvPr id="12" name="s5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refuser</a:t>
            </a:r>
            <a:endParaRPr lang="en-US" sz="2400" dirty="0"/>
          </a:p>
        </p:txBody>
      </p:sp>
      <p:sp>
        <p:nvSpPr>
          <p:cNvPr id="13" name="s5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travail ralentit, la vitesse est perdue.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BON RÉFLEXE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gestes, dès les premiers pas</a:t>
            </a:r>
            <a:endParaRPr lang="en-US" sz="2800" dirty="0"/>
          </a:p>
        </p:txBody>
      </p:sp>
      <p:sp>
        <p:nvSpPr>
          <p:cNvPr id="5" name="s6-l0-cadre"/>
          <p:cNvSpPr/>
          <p:nvPr/>
        </p:nvSpPr>
        <p:spPr>
          <a:xfrm>
            <a:off x="1463040" y="2121408"/>
            <a:ext cx="996696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B8C82"/>
            </a:solidFill>
            <a:prstDash val="solid"/>
          </a:ln>
        </p:spPr>
      </p:sp>
      <p:sp>
        <p:nvSpPr>
          <p:cNvPr id="6" name="s6-l0-num"/>
          <p:cNvSpPr txBox="1"/>
          <p:nvPr/>
        </p:nvSpPr>
        <p:spPr>
          <a:xfrm>
            <a:off x="812902" y="222199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6-l0-etiquette"/>
          <p:cNvSpPr txBox="1"/>
          <p:nvPr/>
        </p:nvSpPr>
        <p:spPr>
          <a:xfrm>
            <a:off x="1600200" y="2176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</a:t>
            </a:r>
            <a:endParaRPr lang="en-US" sz="1600" dirty="0"/>
          </a:p>
        </p:txBody>
      </p:sp>
      <p:sp>
        <p:nvSpPr>
          <p:cNvPr id="8" name="s6-l0-detail"/>
          <p:cNvSpPr txBox="1"/>
          <p:nvPr/>
        </p:nvSpPr>
        <p:spPr>
          <a:xfrm>
            <a:off x="1600200" y="2468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proposé, en entier.</a:t>
            </a:r>
            <a:endParaRPr lang="en-US" sz="1800" dirty="0"/>
          </a:p>
        </p:txBody>
      </p:sp>
      <p:sp>
        <p:nvSpPr>
          <p:cNvPr id="9" name="s6-l1-cadre"/>
          <p:cNvSpPr/>
          <p:nvPr/>
        </p:nvSpPr>
        <p:spPr>
          <a:xfrm>
            <a:off x="1463040" y="3310128"/>
            <a:ext cx="996696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B8C82"/>
            </a:solidFill>
            <a:prstDash val="solid"/>
          </a:ln>
        </p:spPr>
      </p:sp>
      <p:sp>
        <p:nvSpPr>
          <p:cNvPr id="10" name="s6-l1-num"/>
          <p:cNvSpPr txBox="1"/>
          <p:nvPr/>
        </p:nvSpPr>
        <p:spPr>
          <a:xfrm>
            <a:off x="812902" y="341071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6-l1-etiquette"/>
          <p:cNvSpPr txBox="1"/>
          <p:nvPr/>
        </p:nvSpPr>
        <p:spPr>
          <a:xfrm>
            <a:off x="1600200" y="3364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l'impact</a:t>
            </a:r>
            <a:endParaRPr lang="en-US" sz="1600" dirty="0"/>
          </a:p>
        </p:txBody>
      </p:sp>
      <p:sp>
        <p:nvSpPr>
          <p:cNvPr id="12" name="s6-l1-detail"/>
          <p:cNvSpPr txBox="1"/>
          <p:nvPr/>
        </p:nvSpPr>
        <p:spPr>
          <a:xfrm>
            <a:off x="1600200" y="3657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change si je dis oui ? Est-ce réversible ?</a:t>
            </a:r>
            <a:endParaRPr lang="en-US" sz="1800" dirty="0"/>
          </a:p>
        </p:txBody>
      </p:sp>
      <p:sp>
        <p:nvSpPr>
          <p:cNvPr id="13" name="s6-l2-cadre"/>
          <p:cNvSpPr/>
          <p:nvPr/>
        </p:nvSpPr>
        <p:spPr>
          <a:xfrm>
            <a:off x="1463040" y="4498848"/>
            <a:ext cx="996696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B8C82"/>
            </a:solidFill>
            <a:prstDash val="solid"/>
          </a:ln>
        </p:spPr>
      </p:sp>
      <p:sp>
        <p:nvSpPr>
          <p:cNvPr id="14" name="s6-l2-num"/>
          <p:cNvSpPr txBox="1"/>
          <p:nvPr/>
        </p:nvSpPr>
        <p:spPr>
          <a:xfrm>
            <a:off x="812902" y="459943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s6-l2-etiquette"/>
          <p:cNvSpPr txBox="1"/>
          <p:nvPr/>
        </p:nvSpPr>
        <p:spPr>
          <a:xfrm>
            <a:off x="1600200" y="4553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Décider</a:t>
            </a:r>
            <a:endParaRPr lang="en-US" sz="1600" dirty="0"/>
          </a:p>
        </p:txBody>
      </p:sp>
      <p:sp>
        <p:nvSpPr>
          <p:cNvPr id="16" name="s6-l2-detail"/>
          <p:cNvSpPr txBox="1"/>
          <p:nvPr/>
        </p:nvSpPr>
        <p:spPr>
          <a:xfrm>
            <a:off x="1600200" y="4846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Valider, refuser, ou demander une vérification.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7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avant de valider 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confiance aveugle, ni méfiance.</a:t>
            </a:r>
            <a:endParaRPr lang="en-US" sz="3000" dirty="0"/>
          </a:p>
        </p:txBody>
      </p:sp>
      <p:sp>
        <p:nvSpPr>
          <p:cNvPr id="5" name="s7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outil a un rôle précis : lire, écrire, exécuter, chercher.</a:t>
            </a:r>
            <a:endParaRPr lang="en-US" sz="2200" dirty="0"/>
          </a:p>
        </p:txBody>
      </p:sp>
      <p:sp>
        <p:nvSpPr>
          <p:cNvPr id="6" name="s7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actions sensibles demandent une validation, les sûres non.</a:t>
            </a:r>
            <a:endParaRPr lang="en-US" sz="2200" dirty="0"/>
          </a:p>
        </p:txBody>
      </p:sp>
      <p:sp>
        <p:nvSpPr>
          <p:cNvPr id="7" name="s7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Lire, comprendre l'impact, puis décider.</a:t>
            </a:r>
            <a:endParaRPr lang="en-US" sz="2200" dirty="0"/>
          </a:p>
        </p:txBody>
      </p:sp>
      <p:sp>
        <p:nvSpPr>
          <p:cNvPr id="8" name="s7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CLAUDE.md, le cerveau de votre projet.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Premiers pas, outils principaux et permissions</dc:title>
  <dc:subject>Vivier IA, Module 1, section 3, chapitre 1</dc:subject>
  <dc:creator>Zézé Bilivogui</dc:creator>
  <cp:lastModifiedBy>Zézé Bilivogui</cp:lastModifiedBy>
  <cp:revision>1</cp:revision>
  <dcterms:created xsi:type="dcterms:W3CDTF">2026-09-21T08:32:30Z</dcterms:created>
  <dcterms:modified xsi:type="dcterms:W3CDTF">2026-09-21T08:32:30Z</dcterms:modified>
</cp:coreProperties>
</file>