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ce que MCP résout, comment le déclarer, et une connexion réelle en direct. Tout s'anime tout seul à l'ouverture de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0:19 (Sans MCP, clic 1) puis 0:39 (Avec MCP, clic 2). MCP veut dire Model Context Protocol. Exemples cités : Notion, Google Drive, une base de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1:00. La carte « Rédiger et enregistrer » est visible. Clic à « Puis un second agent » : la carte « Générer et attacher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1:18. Un clic par ligne (3 clics). Ensuite, la démonstration se fait dans VS Code, sans diapositive : création du fichier, relance, autorisation, puis ouverture du site dans le navigateur.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3:23. Un clic par carte (3 clics). Ce sont les garde-fous du cours, valables pour n'importe quel service connecté.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3:41. Le titre apparaît seul. Puis un clic par point, et un dernier clic pour l'annonce de la prochaine vidéo (section 3, chapitre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3 · CHAPITRE 4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MCP, connecter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à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écosystème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connecter un serveur MCP réel.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ça résout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le déclarer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connexion réelle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 QUE MCP RÉSOUT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travail réel dépasse le projet local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grande partie se passe ailleurs.</a:t>
            </a:r>
            <a:endParaRPr lang="en-US" sz="1800" dirty="0"/>
          </a:p>
        </p:txBody>
      </p:sp>
      <p:sp>
        <p:nvSpPr>
          <p:cNvPr id="6" name="s2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2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MCP</a:t>
            </a:r>
            <a:endParaRPr lang="en-US" sz="1300" dirty="0"/>
          </a:p>
        </p:txBody>
      </p:sp>
      <p:sp>
        <p:nvSpPr>
          <p:cNvPr id="8" name="s2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Seulement le local</a:t>
            </a:r>
            <a:endParaRPr lang="en-US" sz="2400" dirty="0"/>
          </a:p>
        </p:txBody>
      </p:sp>
      <p:sp>
        <p:nvSpPr>
          <p:cNvPr id="9" name="s2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fichiers du projet, rien d'autre.</a:t>
            </a:r>
            <a:endParaRPr lang="en-US" sz="1700" dirty="0"/>
          </a:p>
        </p:txBody>
      </p:sp>
      <p:sp>
        <p:nvSpPr>
          <p:cNvPr id="10" name="s2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2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MCP</a:t>
            </a:r>
            <a:endParaRPr lang="en-US" sz="1300" dirty="0"/>
          </a:p>
        </p:txBody>
      </p:sp>
      <p:sp>
        <p:nvSpPr>
          <p:cNvPr id="12" name="s2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outils connectés</a:t>
            </a:r>
            <a:endParaRPr lang="en-US" sz="2400" dirty="0"/>
          </a:p>
        </p:txBody>
      </p:sp>
      <p:sp>
        <p:nvSpPr>
          <p:cNvPr id="13" name="s2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lit et écrit directement dedans,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votre autorisation.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EXEMPLE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agents, zéro copier-coller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se fait directement dans l'outil.</a:t>
            </a:r>
            <a:endParaRPr lang="en-US" sz="1800" dirty="0"/>
          </a:p>
        </p:txBody>
      </p:sp>
      <p:sp>
        <p:nvSpPr>
          <p:cNvPr id="6" name="s3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3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RÉDIGER ET ENREGISTRER</a:t>
            </a:r>
            <a:endParaRPr lang="en-US" sz="1300" dirty="0"/>
          </a:p>
        </p:txBody>
      </p:sp>
      <p:sp>
        <p:nvSpPr>
          <p:cNvPr id="8" name="s3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agent de contenu</a:t>
            </a:r>
            <a:endParaRPr lang="en-US" sz="2400" dirty="0"/>
          </a:p>
        </p:txBody>
      </p:sp>
      <p:sp>
        <p:nvSpPr>
          <p:cNvPr id="9" name="s3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puis enregistre directement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une base partagée.</a:t>
            </a:r>
            <a:endParaRPr lang="en-US" sz="1700" dirty="0"/>
          </a:p>
        </p:txBody>
      </p:sp>
      <p:sp>
        <p:nvSpPr>
          <p:cNvPr id="10" name="s3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3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 ET ATTACHER</a:t>
            </a:r>
            <a:endParaRPr lang="en-US" sz="1300" dirty="0"/>
          </a:p>
        </p:txBody>
      </p:sp>
      <p:sp>
        <p:nvSpPr>
          <p:cNvPr id="12" name="s3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second agent</a:t>
            </a:r>
            <a:endParaRPr lang="en-US" sz="2400" dirty="0"/>
          </a:p>
        </p:txBody>
      </p:sp>
      <p:sp>
        <p:nvSpPr>
          <p:cNvPr id="13" name="s3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un visuel et l'attache automatiquement au bon endroit.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L'INSTALLATION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fichier, une autorisation</a:t>
            </a:r>
            <a:endParaRPr lang="en-US" sz="2800" dirty="0"/>
          </a:p>
        </p:txBody>
      </p:sp>
      <p:sp>
        <p:nvSpPr>
          <p:cNvPr id="5" name="s4-l0-num"/>
          <p:cNvSpPr txBox="1"/>
          <p:nvPr/>
        </p:nvSpPr>
        <p:spPr>
          <a:xfrm>
            <a:off x="812902" y="25786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4-l0-etiquette"/>
          <p:cNvSpPr txBox="1"/>
          <p:nvPr/>
        </p:nvSpPr>
        <p:spPr>
          <a:xfrm>
            <a:off x="1600200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à créer, à la racine du projet</a:t>
            </a:r>
            <a:endParaRPr lang="en-US" sz="1600" dirty="0"/>
          </a:p>
        </p:txBody>
      </p:sp>
      <p:sp>
        <p:nvSpPr>
          <p:cNvPr id="7" name="s4-l0-code"/>
          <p:cNvSpPr/>
          <p:nvPr/>
        </p:nvSpPr>
        <p:spPr>
          <a:xfrm>
            <a:off x="1600200" y="2578608"/>
            <a:ext cx="2194834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endParaRPr lang="en-US" sz="2000" dirty="0"/>
          </a:p>
        </p:txBody>
      </p:sp>
      <p:sp>
        <p:nvSpPr>
          <p:cNvPr id="8" name="s4-l1-num"/>
          <p:cNvSpPr txBox="1"/>
          <p:nvPr/>
        </p:nvSpPr>
        <p:spPr>
          <a:xfrm>
            <a:off x="812902" y="37673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4-l1-etiquette"/>
          <p:cNvSpPr txBox="1"/>
          <p:nvPr/>
        </p:nvSpPr>
        <p:spPr>
          <a:xfrm>
            <a:off x="1600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de cet exemple (Playwright)</a:t>
            </a:r>
            <a:endParaRPr lang="en-US" sz="1600" dirty="0"/>
          </a:p>
        </p:txBody>
      </p:sp>
      <p:sp>
        <p:nvSpPr>
          <p:cNvPr id="10" name="s4-l1-code"/>
          <p:cNvSpPr/>
          <p:nvPr/>
        </p:nvSpPr>
        <p:spPr>
          <a:xfrm>
            <a:off x="1600200" y="3767328"/>
            <a:ext cx="4786152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@playwright/mcp@latest</a:t>
            </a:r>
            <a:endParaRPr lang="en-US" sz="2000" dirty="0"/>
          </a:p>
        </p:txBody>
      </p:sp>
      <p:sp>
        <p:nvSpPr>
          <p:cNvPr id="11" name="s4-l2-cadre"/>
          <p:cNvSpPr/>
          <p:nvPr/>
        </p:nvSpPr>
        <p:spPr>
          <a:xfrm>
            <a:off x="1463040" y="449884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2" name="s4-l2-num"/>
          <p:cNvSpPr txBox="1"/>
          <p:nvPr/>
        </p:nvSpPr>
        <p:spPr>
          <a:xfrm>
            <a:off x="812902" y="45994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4-l2-etiquette"/>
          <p:cNvSpPr txBox="1"/>
          <p:nvPr/>
        </p:nvSpPr>
        <p:spPr>
          <a:xfrm>
            <a:off x="160020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Windows, sans Node.js déjà en place</a:t>
            </a:r>
            <a:endParaRPr lang="en-US" sz="1600" dirty="0"/>
          </a:p>
        </p:txBody>
      </p:sp>
      <p:sp>
        <p:nvSpPr>
          <p:cNvPr id="14" name="s4-l2-detail"/>
          <p:cNvSpPr txBox="1"/>
          <p:nvPr/>
        </p:nvSpPr>
        <p:spPr>
          <a:xfrm>
            <a:off x="1600200" y="4846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doit être accessible dans le PATH, sinon la connexion échoue par timeout.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POINT DE VIGILANCE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de connexions, plus de rigueur</a:t>
            </a:r>
            <a:endParaRPr lang="en-US" sz="3000" dirty="0"/>
          </a:p>
        </p:txBody>
      </p:sp>
      <p:sp>
        <p:nvSpPr>
          <p:cNvPr id="5" name="s5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5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5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pas inventer</a:t>
            </a:r>
            <a:endParaRPr lang="en-US" sz="2000" dirty="0"/>
          </a:p>
        </p:txBody>
      </p:sp>
      <p:sp>
        <p:nvSpPr>
          <p:cNvPr id="8" name="s5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propriété qui n'existe pas déjà dans l'outil connecté.</a:t>
            </a:r>
            <a:endParaRPr lang="en-US" sz="1500" dirty="0"/>
          </a:p>
        </p:txBody>
      </p:sp>
      <p:sp>
        <p:nvSpPr>
          <p:cNvPr id="9" name="s5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5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5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d'implicite</a:t>
            </a:r>
            <a:endParaRPr lang="en-US" sz="2000" dirty="0"/>
          </a:p>
        </p:txBody>
      </p:sp>
      <p:sp>
        <p:nvSpPr>
          <p:cNvPr id="12" name="s5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modification qui n'a pas été explicitement demandée.</a:t>
            </a:r>
            <a:endParaRPr lang="en-US" sz="1500" dirty="0"/>
          </a:p>
        </p:txBody>
      </p:sp>
      <p:sp>
        <p:nvSpPr>
          <p:cNvPr id="13" name="s5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5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5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vérifier</a:t>
            </a:r>
            <a:endParaRPr lang="en-US" sz="2000" dirty="0"/>
          </a:p>
        </p:txBody>
      </p:sp>
      <p:sp>
        <p:nvSpPr>
          <p:cNvPr id="16" name="s5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qu'une action a réellement réussi,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le supposer.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outils extérieurs,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 votre autorisation.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connecte Claude Code à des services externes au projet local.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agit directement dedans, avec votre autorisation préalable.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connexions veut dire plus de vigilance sur le périmètre.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les Hooks, pour automatiser Claude Code.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MCP, connecter Claude Code à votre écosystème</dc:title>
  <dc:subject>Vivier IA, Module 1, section 3, chapitre 4</dc:subject>
  <dc:creator>Zézé Bilivogui</dc:creator>
  <cp:lastModifiedBy>Zézé Bilivogui</cp:lastModifiedBy>
  <cp:revision>1</cp:revision>
  <dcterms:created xsi:type="dcterms:W3CDTF">2026-09-22T00:58:00Z</dcterms:created>
  <dcterms:modified xsi:type="dcterms:W3CDTF">2026-09-22T00:58:00Z</dcterms:modified>
</cp:coreProperties>
</file>