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pourquoi la dimension économique compte, trois leviers, et un découpage réel en direct. Dernier chapitre de la section.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0:18 (titre seul) puis 0:39, un clic par carte (3 clics). Ignorer le coût peut transformer un projet rentable sur le papier en projet qui coûte plus cher qu'il ne rapporte.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1:03. Clic 1 : la carte « Tout régénérer ». Clic 2 : la carte « Cibler précisément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1:18. La phrase apparaît seule, puis un clic pour l'appui. C'est une compétence de gestion, pas seulement une compétence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2:32. Le titre apparaît seul, puis un clic par point, et un dernier clic pour l'annonce.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2:49. Rangée visible dès l'ouverture, clic pour la phrase d'annonce. Signal de passage complet de l'étape 3 du guide de réussite : si ce n'est pas encore acquis, reprendre le chapitre concerné avant d'avancer.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3 · CHAPITRE 7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les coûts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intelligemment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maîtriser le coût sans perdre en qualité.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ça compte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860536" y="4526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leviers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découpage réel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LEVIERS DE MAÎTRISE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façons de maîtriser le coût</a:t>
            </a:r>
            <a:endParaRPr lang="en-US" sz="3000" dirty="0"/>
          </a:p>
        </p:txBody>
      </p:sp>
      <p:sp>
        <p:nvSpPr>
          <p:cNvPr id="5" name="s2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2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2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Cadrer précisément</a:t>
            </a:r>
            <a:endParaRPr lang="en-US" sz="2000" dirty="0"/>
          </a:p>
        </p:txBody>
      </p:sp>
      <p:sp>
        <p:nvSpPr>
          <p:cNvPr id="8" name="s2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les allers-retours inutiles.</a:t>
            </a:r>
            <a:endParaRPr lang="en-US" sz="1500" dirty="0"/>
          </a:p>
        </p:txBody>
      </p:sp>
      <p:sp>
        <p:nvSpPr>
          <p:cNvPr id="9" name="s2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2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2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Découper la tâche</a:t>
            </a:r>
            <a:endParaRPr lang="en-US" sz="2000" dirty="0"/>
          </a:p>
        </p:txBody>
      </p:sp>
      <p:sp>
        <p:nvSpPr>
          <p:cNvPr id="12" name="s2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de tout recommencer après une erreur.</a:t>
            </a:r>
            <a:endParaRPr lang="en-US" sz="1500" dirty="0"/>
          </a:p>
        </p:txBody>
      </p:sp>
      <p:sp>
        <p:nvSpPr>
          <p:cNvPr id="13" name="s2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2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2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Réserver le lourd</a:t>
            </a:r>
            <a:endParaRPr lang="en-US" sz="2000" dirty="0"/>
          </a:p>
        </p:txBody>
      </p:sp>
      <p:sp>
        <p:nvSpPr>
          <p:cNvPr id="16" name="s2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moments où c'est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vraiment nécessaire.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Cibler, plutôt que tout refaire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résultat, pour une fraction du coût.</a:t>
            </a:r>
            <a:endParaRPr lang="en-US" sz="1800" dirty="0"/>
          </a:p>
        </p:txBody>
      </p:sp>
      <p:sp>
        <p:nvSpPr>
          <p:cNvPr id="6" name="s3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3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RÉGÉNÉRER</a:t>
            </a:r>
            <a:endParaRPr lang="en-US" sz="1300" dirty="0"/>
          </a:p>
        </p:txBody>
      </p:sp>
      <p:sp>
        <p:nvSpPr>
          <p:cNvPr id="8" name="s3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module entier</a:t>
            </a:r>
            <a:endParaRPr lang="en-US" sz="2400" dirty="0"/>
          </a:p>
        </p:txBody>
      </p:sp>
      <p:sp>
        <p:nvSpPr>
          <p:cNvPr id="9" name="s3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corriger un seul paragraphe mal formulé.</a:t>
            </a:r>
            <a:endParaRPr lang="en-US" sz="1700" dirty="0"/>
          </a:p>
        </p:txBody>
      </p:sp>
      <p:sp>
        <p:nvSpPr>
          <p:cNvPr id="10" name="s3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3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CIBLER PRÉCISÉMENT</a:t>
            </a:r>
            <a:endParaRPr lang="en-US" sz="1300" dirty="0"/>
          </a:p>
        </p:txBody>
      </p:sp>
      <p:sp>
        <p:nvSpPr>
          <p:cNvPr id="12" name="s3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paragraphe concerné</a:t>
            </a:r>
            <a:endParaRPr lang="en-US" sz="2400" dirty="0"/>
          </a:p>
        </p:txBody>
      </p:sp>
      <p:sp>
        <p:nvSpPr>
          <p:cNvPr id="13" name="s3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résultat final, coût très réduit.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UNE ACTIVITÉ FACTURÉE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coût d'usage entre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calcul de rentabilité.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marge confortable au devis peut disparaître avec un usage d'IA mal maîtrisé.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5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Maîtriser le coût,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sacrifier la qualité.</a:t>
            </a:r>
            <a:endParaRPr lang="en-US" sz="3000" dirty="0"/>
          </a:p>
        </p:txBody>
      </p:sp>
      <p:sp>
        <p:nvSpPr>
          <p:cNvPr id="5" name="s5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d'usage entre dans le calcul de rentabilité, jamais ignoré.</a:t>
            </a:r>
            <a:endParaRPr lang="en-US" sz="2200" dirty="0"/>
          </a:p>
        </p:txBody>
      </p:sp>
      <p:sp>
        <p:nvSpPr>
          <p:cNvPr id="6" name="s5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cadrage précis réduit fortement les recommencements coûteux.</a:t>
            </a:r>
            <a:endParaRPr lang="en-US" sz="2200" dirty="0"/>
          </a:p>
        </p:txBody>
      </p:sp>
      <p:sp>
        <p:nvSpPr>
          <p:cNvPr id="7" name="s5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les tâches limite le risque de tout reprendre trop tard.</a:t>
            </a:r>
            <a:endParaRPr lang="en-US" sz="2200" dirty="0"/>
          </a:p>
        </p:txBody>
      </p:sp>
      <p:sp>
        <p:nvSpPr>
          <p:cNvPr id="8" name="s5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section : le signal de passage sur la diapositive suivante.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SECTION 3</a:t>
            </a:r>
            <a:endParaRPr lang="en-US" sz="1300" dirty="0"/>
          </a:p>
        </p:txBody>
      </p:sp>
      <p:sp>
        <p:nvSpPr>
          <p:cNvPr id="4" name="s6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DE PASSAGE</a:t>
            </a:r>
            <a:endParaRPr lang="en-US" sz="1300" dirty="0"/>
          </a:p>
        </p:txBody>
      </p:sp>
      <p:sp>
        <p:nvSpPr>
          <p:cNvPr id="5" name="s6-r0-b0"/>
          <p:cNvSpPr/>
          <p:nvPr/>
        </p:nvSpPr>
        <p:spPr>
          <a:xfrm>
            <a:off x="812902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à jour</a:t>
            </a:r>
            <a:endParaRPr lang="en-US" sz="2200" dirty="0"/>
          </a:p>
        </p:txBody>
      </p:sp>
      <p:sp>
        <p:nvSpPr>
          <p:cNvPr id="6" name="s6-r0-f0"/>
          <p:cNvSpPr/>
          <p:nvPr/>
        </p:nvSpPr>
        <p:spPr>
          <a:xfrm>
            <a:off x="4108552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7" name="s6-r0-b1"/>
          <p:cNvSpPr/>
          <p:nvPr/>
        </p:nvSpPr>
        <p:spPr>
          <a:xfrm>
            <a:off x="4829277" y="1874520"/>
            <a:ext cx="2482850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actif</a:t>
            </a:r>
            <a:endParaRPr lang="en-US" sz="2200" dirty="0"/>
          </a:p>
        </p:txBody>
      </p:sp>
      <p:sp>
        <p:nvSpPr>
          <p:cNvPr id="8" name="s6-r0-f1"/>
          <p:cNvSpPr/>
          <p:nvPr/>
        </p:nvSpPr>
        <p:spPr>
          <a:xfrm>
            <a:off x="7540727" y="214884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9" name="s6-r0-b2"/>
          <p:cNvSpPr/>
          <p:nvPr/>
        </p:nvSpPr>
        <p:spPr>
          <a:xfrm>
            <a:off x="8261452" y="1874520"/>
            <a:ext cx="3067050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théorie</a:t>
            </a:r>
            <a:endParaRPr lang="en-US" sz="2200" dirty="0"/>
          </a:p>
        </p:txBody>
      </p:sp>
      <p:sp>
        <p:nvSpPr>
          <p:cNvPr id="10" name="s6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section : Claude Code au quotidien.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Gérer les coûts intelligemment</dc:title>
  <dc:subject>Vivier IA, Module 1, section 3, chapitre 7</dc:subject>
  <dc:creator>Zézé Bilivogui</dc:creator>
  <cp:lastModifiedBy>Zézé Bilivogui</cp:lastModifiedBy>
  <cp:revision>1</cp:revision>
  <dcterms:created xsi:type="dcterms:W3CDTF">2026-09-22T01:28:41Z</dcterms:created>
  <dcterms:modified xsi:type="dcterms:W3CDTF">2026-09-22T01:28:41Z</dcterms:modified>
</cp:coreProperties>
</file>