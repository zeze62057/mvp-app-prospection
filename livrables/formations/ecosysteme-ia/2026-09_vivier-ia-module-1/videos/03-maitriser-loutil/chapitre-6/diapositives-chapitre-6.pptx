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0:00. Accroche et annonce du plan : l'impact d'une bonne organisation, ce qui se passe quand elle manque, et un audit réel en direct. Tout s'anime tout seul à l'ouverture.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Moments du script : 0:19 (titre seul) puis 0:38, un clic par carte (3 clics). La quatrième idée du script, séparer ce qui est livré du travail en cours, reste dans la voix off et le récapitulatif final, sans carte dédiée. Cette séparation reste valable quelle que soit la taille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0:56. Clic 1 : la carte « Bonne structure ». Clic 2 : la carte « Structure qui manque ». Même avec un agent très compétent, un désordre croissant ralentit le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3:15. La phrase apparaît seule, puis un clic pour l'appui. C'est le principe de l'arborescence qui scale : le bon réflexe est de la poser 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3:33. Le titre apparaît seul. Puis un clic par point, et un dernier clic pour l'annonce de la prochaine vidéo (section 3, chapitre 7, dernier de la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9448495" y="5074920"/>
            <a:ext cx="2103120" cy="1240003"/>
          </a:xfrm>
          <a:prstGeom prst="rect">
            <a:avLst/>
          </a:prstGeom>
        </p:spPr>
      </p:pic>
      <p:sp>
        <p:nvSpPr>
          <p:cNvPr id="3" name="s1-surtitre"/>
          <p:cNvSpPr txBox="1"/>
          <p:nvPr/>
        </p:nvSpPr>
        <p:spPr>
          <a:xfrm>
            <a:off x="5843016" y="1005840"/>
            <a:ext cx="5532120" cy="45720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VIVIER IA · MODULE 1 · SECTION 3 · CHAPITRE 6</a:t>
            </a:r>
            <a:endParaRPr lang="en-US" sz="1300" dirty="0"/>
          </a:p>
        </p:txBody>
      </p:sp>
      <p:sp>
        <p:nvSpPr>
          <p:cNvPr id="4" name="s1-titre"/>
          <p:cNvSpPr txBox="1"/>
          <p:nvPr/>
        </p:nvSpPr>
        <p:spPr>
          <a:xfrm>
            <a:off x="5843016" y="1691640"/>
            <a:ext cx="5532120" cy="1737360"/>
          </a:xfrm>
          <a:prstGeom prst="rect">
            <a:avLst/>
          </a:prstGeom>
          <a:noFill/>
          <a:ln/>
        </p:spPr>
        <p:txBody>
          <a:bodyPr wrap="square" lIns="0" tIns="0" rIns="0" bIns="0" rtlCol="0" anchor="t"/>
          <a:lstStyle/>
          <a:p>
            <a:pPr indent="0" marL="0">
              <a:lnSpc>
                <a:spcPct val="105000"/>
              </a:lnSpc>
              <a:buNone/>
            </a:pPr>
            <a:r>
              <a:rPr lang="en-US" sz="3400" b="1" dirty="0">
                <a:solidFill>
                  <a:srgbClr val="F2F7F5"/>
                </a:solidFill>
                <a:latin typeface="Arial" pitchFamily="34" charset="0"/>
                <a:ea typeface="Arial" pitchFamily="34" charset="-122"/>
                <a:cs typeface="Arial" pitchFamily="34" charset="-120"/>
              </a:rPr>
              <a:t>Structurer</a:t>
            </a:r>
            <a:endParaRPr lang="en-US" sz="3400" dirty="0"/>
          </a:p>
          <a:p>
            <a:pPr indent="0" marL="0">
              <a:lnSpc>
                <a:spcPct val="105000"/>
              </a:lnSpc>
              <a:buNone/>
            </a:pPr>
            <a:r>
              <a:rPr lang="en-US" sz="3400" b="1" dirty="0">
                <a:solidFill>
                  <a:srgbClr val="F2F7F5"/>
                </a:solidFill>
                <a:latin typeface="Arial" pitchFamily="34" charset="0"/>
                <a:ea typeface="Arial" pitchFamily="34" charset="-122"/>
                <a:cs typeface="Arial" pitchFamily="34" charset="-120"/>
              </a:rPr>
              <a:t>son projet,</a:t>
            </a:r>
            <a:endParaRPr lang="en-US" sz="3400" dirty="0"/>
          </a:p>
          <a:p>
            <a:pPr indent="0" marL="0">
              <a:lnSpc>
                <a:spcPct val="105000"/>
              </a:lnSpc>
              <a:buNone/>
            </a:pPr>
            <a:r>
              <a:rPr lang="en-US" sz="3400" b="1" dirty="0">
                <a:solidFill>
                  <a:srgbClr val="F2F7F5"/>
                </a:solidFill>
                <a:latin typeface="Arial" pitchFamily="34" charset="0"/>
                <a:ea typeface="Arial" pitchFamily="34" charset="-122"/>
                <a:cs typeface="Arial" pitchFamily="34" charset="-120"/>
              </a:rPr>
              <a:t>l'arborescence</a:t>
            </a:r>
            <a:endParaRPr lang="en-US" sz="3400" dirty="0"/>
          </a:p>
        </p:txBody>
      </p:sp>
      <p:sp>
        <p:nvSpPr>
          <p:cNvPr id="5" name="s1-objectif"/>
          <p:cNvSpPr txBox="1"/>
          <p:nvPr/>
        </p:nvSpPr>
        <p:spPr>
          <a:xfrm>
            <a:off x="5843016" y="3429000"/>
            <a:ext cx="5532120" cy="822960"/>
          </a:xfrm>
          <a:prstGeom prst="rect">
            <a:avLst/>
          </a:prstGeom>
          <a:noFill/>
          <a:ln/>
        </p:spPr>
        <p:txBody>
          <a:bodyPr wrap="square" lIns="0" tIns="0" rIns="0" bIns="0" rtlCol="0" anchor="t"/>
          <a:lstStyle/>
          <a:p>
            <a:pPr indent="0" marL="0">
              <a:buNone/>
            </a:pPr>
            <a:r>
              <a:rPr lang="en-US" sz="1700" dirty="0">
                <a:solidFill>
                  <a:srgbClr val="BFD8D5"/>
                </a:solidFill>
                <a:latin typeface="Calibri" pitchFamily="34" charset="0"/>
                <a:ea typeface="Calibri" pitchFamily="34" charset="-122"/>
                <a:cs typeface="Calibri" pitchFamily="34" charset="-120"/>
              </a:rPr>
              <a:t>Objectif : auditer et réorganiser pour de vrai.</a:t>
            </a:r>
            <a:endParaRPr lang="en-US" sz="1700" dirty="0"/>
          </a:p>
        </p:txBody>
      </p:sp>
      <p:sp>
        <p:nvSpPr>
          <p:cNvPr id="6" name="s1-pastille-0"/>
          <p:cNvSpPr/>
          <p:nvPr/>
        </p:nvSpPr>
        <p:spPr>
          <a:xfrm>
            <a:off x="5843016" y="4526280"/>
            <a:ext cx="2560320" cy="457200"/>
          </a:xfrm>
          <a:prstGeom prst="roundRect">
            <a:avLst>
              <a:gd name="adj" fmla="val 50000"/>
            </a:avLst>
          </a:prstGeom>
          <a:solidFill>
            <a:srgbClr val="1D4A43"/>
          </a:solidFill>
          <a:ln/>
        </p:spPr>
        <p:txBody>
          <a:bodyPr wrap="square" lIns="127000" tIns="0" rIns="127000" bIns="0" rtlCol="0" anchor="ctr"/>
          <a:lstStyle/>
          <a:p>
            <a:pPr algn="ctr" indent="0" marL="0">
              <a:buNone/>
            </a:pPr>
            <a:r>
              <a:rPr lang="en-US" sz="1400" b="1" dirty="0">
                <a:solidFill>
                  <a:srgbClr val="FF7A4D"/>
                </a:solidFill>
                <a:latin typeface="Arial" pitchFamily="34" charset="0"/>
                <a:ea typeface="Arial" pitchFamily="34" charset="-122"/>
                <a:cs typeface="Arial" pitchFamily="34" charset="-120"/>
              </a:rPr>
              <a:t>1  </a:t>
            </a:r>
            <a:pPr algn="ctr" indent="0" marL="0">
              <a:buNone/>
            </a:pPr>
            <a:r>
              <a:rPr lang="en-US" sz="1400" b="1" dirty="0">
                <a:solidFill>
                  <a:srgbClr val="F2F7F5"/>
                </a:solidFill>
                <a:latin typeface="Arial" pitchFamily="34" charset="0"/>
                <a:ea typeface="Arial" pitchFamily="34" charset="-122"/>
                <a:cs typeface="Arial" pitchFamily="34" charset="-120"/>
              </a:rPr>
              <a:t>L'impact concret</a:t>
            </a:r>
            <a:endParaRPr lang="en-US" sz="1400" dirty="0"/>
          </a:p>
        </p:txBody>
      </p:sp>
      <p:sp>
        <p:nvSpPr>
          <p:cNvPr id="7" name="s1-pastille-1"/>
          <p:cNvSpPr/>
          <p:nvPr/>
        </p:nvSpPr>
        <p:spPr>
          <a:xfrm>
            <a:off x="5843016" y="5166360"/>
            <a:ext cx="3383280" cy="457200"/>
          </a:xfrm>
          <a:prstGeom prst="roundRect">
            <a:avLst>
              <a:gd name="adj" fmla="val 50000"/>
            </a:avLst>
          </a:prstGeom>
          <a:solidFill>
            <a:srgbClr val="1D4A43"/>
          </a:solidFill>
          <a:ln/>
        </p:spPr>
        <p:txBody>
          <a:bodyPr wrap="square" lIns="127000" tIns="0" rIns="127000" bIns="0" rtlCol="0" anchor="ctr"/>
          <a:lstStyle/>
          <a:p>
            <a:pPr algn="ctr" indent="0" marL="0">
              <a:buNone/>
            </a:pPr>
            <a:r>
              <a:rPr lang="en-US" sz="1400" b="1" dirty="0">
                <a:solidFill>
                  <a:srgbClr val="FF7A4D"/>
                </a:solidFill>
                <a:latin typeface="Arial" pitchFamily="34" charset="0"/>
                <a:ea typeface="Arial" pitchFamily="34" charset="-122"/>
                <a:cs typeface="Arial" pitchFamily="34" charset="-120"/>
              </a:rPr>
              <a:t>2  </a:t>
            </a:r>
            <a:pPr algn="ctr" indent="0" marL="0">
              <a:buNone/>
            </a:pPr>
            <a:r>
              <a:rPr lang="en-US" sz="1400" b="1" dirty="0">
                <a:solidFill>
                  <a:srgbClr val="F2F7F5"/>
                </a:solidFill>
                <a:latin typeface="Arial" pitchFamily="34" charset="0"/>
                <a:ea typeface="Arial" pitchFamily="34" charset="-122"/>
                <a:cs typeface="Arial" pitchFamily="34" charset="-120"/>
              </a:rPr>
              <a:t>Ce qui manque sans elle</a:t>
            </a:r>
            <a:endParaRPr lang="en-US" sz="1400" dirty="0"/>
          </a:p>
        </p:txBody>
      </p:sp>
      <p:sp>
        <p:nvSpPr>
          <p:cNvPr id="8" name="s1-pastille-2"/>
          <p:cNvSpPr/>
          <p:nvPr/>
        </p:nvSpPr>
        <p:spPr>
          <a:xfrm>
            <a:off x="5843016" y="5806440"/>
            <a:ext cx="2286000" cy="457200"/>
          </a:xfrm>
          <a:prstGeom prst="roundRect">
            <a:avLst>
              <a:gd name="adj" fmla="val 50000"/>
            </a:avLst>
          </a:prstGeom>
          <a:solidFill>
            <a:srgbClr val="1D4A43"/>
          </a:solidFill>
          <a:ln/>
        </p:spPr>
        <p:txBody>
          <a:bodyPr wrap="square" lIns="127000" tIns="0" rIns="127000" bIns="0" rtlCol="0" anchor="ctr"/>
          <a:lstStyle/>
          <a:p>
            <a:pPr algn="ctr" indent="0" marL="0">
              <a:buNone/>
            </a:pPr>
            <a:r>
              <a:rPr lang="en-US" sz="1400" b="1" dirty="0">
                <a:solidFill>
                  <a:srgbClr val="FF7A4D"/>
                </a:solidFill>
                <a:latin typeface="Arial" pitchFamily="34" charset="0"/>
                <a:ea typeface="Arial" pitchFamily="34" charset="-122"/>
                <a:cs typeface="Arial" pitchFamily="34" charset="-120"/>
              </a:rPr>
              <a:t>3  </a:t>
            </a:r>
            <a:pPr algn="ctr" indent="0" marL="0">
              <a:buNone/>
            </a:pPr>
            <a:r>
              <a:rPr lang="en-US" sz="1400" b="1" dirty="0">
                <a:solidFill>
                  <a:srgbClr val="F2F7F5"/>
                </a:solidFill>
                <a:latin typeface="Arial" pitchFamily="34" charset="0"/>
                <a:ea typeface="Arial" pitchFamily="34" charset="-122"/>
                <a:cs typeface="Arial" pitchFamily="34" charset="-120"/>
              </a:rPr>
              <a:t>Un audit réel</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22" presetClass="entr" presetSubtype="8" fill="hold" nodeType="withEffect">
                                  <p:stCondLst>
                                    <p:cond delay="70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900"/>
                                        <p:tgtEl>
                                          <p:spTgt spid="4"/>
                                        </p:tgtEl>
                                      </p:cBhvr>
                                    </p:animEffect>
                                  </p:childTnLst>
                                </p:cTn>
                              </p:par>
                              <p:par>
                                <p:cTn id="14" presetID="10" presetClass="entr" presetSubtype="0" fill="hold" nodeType="withEffect">
                                  <p:stCondLst>
                                    <p:cond delay="1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2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2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29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CE QUE SÉPARE UNE BONNE STRUCTURE</a:t>
            </a:r>
            <a:endParaRPr lang="en-US" sz="1300" dirty="0"/>
          </a:p>
        </p:txBody>
      </p:sp>
      <p:sp>
        <p:nvSpPr>
          <p:cNvPr id="4" name="Text 1"/>
          <p:cNvSpPr txBox="1"/>
          <p:nvPr/>
        </p:nvSpPr>
        <p:spPr>
          <a:xfrm>
            <a:off x="812902" y="1234440"/>
            <a:ext cx="9235440" cy="822960"/>
          </a:xfrm>
          <a:prstGeom prst="rect">
            <a:avLst/>
          </a:prstGeom>
          <a:noFill/>
          <a:ln/>
        </p:spPr>
        <p:txBody>
          <a:bodyPr wrap="square" lIns="0" tIns="0" rIns="0" bIns="0" rtlCol="0" anchor="t"/>
          <a:lstStyle/>
          <a:p>
            <a:pPr indent="0" marL="0">
              <a:buNone/>
            </a:pPr>
            <a:r>
              <a:rPr lang="en-US" sz="3000" b="1" dirty="0">
                <a:solidFill>
                  <a:srgbClr val="F2F7F5"/>
                </a:solidFill>
                <a:latin typeface="Arial" pitchFamily="34" charset="0"/>
                <a:ea typeface="Arial" pitchFamily="34" charset="-122"/>
                <a:cs typeface="Arial" pitchFamily="34" charset="-120"/>
              </a:rPr>
              <a:t>Des responsabilités distinctes</a:t>
            </a:r>
            <a:endParaRPr lang="en-US" sz="3000" dirty="0"/>
          </a:p>
        </p:txBody>
      </p:sp>
      <p:sp>
        <p:nvSpPr>
          <p:cNvPr id="5" name="s2-c0-forme"/>
          <p:cNvSpPr/>
          <p:nvPr/>
        </p:nvSpPr>
        <p:spPr>
          <a:xfrm>
            <a:off x="812902" y="2377440"/>
            <a:ext cx="3278429" cy="3566160"/>
          </a:xfrm>
          <a:prstGeom prst="roundRect">
            <a:avLst>
              <a:gd name="adj" fmla="val 5020"/>
            </a:avLst>
          </a:prstGeom>
          <a:solidFill>
            <a:srgbClr val="FFFFFF"/>
          </a:solidFill>
          <a:ln w="12700">
            <a:solidFill>
              <a:srgbClr val="D3E3DE"/>
            </a:solidFill>
            <a:prstDash val="solid"/>
          </a:ln>
        </p:spPr>
      </p:sp>
      <p:sp>
        <p:nvSpPr>
          <p:cNvPr id="6" name="s2-c0-num"/>
          <p:cNvSpPr txBox="1"/>
          <p:nvPr/>
        </p:nvSpPr>
        <p:spPr>
          <a:xfrm>
            <a:off x="1087222" y="2560320"/>
            <a:ext cx="914400" cy="777240"/>
          </a:xfrm>
          <a:prstGeom prst="rect">
            <a:avLst/>
          </a:prstGeom>
          <a:noFill/>
          <a:ln/>
        </p:spPr>
        <p:txBody>
          <a:bodyPr wrap="square" lIns="0" tIns="0" rIns="0" bIns="0" rtlCol="0" anchor="t"/>
          <a:lstStyle/>
          <a:p>
            <a:pPr indent="0" marL="0">
              <a:buNone/>
            </a:pPr>
            <a:r>
              <a:rPr lang="en-US" sz="4400" b="1" dirty="0">
                <a:solidFill>
                  <a:srgbClr val="FF7A4D"/>
                </a:solidFill>
                <a:latin typeface="Arial" pitchFamily="34" charset="0"/>
                <a:ea typeface="Arial" pitchFamily="34" charset="-122"/>
                <a:cs typeface="Arial" pitchFamily="34" charset="-120"/>
              </a:rPr>
              <a:t>1</a:t>
            </a:r>
            <a:endParaRPr lang="en-US" sz="4400" dirty="0"/>
          </a:p>
        </p:txBody>
      </p:sp>
      <p:sp>
        <p:nvSpPr>
          <p:cNvPr id="7" name="s2-c0-titre"/>
          <p:cNvSpPr txBox="1"/>
          <p:nvPr/>
        </p:nvSpPr>
        <p:spPr>
          <a:xfrm>
            <a:off x="1087222" y="3383280"/>
            <a:ext cx="2729789" cy="960120"/>
          </a:xfrm>
          <a:prstGeom prst="rect">
            <a:avLst/>
          </a:prstGeom>
          <a:noFill/>
          <a:ln/>
        </p:spPr>
        <p:txBody>
          <a:bodyPr wrap="square" lIns="0" tIns="0" rIns="0" bIns="0" rtlCol="0" anchor="t"/>
          <a:lstStyle/>
          <a:p>
            <a:pPr indent="0" marL="0">
              <a:buNone/>
            </a:pPr>
            <a:r>
              <a:rPr lang="en-US" sz="2000" b="1" dirty="0">
                <a:solidFill>
                  <a:srgbClr val="113832"/>
                </a:solidFill>
                <a:latin typeface="Arial" pitchFamily="34" charset="0"/>
                <a:ea typeface="Arial" pitchFamily="34" charset="-122"/>
                <a:cs typeface="Arial" pitchFamily="34" charset="-120"/>
              </a:rPr>
              <a:t>Le code</a:t>
            </a:r>
            <a:endParaRPr lang="en-US" sz="2000" dirty="0"/>
          </a:p>
        </p:txBody>
      </p:sp>
      <p:sp>
        <p:nvSpPr>
          <p:cNvPr id="8" name="s2-c0-texte"/>
          <p:cNvSpPr txBox="1"/>
          <p:nvPr/>
        </p:nvSpPr>
        <p:spPr>
          <a:xfrm>
            <a:off x="1087222" y="4480560"/>
            <a:ext cx="2729789" cy="1280160"/>
          </a:xfrm>
          <a:prstGeom prst="rect">
            <a:avLst/>
          </a:prstGeom>
          <a:noFill/>
          <a:ln/>
        </p:spPr>
        <p:txBody>
          <a:bodyPr wrap="square" lIns="0" tIns="0" rIns="0" bIns="0" rtlCol="0" anchor="t"/>
          <a:lstStyle/>
          <a:p>
            <a:pPr indent="0" marL="0">
              <a:buNone/>
            </a:pPr>
            <a:r>
              <a:rPr lang="en-US" sz="1500" dirty="0">
                <a:solidFill>
                  <a:srgbClr val="2F4F4A"/>
                </a:solidFill>
                <a:latin typeface="Calibri" pitchFamily="34" charset="0"/>
                <a:ea typeface="Calibri" pitchFamily="34" charset="-122"/>
                <a:cs typeface="Calibri" pitchFamily="34" charset="-120"/>
              </a:rPr>
              <a:t>Ce qui fait fonctionner le produit.</a:t>
            </a:r>
            <a:endParaRPr lang="en-US" sz="1500" dirty="0"/>
          </a:p>
        </p:txBody>
      </p:sp>
      <p:sp>
        <p:nvSpPr>
          <p:cNvPr id="9" name="s2-c1-forme"/>
          <p:cNvSpPr/>
          <p:nvPr/>
        </p:nvSpPr>
        <p:spPr>
          <a:xfrm>
            <a:off x="4457090" y="2377440"/>
            <a:ext cx="3278429" cy="3566160"/>
          </a:xfrm>
          <a:prstGeom prst="roundRect">
            <a:avLst>
              <a:gd name="adj" fmla="val 5020"/>
            </a:avLst>
          </a:prstGeom>
          <a:solidFill>
            <a:srgbClr val="FFFFFF"/>
          </a:solidFill>
          <a:ln w="12700">
            <a:solidFill>
              <a:srgbClr val="D3E3DE"/>
            </a:solidFill>
            <a:prstDash val="solid"/>
          </a:ln>
        </p:spPr>
      </p:sp>
      <p:sp>
        <p:nvSpPr>
          <p:cNvPr id="10" name="s2-c1-num"/>
          <p:cNvSpPr txBox="1"/>
          <p:nvPr/>
        </p:nvSpPr>
        <p:spPr>
          <a:xfrm>
            <a:off x="4731410" y="2560320"/>
            <a:ext cx="914400" cy="777240"/>
          </a:xfrm>
          <a:prstGeom prst="rect">
            <a:avLst/>
          </a:prstGeom>
          <a:noFill/>
          <a:ln/>
        </p:spPr>
        <p:txBody>
          <a:bodyPr wrap="square" lIns="0" tIns="0" rIns="0" bIns="0" rtlCol="0" anchor="t"/>
          <a:lstStyle/>
          <a:p>
            <a:pPr indent="0" marL="0">
              <a:buNone/>
            </a:pPr>
            <a:r>
              <a:rPr lang="en-US" sz="4400" b="1" dirty="0">
                <a:solidFill>
                  <a:srgbClr val="FF7A4D"/>
                </a:solidFill>
                <a:latin typeface="Arial" pitchFamily="34" charset="0"/>
                <a:ea typeface="Arial" pitchFamily="34" charset="-122"/>
                <a:cs typeface="Arial" pitchFamily="34" charset="-120"/>
              </a:rPr>
              <a:t>2</a:t>
            </a:r>
            <a:endParaRPr lang="en-US" sz="4400" dirty="0"/>
          </a:p>
        </p:txBody>
      </p:sp>
      <p:sp>
        <p:nvSpPr>
          <p:cNvPr id="11" name="s2-c1-titre"/>
          <p:cNvSpPr txBox="1"/>
          <p:nvPr/>
        </p:nvSpPr>
        <p:spPr>
          <a:xfrm>
            <a:off x="4731410" y="3383280"/>
            <a:ext cx="2729789" cy="960120"/>
          </a:xfrm>
          <a:prstGeom prst="rect">
            <a:avLst/>
          </a:prstGeom>
          <a:noFill/>
          <a:ln/>
        </p:spPr>
        <p:txBody>
          <a:bodyPr wrap="square" lIns="0" tIns="0" rIns="0" bIns="0" rtlCol="0" anchor="t"/>
          <a:lstStyle/>
          <a:p>
            <a:pPr indent="0" marL="0">
              <a:buNone/>
            </a:pPr>
            <a:r>
              <a:rPr lang="en-US" sz="2000" b="1" dirty="0">
                <a:solidFill>
                  <a:srgbClr val="113832"/>
                </a:solidFill>
                <a:latin typeface="Arial" pitchFamily="34" charset="0"/>
                <a:ea typeface="Arial" pitchFamily="34" charset="-122"/>
                <a:cs typeface="Arial" pitchFamily="34" charset="-120"/>
              </a:rPr>
              <a:t>Documentation</a:t>
            </a:r>
            <a:endParaRPr lang="en-US" sz="2000" dirty="0"/>
          </a:p>
        </p:txBody>
      </p:sp>
      <p:sp>
        <p:nvSpPr>
          <p:cNvPr id="12" name="s2-c1-texte"/>
          <p:cNvSpPr txBox="1"/>
          <p:nvPr/>
        </p:nvSpPr>
        <p:spPr>
          <a:xfrm>
            <a:off x="4731410" y="4480560"/>
            <a:ext cx="2729789" cy="1280160"/>
          </a:xfrm>
          <a:prstGeom prst="rect">
            <a:avLst/>
          </a:prstGeom>
          <a:noFill/>
          <a:ln/>
        </p:spPr>
        <p:txBody>
          <a:bodyPr wrap="square" lIns="0" tIns="0" rIns="0" bIns="0" rtlCol="0" anchor="t"/>
          <a:lstStyle/>
          <a:p>
            <a:pPr indent="0" marL="0">
              <a:buNone/>
            </a:pPr>
            <a:r>
              <a:rPr lang="en-US" sz="1500" dirty="0">
                <a:solidFill>
                  <a:srgbClr val="2F4F4A"/>
                </a:solidFill>
                <a:latin typeface="Calibri" pitchFamily="34" charset="0"/>
                <a:ea typeface="Calibri" pitchFamily="34" charset="-122"/>
                <a:cs typeface="Calibri" pitchFamily="34" charset="-120"/>
              </a:rPr>
              <a:t>Ce qui explique, à part du code.</a:t>
            </a:r>
            <a:endParaRPr lang="en-US" sz="1500" dirty="0"/>
          </a:p>
        </p:txBody>
      </p:sp>
      <p:sp>
        <p:nvSpPr>
          <p:cNvPr id="13" name="s2-c2-forme"/>
          <p:cNvSpPr/>
          <p:nvPr/>
        </p:nvSpPr>
        <p:spPr>
          <a:xfrm>
            <a:off x="8101279" y="2377440"/>
            <a:ext cx="3278429" cy="3566160"/>
          </a:xfrm>
          <a:prstGeom prst="roundRect">
            <a:avLst>
              <a:gd name="adj" fmla="val 5020"/>
            </a:avLst>
          </a:prstGeom>
          <a:solidFill>
            <a:srgbClr val="FFFFFF"/>
          </a:solidFill>
          <a:ln w="12700">
            <a:solidFill>
              <a:srgbClr val="D3E3DE"/>
            </a:solidFill>
            <a:prstDash val="solid"/>
          </a:ln>
        </p:spPr>
      </p:sp>
      <p:sp>
        <p:nvSpPr>
          <p:cNvPr id="14" name="s2-c2-num"/>
          <p:cNvSpPr txBox="1"/>
          <p:nvPr/>
        </p:nvSpPr>
        <p:spPr>
          <a:xfrm>
            <a:off x="8375599" y="2560320"/>
            <a:ext cx="914400" cy="777240"/>
          </a:xfrm>
          <a:prstGeom prst="rect">
            <a:avLst/>
          </a:prstGeom>
          <a:noFill/>
          <a:ln/>
        </p:spPr>
        <p:txBody>
          <a:bodyPr wrap="square" lIns="0" tIns="0" rIns="0" bIns="0" rtlCol="0" anchor="t"/>
          <a:lstStyle/>
          <a:p>
            <a:pPr indent="0" marL="0">
              <a:buNone/>
            </a:pPr>
            <a:r>
              <a:rPr lang="en-US" sz="4400" b="1" dirty="0">
                <a:solidFill>
                  <a:srgbClr val="FF7A4D"/>
                </a:solidFill>
                <a:latin typeface="Arial" pitchFamily="34" charset="0"/>
                <a:ea typeface="Arial" pitchFamily="34" charset="-122"/>
                <a:cs typeface="Arial" pitchFamily="34" charset="-120"/>
              </a:rPr>
              <a:t>3</a:t>
            </a:r>
            <a:endParaRPr lang="en-US" sz="4400" dirty="0"/>
          </a:p>
        </p:txBody>
      </p:sp>
      <p:sp>
        <p:nvSpPr>
          <p:cNvPr id="15" name="s2-c2-titre"/>
          <p:cNvSpPr txBox="1"/>
          <p:nvPr/>
        </p:nvSpPr>
        <p:spPr>
          <a:xfrm>
            <a:off x="8375599" y="3383280"/>
            <a:ext cx="2729789" cy="960120"/>
          </a:xfrm>
          <a:prstGeom prst="rect">
            <a:avLst/>
          </a:prstGeom>
          <a:noFill/>
          <a:ln/>
        </p:spPr>
        <p:txBody>
          <a:bodyPr wrap="square" lIns="0" tIns="0" rIns="0" bIns="0" rtlCol="0" anchor="t"/>
          <a:lstStyle/>
          <a:p>
            <a:pPr indent="0" marL="0">
              <a:buNone/>
            </a:pPr>
            <a:r>
              <a:rPr lang="en-US" sz="2000" b="1" dirty="0">
                <a:solidFill>
                  <a:srgbClr val="113832"/>
                </a:solidFill>
                <a:latin typeface="Arial" pitchFamily="34" charset="0"/>
                <a:ea typeface="Arial" pitchFamily="34" charset="-122"/>
                <a:cs typeface="Arial" pitchFamily="34" charset="-120"/>
              </a:rPr>
              <a:t>Configuration</a:t>
            </a:r>
            <a:endParaRPr lang="en-US" sz="2000" dirty="0"/>
          </a:p>
        </p:txBody>
      </p:sp>
      <p:sp>
        <p:nvSpPr>
          <p:cNvPr id="16" name="s2-c2-texte"/>
          <p:cNvSpPr txBox="1"/>
          <p:nvPr/>
        </p:nvSpPr>
        <p:spPr>
          <a:xfrm>
            <a:off x="8375599" y="4480560"/>
            <a:ext cx="2729789" cy="1280160"/>
          </a:xfrm>
          <a:prstGeom prst="rect">
            <a:avLst/>
          </a:prstGeom>
          <a:noFill/>
          <a:ln/>
        </p:spPr>
        <p:txBody>
          <a:bodyPr wrap="square" lIns="0" tIns="0" rIns="0" bIns="0" rtlCol="0" anchor="t"/>
          <a:lstStyle/>
          <a:p>
            <a:pPr indent="0" marL="0">
              <a:buNone/>
            </a:pPr>
            <a:r>
              <a:rPr lang="en-US" sz="1500" dirty="0">
                <a:solidFill>
                  <a:srgbClr val="2F4F4A"/>
                </a:solidFill>
                <a:latin typeface="Calibri" pitchFamily="34" charset="0"/>
                <a:ea typeface="Calibri" pitchFamily="34" charset="-122"/>
                <a:cs typeface="Calibri" pitchFamily="34" charset="-120"/>
              </a:rPr>
              <a:t>Les réglages, séparés du reste.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2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4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nodeType="withEffect">
                                  <p:stCondLst>
                                    <p:cond delay="1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2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4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00"/>
                                        <p:tgtEl>
                                          <p:spTgt spid="13"/>
                                        </p:tgtEl>
                                      </p:cBhvr>
                                    </p:animEffect>
                                  </p:childTnLst>
                                </p:cTn>
                              </p:par>
                              <p:par>
                                <p:cTn id="36" presetID="10" presetClass="entr" presetSubtype="0" fill="hold" nodeType="withEffect">
                                  <p:stCondLst>
                                    <p:cond delay="1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2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4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CE QUI SE PASSE SANS ELLE</a:t>
            </a:r>
            <a:endParaRPr lang="en-US" sz="1300" dirty="0"/>
          </a:p>
        </p:txBody>
      </p:sp>
      <p:sp>
        <p:nvSpPr>
          <p:cNvPr id="4" name="Text 1"/>
          <p:cNvSpPr txBox="1"/>
          <p:nvPr/>
        </p:nvSpPr>
        <p:spPr>
          <a:xfrm>
            <a:off x="812902" y="1234440"/>
            <a:ext cx="9235440" cy="822960"/>
          </a:xfrm>
          <a:prstGeom prst="rect">
            <a:avLst/>
          </a:prstGeom>
          <a:noFill/>
          <a:ln/>
        </p:spPr>
        <p:txBody>
          <a:bodyPr wrap="square" lIns="0" tIns="0" rIns="0" bIns="0" rtlCol="0" anchor="t"/>
          <a:lstStyle/>
          <a:p>
            <a:pPr indent="0" marL="0">
              <a:buNone/>
            </a:pPr>
            <a:r>
              <a:rPr lang="en-US" sz="3200" b="1" dirty="0">
                <a:solidFill>
                  <a:srgbClr val="F2F7F5"/>
                </a:solidFill>
                <a:latin typeface="Arial" pitchFamily="34" charset="0"/>
                <a:ea typeface="Arial" pitchFamily="34" charset="-122"/>
                <a:cs typeface="Arial" pitchFamily="34" charset="-120"/>
              </a:rPr>
              <a:t>Le désordre coûte cher, même à l'agent</a:t>
            </a:r>
            <a:endParaRPr lang="en-US" sz="3200" dirty="0"/>
          </a:p>
        </p:txBody>
      </p:sp>
      <p:sp>
        <p:nvSpPr>
          <p:cNvPr id="5" name="Text 2"/>
          <p:cNvSpPr txBox="1"/>
          <p:nvPr/>
        </p:nvSpPr>
        <p:spPr>
          <a:xfrm>
            <a:off x="812902" y="2103120"/>
            <a:ext cx="9601200" cy="45720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Un projet mal structuré ralentit tout le monde.</a:t>
            </a:r>
            <a:endParaRPr lang="en-US" sz="1800" dirty="0"/>
          </a:p>
        </p:txBody>
      </p:sp>
      <p:sp>
        <p:nvSpPr>
          <p:cNvPr id="6" name="s3-avant-forme"/>
          <p:cNvSpPr/>
          <p:nvPr/>
        </p:nvSpPr>
        <p:spPr>
          <a:xfrm>
            <a:off x="812902" y="2926080"/>
            <a:ext cx="5100523" cy="2468880"/>
          </a:xfrm>
          <a:prstGeom prst="roundRect">
            <a:avLst>
              <a:gd name="adj" fmla="val 6667"/>
            </a:avLst>
          </a:prstGeom>
          <a:solidFill>
            <a:srgbClr val="1D4A43"/>
          </a:solidFill>
          <a:ln w="6350">
            <a:solidFill>
              <a:srgbClr val="1D4A43"/>
            </a:solidFill>
            <a:prstDash val="solid"/>
          </a:ln>
        </p:spPr>
      </p:sp>
      <p:sp>
        <p:nvSpPr>
          <p:cNvPr id="7" name="s3-avant-etiquette"/>
          <p:cNvSpPr txBox="1"/>
          <p:nvPr/>
        </p:nvSpPr>
        <p:spPr>
          <a:xfrm>
            <a:off x="1178662" y="3200400"/>
            <a:ext cx="3657600" cy="320040"/>
          </a:xfrm>
          <a:prstGeom prst="rect">
            <a:avLst/>
          </a:prstGeom>
          <a:noFill/>
          <a:ln/>
        </p:spPr>
        <p:txBody>
          <a:bodyPr wrap="square" lIns="0" tIns="0" rIns="0" bIns="0" rtlCol="0" anchor="t"/>
          <a:lstStyle/>
          <a:p>
            <a:pPr indent="0" marL="0">
              <a:buNone/>
            </a:pPr>
            <a:r>
              <a:rPr lang="en-US" sz="1300" b="1" spc="100" kern="0" dirty="0">
                <a:solidFill>
                  <a:srgbClr val="BFD8D5"/>
                </a:solidFill>
                <a:latin typeface="Arial" pitchFamily="34" charset="0"/>
                <a:ea typeface="Arial" pitchFamily="34" charset="-122"/>
                <a:cs typeface="Arial" pitchFamily="34" charset="-120"/>
              </a:rPr>
              <a:t>BONNE STRUCTURE</a:t>
            </a:r>
            <a:endParaRPr lang="en-US" sz="1300" dirty="0"/>
          </a:p>
        </p:txBody>
      </p:sp>
      <p:sp>
        <p:nvSpPr>
          <p:cNvPr id="8" name="s3-avant-titre"/>
          <p:cNvSpPr txBox="1"/>
          <p:nvPr/>
        </p:nvSpPr>
        <p:spPr>
          <a:xfrm>
            <a:off x="1178662" y="3657600"/>
            <a:ext cx="4369003" cy="548640"/>
          </a:xfrm>
          <a:prstGeom prst="rect">
            <a:avLst/>
          </a:prstGeom>
          <a:noFill/>
          <a:ln/>
        </p:spPr>
        <p:txBody>
          <a:bodyPr wrap="square" lIns="0" tIns="0" rIns="0" bIns="0" rtlCol="0" anchor="t"/>
          <a:lstStyle/>
          <a:p>
            <a:pPr indent="0" marL="0">
              <a:buNone/>
            </a:pPr>
            <a:r>
              <a:rPr lang="en-US" sz="2400" b="1" dirty="0">
                <a:solidFill>
                  <a:srgbClr val="F2F7F5"/>
                </a:solidFill>
                <a:latin typeface="Arial" pitchFamily="34" charset="0"/>
                <a:ea typeface="Arial" pitchFamily="34" charset="-122"/>
                <a:cs typeface="Arial" pitchFamily="34" charset="-120"/>
              </a:rPr>
              <a:t>L'agent s'y retrouve</a:t>
            </a:r>
            <a:endParaRPr lang="en-US" sz="2400" dirty="0"/>
          </a:p>
        </p:txBody>
      </p:sp>
      <p:sp>
        <p:nvSpPr>
          <p:cNvPr id="9" name="s3-avant-texte"/>
          <p:cNvSpPr txBox="1"/>
          <p:nvPr/>
        </p:nvSpPr>
        <p:spPr>
          <a:xfrm>
            <a:off x="1178662" y="4343400"/>
            <a:ext cx="4369003" cy="822960"/>
          </a:xfrm>
          <a:prstGeom prst="rect">
            <a:avLst/>
          </a:prstGeom>
          <a:noFill/>
          <a:ln/>
        </p:spPr>
        <p:txBody>
          <a:bodyPr wrap="square" lIns="0" tIns="0" rIns="0" bIns="0" rtlCol="0" anchor="t"/>
          <a:lstStyle/>
          <a:p>
            <a:pPr indent="0" marL="0">
              <a:buNone/>
            </a:pPr>
            <a:r>
              <a:rPr lang="en-US" sz="1700" dirty="0">
                <a:solidFill>
                  <a:srgbClr val="BFD8D5"/>
                </a:solidFill>
                <a:latin typeface="Calibri" pitchFamily="34" charset="0"/>
                <a:ea typeface="Calibri" pitchFamily="34" charset="-122"/>
                <a:cs typeface="Calibri" pitchFamily="34" charset="-120"/>
              </a:rPr>
              <a:t>Chaque chose a sa place, prévisible.</a:t>
            </a:r>
            <a:endParaRPr lang="en-US" sz="1700" dirty="0"/>
          </a:p>
        </p:txBody>
      </p:sp>
      <p:sp>
        <p:nvSpPr>
          <p:cNvPr id="10" name="s3-apres-forme"/>
          <p:cNvSpPr/>
          <p:nvPr/>
        </p:nvSpPr>
        <p:spPr>
          <a:xfrm>
            <a:off x="6279185" y="2926080"/>
            <a:ext cx="5100523" cy="2468880"/>
          </a:xfrm>
          <a:prstGeom prst="roundRect">
            <a:avLst>
              <a:gd name="adj" fmla="val 6667"/>
            </a:avLst>
          </a:prstGeom>
          <a:solidFill>
            <a:srgbClr val="FF7A4D"/>
          </a:solidFill>
          <a:ln w="6350">
            <a:solidFill>
              <a:srgbClr val="FF7A4D"/>
            </a:solidFill>
            <a:prstDash val="solid"/>
          </a:ln>
        </p:spPr>
      </p:sp>
      <p:sp>
        <p:nvSpPr>
          <p:cNvPr id="11" name="s3-apres-etiquette"/>
          <p:cNvSpPr txBox="1"/>
          <p:nvPr/>
        </p:nvSpPr>
        <p:spPr>
          <a:xfrm>
            <a:off x="6644945" y="3200400"/>
            <a:ext cx="3657600" cy="320040"/>
          </a:xfrm>
          <a:prstGeom prst="rect">
            <a:avLst/>
          </a:prstGeom>
          <a:noFill/>
          <a:ln/>
        </p:spPr>
        <p:txBody>
          <a:bodyPr wrap="square" lIns="0" tIns="0" rIns="0" bIns="0" rtlCol="0" anchor="t"/>
          <a:lstStyle/>
          <a:p>
            <a:pPr indent="0" marL="0">
              <a:buNone/>
            </a:pPr>
            <a:r>
              <a:rPr lang="en-US" sz="1300" b="1" spc="100" kern="0" dirty="0">
                <a:solidFill>
                  <a:srgbClr val="113832"/>
                </a:solidFill>
                <a:latin typeface="Arial" pitchFamily="34" charset="0"/>
                <a:ea typeface="Arial" pitchFamily="34" charset="-122"/>
                <a:cs typeface="Arial" pitchFamily="34" charset="-120"/>
              </a:rPr>
              <a:t>STRUCTURE QUI MANQUE</a:t>
            </a:r>
            <a:endParaRPr lang="en-US" sz="1300" dirty="0"/>
          </a:p>
        </p:txBody>
      </p:sp>
      <p:sp>
        <p:nvSpPr>
          <p:cNvPr id="12" name="s3-apres-titre"/>
          <p:cNvSpPr txBox="1"/>
          <p:nvPr/>
        </p:nvSpPr>
        <p:spPr>
          <a:xfrm>
            <a:off x="6644945" y="3657600"/>
            <a:ext cx="4369003" cy="548640"/>
          </a:xfrm>
          <a:prstGeom prst="rect">
            <a:avLst/>
          </a:prstGeom>
          <a:noFill/>
          <a:ln/>
        </p:spPr>
        <p:txBody>
          <a:bodyPr wrap="square" lIns="0" tIns="0" rIns="0" bIns="0" rtlCol="0" anchor="t"/>
          <a:lstStyle/>
          <a:p>
            <a:pPr indent="0" marL="0">
              <a:buNone/>
            </a:pPr>
            <a:r>
              <a:rPr lang="en-US" sz="2400" b="1" dirty="0">
                <a:solidFill>
                  <a:srgbClr val="113832"/>
                </a:solidFill>
                <a:latin typeface="Arial" pitchFamily="34" charset="0"/>
                <a:ea typeface="Arial" pitchFamily="34" charset="-122"/>
                <a:cs typeface="Arial" pitchFamily="34" charset="-120"/>
              </a:rPr>
              <a:t>Le désordre grandit</a:t>
            </a:r>
            <a:endParaRPr lang="en-US" sz="2400" dirty="0"/>
          </a:p>
        </p:txBody>
      </p:sp>
      <p:sp>
        <p:nvSpPr>
          <p:cNvPr id="13" name="s3-apres-texte"/>
          <p:cNvSpPr txBox="1"/>
          <p:nvPr/>
        </p:nvSpPr>
        <p:spPr>
          <a:xfrm>
            <a:off x="6644945" y="4343400"/>
            <a:ext cx="4369003" cy="822960"/>
          </a:xfrm>
          <a:prstGeom prst="rect">
            <a:avLst/>
          </a:prstGeom>
          <a:noFill/>
          <a:ln/>
        </p:spPr>
        <p:txBody>
          <a:bodyPr wrap="square" lIns="0" tIns="0" rIns="0" bIns="0" rtlCol="0" anchor="t"/>
          <a:lstStyle/>
          <a:p>
            <a:pPr indent="0" marL="0">
              <a:buNone/>
            </a:pPr>
            <a:r>
              <a:rPr lang="en-US" sz="1700" dirty="0">
                <a:solidFill>
                  <a:srgbClr val="113832"/>
                </a:solidFill>
                <a:latin typeface="Calibri" pitchFamily="34" charset="0"/>
                <a:ea typeface="Calibri" pitchFamily="34" charset="-122"/>
                <a:cs typeface="Calibri" pitchFamily="34" charset="-120"/>
              </a:rPr>
              <a:t>Mauvais fichier modifié, logique dupliquée sans le savoir.</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2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4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15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nodeType="withEffect">
                                  <p:stCondLst>
                                    <p:cond delay="2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4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LE PRINCIPE</a:t>
            </a:r>
            <a:endParaRPr lang="en-US" sz="1300" dirty="0"/>
          </a:p>
        </p:txBody>
      </p:sp>
      <p:sp>
        <p:nvSpPr>
          <p:cNvPr id="4" name="s4-enonce"/>
          <p:cNvSpPr txBox="1"/>
          <p:nvPr/>
        </p:nvSpPr>
        <p:spPr>
          <a:xfrm>
            <a:off x="812902" y="2011680"/>
            <a:ext cx="9692640" cy="2194560"/>
          </a:xfrm>
          <a:prstGeom prst="rect">
            <a:avLst/>
          </a:prstGeom>
          <a:noFill/>
          <a:ln/>
        </p:spPr>
        <p:txBody>
          <a:bodyPr wrap="square" lIns="0" tIns="0" rIns="0" bIns="0" rtlCol="0" anchor="t"/>
          <a:lstStyle/>
          <a:p>
            <a:pPr indent="0" marL="0">
              <a:lnSpc>
                <a:spcPct val="105000"/>
              </a:lnSpc>
              <a:buNone/>
            </a:pPr>
            <a:r>
              <a:rPr lang="en-US" sz="3600" b="1" dirty="0">
                <a:solidFill>
                  <a:srgbClr val="F2F7F5"/>
                </a:solidFill>
                <a:latin typeface="Arial" pitchFamily="34" charset="0"/>
                <a:ea typeface="Arial" pitchFamily="34" charset="-122"/>
                <a:cs typeface="Arial" pitchFamily="34" charset="-120"/>
              </a:rPr>
              <a:t>Une arborescence</a:t>
            </a:r>
            <a:endParaRPr lang="en-US" sz="3600" dirty="0"/>
          </a:p>
          <a:p>
            <a:pPr indent="0" marL="0">
              <a:lnSpc>
                <a:spcPct val="105000"/>
              </a:lnSpc>
              <a:buNone/>
            </a:pPr>
            <a:r>
              <a:rPr lang="en-US" sz="3600" b="1" dirty="0">
                <a:solidFill>
                  <a:srgbClr val="F2F7F5"/>
                </a:solidFill>
                <a:latin typeface="Arial" pitchFamily="34" charset="0"/>
                <a:ea typeface="Arial" pitchFamily="34" charset="-122"/>
                <a:cs typeface="Arial" pitchFamily="34" charset="-120"/>
              </a:rPr>
              <a:t>qui scale.</a:t>
            </a:r>
            <a:endParaRPr lang="en-US" sz="3600" dirty="0"/>
          </a:p>
        </p:txBody>
      </p:sp>
      <p:sp>
        <p:nvSpPr>
          <p:cNvPr id="5" name="s4-appui"/>
          <p:cNvSpPr txBox="1"/>
          <p:nvPr/>
        </p:nvSpPr>
        <p:spPr>
          <a:xfrm>
            <a:off x="812902" y="4389120"/>
            <a:ext cx="9692640" cy="1280160"/>
          </a:xfrm>
          <a:prstGeom prst="rect">
            <a:avLst/>
          </a:prstGeom>
          <a:noFill/>
          <a:ln/>
        </p:spPr>
        <p:txBody>
          <a:bodyPr wrap="square" lIns="0" tIns="0" rIns="0" bIns="0" rtlCol="0" anchor="t"/>
          <a:lstStyle/>
          <a:p>
            <a:pPr indent="0" marL="0">
              <a:buNone/>
            </a:pPr>
            <a:r>
              <a:rPr lang="en-US" sz="2000" dirty="0">
                <a:solidFill>
                  <a:srgbClr val="BFD8D5"/>
                </a:solidFill>
                <a:latin typeface="Calibri" pitchFamily="34" charset="0"/>
                <a:ea typeface="Calibri" pitchFamily="34" charset="-122"/>
                <a:cs typeface="Calibri" pitchFamily="34" charset="-120"/>
              </a:rPr>
              <a:t>Compréhensible de 10 à 100 fichiers, posée dès le début, pas corrigée après coup.</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À RETENIR</a:t>
            </a:r>
            <a:endParaRPr lang="en-US" sz="1300" dirty="0"/>
          </a:p>
        </p:txBody>
      </p:sp>
      <p:sp>
        <p:nvSpPr>
          <p:cNvPr id="4" name="s5-titre"/>
          <p:cNvSpPr txBox="1"/>
          <p:nvPr/>
        </p:nvSpPr>
        <p:spPr>
          <a:xfrm>
            <a:off x="812902" y="1371600"/>
            <a:ext cx="8412480" cy="1188720"/>
          </a:xfrm>
          <a:prstGeom prst="rect">
            <a:avLst/>
          </a:prstGeom>
          <a:noFill/>
          <a:ln/>
        </p:spPr>
        <p:txBody>
          <a:bodyPr wrap="square" lIns="0" tIns="0" rIns="0" bIns="0" rtlCol="0" anchor="t"/>
          <a:lstStyle/>
          <a:p>
            <a:pPr indent="0" marL="0">
              <a:buNone/>
            </a:pPr>
            <a:r>
              <a:rPr lang="en-US" sz="3000" b="1" dirty="0">
                <a:solidFill>
                  <a:srgbClr val="F2F7F5"/>
                </a:solidFill>
                <a:latin typeface="Arial" pitchFamily="34" charset="0"/>
                <a:ea typeface="Arial" pitchFamily="34" charset="-122"/>
                <a:cs typeface="Arial" pitchFamily="34" charset="-120"/>
              </a:rPr>
              <a:t>Une place pour chaque chose,</a:t>
            </a:r>
            <a:endParaRPr lang="en-US" sz="3000" dirty="0"/>
          </a:p>
          <a:p>
            <a:pPr indent="0" marL="0">
              <a:buNone/>
            </a:pPr>
            <a:r>
              <a:rPr lang="en-US" sz="3000" b="1" dirty="0">
                <a:solidFill>
                  <a:srgbClr val="F2F7F5"/>
                </a:solidFill>
                <a:latin typeface="Arial" pitchFamily="34" charset="0"/>
                <a:ea typeface="Arial" pitchFamily="34" charset="-122"/>
                <a:cs typeface="Arial" pitchFamily="34" charset="-120"/>
              </a:rPr>
              <a:t>dès le début.</a:t>
            </a:r>
            <a:endParaRPr lang="en-US" sz="3000" dirty="0"/>
          </a:p>
        </p:txBody>
      </p:sp>
      <p:sp>
        <p:nvSpPr>
          <p:cNvPr id="5" name="s5-point-0"/>
          <p:cNvSpPr txBox="1"/>
          <p:nvPr/>
        </p:nvSpPr>
        <p:spPr>
          <a:xfrm>
            <a:off x="812902" y="2971800"/>
            <a:ext cx="10424160" cy="548640"/>
          </a:xfrm>
          <a:prstGeom prst="rect">
            <a:avLst/>
          </a:prstGeom>
          <a:noFill/>
          <a:ln/>
        </p:spPr>
        <p:txBody>
          <a:bodyPr wrap="square" lIns="0" tIns="0" rIns="0" bIns="0" rtlCol="0" anchor="t"/>
          <a:lstStyle/>
          <a:p>
            <a:pPr marL="342900" indent="-342900">
              <a:buSzPct val="100000"/>
              <a:buChar char="•"/>
            </a:pPr>
            <a:r>
              <a:rPr lang="en-US" sz="2200" dirty="0">
                <a:solidFill>
                  <a:srgbClr val="BFD8D5"/>
                </a:solidFill>
                <a:latin typeface="Calibri" pitchFamily="34" charset="0"/>
                <a:ea typeface="Calibri" pitchFamily="34" charset="-122"/>
                <a:cs typeface="Calibri" pitchFamily="34" charset="-120"/>
              </a:rPr>
              <a:t>Séparer clairement code, documentation, configuration et livrables.</a:t>
            </a:r>
            <a:endParaRPr lang="en-US" sz="2200" dirty="0"/>
          </a:p>
        </p:txBody>
      </p:sp>
      <p:sp>
        <p:nvSpPr>
          <p:cNvPr id="6" name="s5-point-1"/>
          <p:cNvSpPr txBox="1"/>
          <p:nvPr/>
        </p:nvSpPr>
        <p:spPr>
          <a:xfrm>
            <a:off x="812902" y="3703320"/>
            <a:ext cx="10424160" cy="548640"/>
          </a:xfrm>
          <a:prstGeom prst="rect">
            <a:avLst/>
          </a:prstGeom>
          <a:noFill/>
          <a:ln/>
        </p:spPr>
        <p:txBody>
          <a:bodyPr wrap="square" lIns="0" tIns="0" rIns="0" bIns="0" rtlCol="0" anchor="t"/>
          <a:lstStyle/>
          <a:p>
            <a:pPr marL="342900" indent="-342900">
              <a:buSzPct val="100000"/>
              <a:buChar char="•"/>
            </a:pPr>
            <a:r>
              <a:rPr lang="en-US" sz="2200" dirty="0">
                <a:solidFill>
                  <a:srgbClr val="BFD8D5"/>
                </a:solidFill>
                <a:latin typeface="Calibri" pitchFamily="34" charset="0"/>
                <a:ea typeface="Calibri" pitchFamily="34" charset="-122"/>
                <a:cs typeface="Calibri" pitchFamily="34" charset="-120"/>
              </a:rPr>
              <a:t>Une mauvaise structure ralentit le travail même avec un agent compétent.</a:t>
            </a:r>
            <a:endParaRPr lang="en-US" sz="2200" dirty="0"/>
          </a:p>
        </p:txBody>
      </p:sp>
      <p:sp>
        <p:nvSpPr>
          <p:cNvPr id="7" name="s5-point-2"/>
          <p:cNvSpPr txBox="1"/>
          <p:nvPr/>
        </p:nvSpPr>
        <p:spPr>
          <a:xfrm>
            <a:off x="812902" y="4434840"/>
            <a:ext cx="10424160" cy="548640"/>
          </a:xfrm>
          <a:prstGeom prst="rect">
            <a:avLst/>
          </a:prstGeom>
          <a:noFill/>
          <a:ln/>
        </p:spPr>
        <p:txBody>
          <a:bodyPr wrap="square" lIns="0" tIns="0" rIns="0" bIns="0" rtlCol="0" anchor="t"/>
          <a:lstStyle/>
          <a:p>
            <a:pPr marL="342900" indent="-342900">
              <a:buSzPct val="100000"/>
              <a:buChar char="•"/>
            </a:pPr>
            <a:r>
              <a:rPr lang="en-US" sz="2200" dirty="0">
                <a:solidFill>
                  <a:srgbClr val="BFD8D5"/>
                </a:solidFill>
                <a:latin typeface="Calibri" pitchFamily="34" charset="0"/>
                <a:ea typeface="Calibri" pitchFamily="34" charset="-122"/>
                <a:cs typeface="Calibri" pitchFamily="34" charset="-120"/>
              </a:rPr>
              <a:t>Poser une structure dès le début, plutôt que corriger le désordre après coup.</a:t>
            </a:r>
            <a:endParaRPr lang="en-US" sz="2200" dirty="0"/>
          </a:p>
        </p:txBody>
      </p:sp>
      <p:sp>
        <p:nvSpPr>
          <p:cNvPr id="8" name="s5-final"/>
          <p:cNvSpPr/>
          <p:nvPr/>
        </p:nvSpPr>
        <p:spPr>
          <a:xfrm>
            <a:off x="812902" y="5212080"/>
            <a:ext cx="10566806" cy="868680"/>
          </a:xfrm>
          <a:prstGeom prst="roundRect">
            <a:avLst>
              <a:gd name="adj" fmla="val 21053"/>
            </a:avLst>
          </a:prstGeom>
          <a:solidFill>
            <a:srgbClr val="FF7A4D"/>
          </a:solidFill>
          <a:ln/>
        </p:spPr>
        <p:txBody>
          <a:bodyPr wrap="square" lIns="127000" tIns="0" rIns="127000" bIns="0" rtlCol="0" anchor="ctr"/>
          <a:lstStyle/>
          <a:p>
            <a:pPr algn="ctr" indent="0" marL="0">
              <a:buNone/>
            </a:pPr>
            <a:r>
              <a:rPr lang="en-US" sz="1800" b="1" dirty="0">
                <a:solidFill>
                  <a:srgbClr val="113832"/>
                </a:solidFill>
                <a:latin typeface="Arial" pitchFamily="34" charset="0"/>
                <a:ea typeface="Arial" pitchFamily="34" charset="-122"/>
                <a:cs typeface="Arial" pitchFamily="34" charset="-120"/>
              </a:rPr>
              <a:t>Prochaine vidéo : gérer les coûts intelligemment.</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8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Vivier 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Structurer son projet, l'arborescence qui scale</dc:title>
  <dc:subject>Vivier IA, Module 1, section 3, chapitre 6</dc:subject>
  <dc:creator>Zézé Bilivogui</dc:creator>
  <cp:lastModifiedBy>Zézé Bilivogui</cp:lastModifiedBy>
  <cp:revision>1</cp:revision>
  <dcterms:created xsi:type="dcterms:W3CDTF">2026-09-22T01:11:44Z</dcterms:created>
  <dcterms:modified xsi:type="dcterms:W3CDTF">2026-09-22T01:11:44Z</dcterms:modified>
</cp:coreProperties>
</file>