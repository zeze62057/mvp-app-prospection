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Moment du script : 0:00. Accroche et annonce du plan. Tout s'anime seul à l'ouverture.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Moment du script : 0:12. La phrase apparaît seule, puis un clic pour l'appui.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Moment du script : 0:26. Un clic par carte (3 clics).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Moment du script : 0:40. Titre seul, sans clic.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Moment du script : 1:54. Le titre apparaît seul. Puis un clic par point, et un dernier clic pour l'annonce.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jpe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jpe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jpe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logo" descr="Logo Vivier IA : le vivier des talents IA francophone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48495" y="5074920"/>
            <a:ext cx="2103120" cy="1240003"/>
          </a:xfrm>
          <a:prstGeom prst="rect">
            <a:avLst/>
          </a:prstGeom>
        </p:spPr>
      </p:pic>
      <p:sp>
        <p:nvSpPr>
          <p:cNvPr id="3" name="s1-surtitre"/>
          <p:cNvSpPr txBox="1"/>
          <p:nvPr/>
        </p:nvSpPr>
        <p:spPr>
          <a:xfrm>
            <a:off x="5843016" y="1005840"/>
            <a:ext cx="5532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5FC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VIVIER IA · MODULE 1 · SECTION 6 · CHAPITRE 2</a:t>
            </a:r>
            <a:endParaRPr lang="en-US" sz="1300" dirty="0"/>
          </a:p>
        </p:txBody>
      </p:sp>
      <p:sp>
        <p:nvSpPr>
          <p:cNvPr id="4" name="s1-titre"/>
          <p:cNvSpPr txBox="1"/>
          <p:nvPr/>
        </p:nvSpPr>
        <p:spPr>
          <a:xfrm>
            <a:off x="5843016" y="1691640"/>
            <a:ext cx="55321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3400" b="1" dirty="0">
                <a:solidFill>
                  <a:srgbClr val="F2F7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Maintenir et</a:t>
            </a:r>
            <a:endParaRPr lang="en-US" sz="3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3400" b="1" dirty="0">
                <a:solidFill>
                  <a:srgbClr val="F2F7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faire évoluer</a:t>
            </a:r>
            <a:endParaRPr lang="en-US" sz="3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3400" b="1" dirty="0">
                <a:solidFill>
                  <a:srgbClr val="F2F7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projet</a:t>
            </a:r>
            <a:endParaRPr lang="en-US" sz="3400" dirty="0"/>
          </a:p>
        </p:txBody>
      </p:sp>
      <p:sp>
        <p:nvSpPr>
          <p:cNvPr id="5" name="s1-objectif"/>
          <p:cNvSpPr txBox="1"/>
          <p:nvPr/>
        </p:nvSpPr>
        <p:spPr>
          <a:xfrm>
            <a:off x="5843016" y="3429000"/>
            <a:ext cx="5532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BFD8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Objectif : comprendre ce que change la maintenance.</a:t>
            </a:r>
            <a:endParaRPr lang="en-US" sz="1700" dirty="0"/>
          </a:p>
        </p:txBody>
      </p:sp>
      <p:sp>
        <p:nvSpPr>
          <p:cNvPr id="6" name="s1-pastille-0"/>
          <p:cNvSpPr/>
          <p:nvPr/>
        </p:nvSpPr>
        <p:spPr>
          <a:xfrm>
            <a:off x="5843016" y="4526280"/>
            <a:ext cx="3566160" cy="457200"/>
          </a:xfrm>
          <a:prstGeom prst="roundRect">
            <a:avLst>
              <a:gd name="adj" fmla="val 50000"/>
            </a:avLst>
          </a:prstGeom>
          <a:solidFill>
            <a:srgbClr val="1D4A43"/>
          </a:solidFill>
          <a:ln/>
        </p:spPr>
        <p:txBody>
          <a:bodyPr wrap="square" lIns="127000" tIns="0" rIns="12700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7A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 </a:t>
            </a:r>
            <a:pPr algn="ctr" indent="0" marL="0">
              <a:buNone/>
            </a:pPr>
            <a:r>
              <a:rPr lang="en-US" sz="1400" b="1" dirty="0">
                <a:solidFill>
                  <a:srgbClr val="F2F7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Une discipline différente</a:t>
            </a:r>
            <a:endParaRPr lang="en-US" sz="1400" dirty="0"/>
          </a:p>
        </p:txBody>
      </p:sp>
      <p:sp>
        <p:nvSpPr>
          <p:cNvPr id="7" name="s1-pastille-1"/>
          <p:cNvSpPr/>
          <p:nvPr/>
        </p:nvSpPr>
        <p:spPr>
          <a:xfrm>
            <a:off x="5843016" y="5166360"/>
            <a:ext cx="2377440" cy="457200"/>
          </a:xfrm>
          <a:prstGeom prst="roundRect">
            <a:avLst>
              <a:gd name="adj" fmla="val 50000"/>
            </a:avLst>
          </a:prstGeom>
          <a:solidFill>
            <a:srgbClr val="1D4A43"/>
          </a:solidFill>
          <a:ln/>
        </p:spPr>
        <p:txBody>
          <a:bodyPr wrap="square" lIns="127000" tIns="0" rIns="12700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7A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 </a:t>
            </a:r>
            <a:pPr algn="ctr" indent="0" marL="0">
              <a:buNone/>
            </a:pPr>
            <a:r>
              <a:rPr lang="en-US" sz="1400" b="1" dirty="0">
                <a:solidFill>
                  <a:srgbClr val="F2F7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Trois réflexes</a:t>
            </a:r>
            <a:endParaRPr lang="en-US" sz="1400" dirty="0"/>
          </a:p>
        </p:txBody>
      </p:sp>
      <p:sp>
        <p:nvSpPr>
          <p:cNvPr id="8" name="s1-pastille-2"/>
          <p:cNvSpPr/>
          <p:nvPr/>
        </p:nvSpPr>
        <p:spPr>
          <a:xfrm>
            <a:off x="8403336" y="5166360"/>
            <a:ext cx="2926080" cy="457200"/>
          </a:xfrm>
          <a:prstGeom prst="roundRect">
            <a:avLst>
              <a:gd name="adj" fmla="val 50000"/>
            </a:avLst>
          </a:prstGeom>
          <a:solidFill>
            <a:srgbClr val="1D4A43"/>
          </a:solidFill>
          <a:ln/>
        </p:spPr>
        <p:txBody>
          <a:bodyPr wrap="square" lIns="127000" tIns="0" rIns="12700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7A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 </a:t>
            </a:r>
            <a:pPr algn="ctr" indent="0" marL="0">
              <a:buNone/>
            </a:pPr>
            <a:r>
              <a:rPr lang="en-US" sz="1400" b="1" dirty="0">
                <a:solidFill>
                  <a:srgbClr val="F2F7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revenu récurrent</a:t>
            </a:r>
            <a:endParaRPr lang="en-US" sz="14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9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21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29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logo" descr="Logo Vivier IA : le vivier des talents IA francophone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00055" y="457200"/>
            <a:ext cx="1188720" cy="700871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812902" y="812902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5FC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RELATION NE S'ARRÊTE PAS LÀ</a:t>
            </a:r>
            <a:endParaRPr lang="en-US" sz="1300" dirty="0"/>
          </a:p>
        </p:txBody>
      </p:sp>
      <p:sp>
        <p:nvSpPr>
          <p:cNvPr id="4" name="s2-enonce"/>
          <p:cNvSpPr txBox="1"/>
          <p:nvPr/>
        </p:nvSpPr>
        <p:spPr>
          <a:xfrm>
            <a:off x="812902" y="2011680"/>
            <a:ext cx="96926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3600" b="1" dirty="0">
                <a:solidFill>
                  <a:srgbClr val="F2F7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projet vit dans le temps,</a:t>
            </a:r>
            <a:endParaRPr lang="en-US" sz="36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3600" b="1" dirty="0">
                <a:solidFill>
                  <a:srgbClr val="F2F7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 juste au moment de la livraison.</a:t>
            </a:r>
            <a:endParaRPr lang="en-US" sz="3600" dirty="0"/>
          </a:p>
        </p:txBody>
      </p:sp>
      <p:sp>
        <p:nvSpPr>
          <p:cNvPr id="5" name="s2-appui"/>
          <p:cNvSpPr txBox="1"/>
          <p:nvPr/>
        </p:nvSpPr>
        <p:spPr>
          <a:xfrm>
            <a:off x="812902" y="4389120"/>
            <a:ext cx="96926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BFD8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ajustement, un besoin nouveau, un bug qui apparaît après un usage prolongé.</a:t>
            </a:r>
            <a:endParaRPr lang="en-US" sz="20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9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logo" descr="Logo Vivier IA : le vivier des talents IA francophone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00055" y="457200"/>
            <a:ext cx="1188720" cy="700871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812902" y="812902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5FC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UNE DISCIPLINE DIFFÉRENTE</a:t>
            </a:r>
            <a:endParaRPr lang="en-US" sz="1300" dirty="0"/>
          </a:p>
        </p:txBody>
      </p:sp>
      <p:sp>
        <p:nvSpPr>
          <p:cNvPr id="4" name="Text 1"/>
          <p:cNvSpPr txBox="1"/>
          <p:nvPr/>
        </p:nvSpPr>
        <p:spPr>
          <a:xfrm>
            <a:off x="812902" y="1234440"/>
            <a:ext cx="9235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2F7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Trois réflexes</a:t>
            </a:r>
            <a:endParaRPr lang="en-US" sz="3000" dirty="0"/>
          </a:p>
        </p:txBody>
      </p:sp>
      <p:sp>
        <p:nvSpPr>
          <p:cNvPr id="5" name="s3-c0-forme"/>
          <p:cNvSpPr/>
          <p:nvPr/>
        </p:nvSpPr>
        <p:spPr>
          <a:xfrm>
            <a:off x="812902" y="2377440"/>
            <a:ext cx="3278429" cy="3566160"/>
          </a:xfrm>
          <a:prstGeom prst="roundRect">
            <a:avLst>
              <a:gd name="adj" fmla="val 5020"/>
            </a:avLst>
          </a:prstGeom>
          <a:solidFill>
            <a:srgbClr val="FFFFFF"/>
          </a:solidFill>
          <a:ln w="12700">
            <a:solidFill>
              <a:srgbClr val="D3E3DE"/>
            </a:solidFill>
            <a:prstDash val="solid"/>
          </a:ln>
        </p:spPr>
      </p:sp>
      <p:sp>
        <p:nvSpPr>
          <p:cNvPr id="6" name="s3-c0-num"/>
          <p:cNvSpPr txBox="1"/>
          <p:nvPr/>
        </p:nvSpPr>
        <p:spPr>
          <a:xfrm>
            <a:off x="1087222" y="2560320"/>
            <a:ext cx="914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FF7A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4400" dirty="0"/>
          </a:p>
        </p:txBody>
      </p:sp>
      <p:sp>
        <p:nvSpPr>
          <p:cNvPr id="7" name="s3-c0-titre"/>
          <p:cNvSpPr txBox="1"/>
          <p:nvPr/>
        </p:nvSpPr>
        <p:spPr>
          <a:xfrm>
            <a:off x="1087222" y="3383280"/>
            <a:ext cx="2729789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138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Comprendre vite</a:t>
            </a:r>
            <a:endParaRPr lang="en-US" sz="2000" dirty="0"/>
          </a:p>
        </p:txBody>
      </p:sp>
      <p:sp>
        <p:nvSpPr>
          <p:cNvPr id="8" name="s3-c0-texte"/>
          <p:cNvSpPr txBox="1"/>
          <p:nvPr/>
        </p:nvSpPr>
        <p:spPr>
          <a:xfrm>
            <a:off x="1087222" y="4480560"/>
            <a:ext cx="2729789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F4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Grâce au CLAUDE.md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F4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 à la structure.</a:t>
            </a:r>
            <a:endParaRPr lang="en-US" sz="1500" dirty="0"/>
          </a:p>
        </p:txBody>
      </p:sp>
      <p:sp>
        <p:nvSpPr>
          <p:cNvPr id="9" name="s3-c1-forme"/>
          <p:cNvSpPr/>
          <p:nvPr/>
        </p:nvSpPr>
        <p:spPr>
          <a:xfrm>
            <a:off x="4457090" y="2377440"/>
            <a:ext cx="3278429" cy="3566160"/>
          </a:xfrm>
          <a:prstGeom prst="roundRect">
            <a:avLst>
              <a:gd name="adj" fmla="val 5020"/>
            </a:avLst>
          </a:prstGeom>
          <a:solidFill>
            <a:srgbClr val="FFFFFF"/>
          </a:solidFill>
          <a:ln w="12700">
            <a:solidFill>
              <a:srgbClr val="D3E3DE"/>
            </a:solidFill>
            <a:prstDash val="solid"/>
          </a:ln>
        </p:spPr>
      </p:sp>
      <p:sp>
        <p:nvSpPr>
          <p:cNvPr id="10" name="s3-c1-num"/>
          <p:cNvSpPr txBox="1"/>
          <p:nvPr/>
        </p:nvSpPr>
        <p:spPr>
          <a:xfrm>
            <a:off x="4731410" y="2560320"/>
            <a:ext cx="914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FF7A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4400" dirty="0"/>
          </a:p>
        </p:txBody>
      </p:sp>
      <p:sp>
        <p:nvSpPr>
          <p:cNvPr id="11" name="s3-c1-titre"/>
          <p:cNvSpPr txBox="1"/>
          <p:nvPr/>
        </p:nvSpPr>
        <p:spPr>
          <a:xfrm>
            <a:off x="4731410" y="3383280"/>
            <a:ext cx="2729789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138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Évaluer l'impact</a:t>
            </a:r>
            <a:endParaRPr lang="en-US" sz="2000" dirty="0"/>
          </a:p>
        </p:txBody>
      </p:sp>
      <p:sp>
        <p:nvSpPr>
          <p:cNvPr id="12" name="s3-c1-texte"/>
          <p:cNvSpPr txBox="1"/>
          <p:nvPr/>
        </p:nvSpPr>
        <p:spPr>
          <a:xfrm>
            <a:off x="4731410" y="4480560"/>
            <a:ext cx="2729789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F4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Avant de toucher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F4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 code.</a:t>
            </a:r>
            <a:endParaRPr lang="en-US" sz="1500" dirty="0"/>
          </a:p>
        </p:txBody>
      </p:sp>
      <p:sp>
        <p:nvSpPr>
          <p:cNvPr id="13" name="s3-c2-forme"/>
          <p:cNvSpPr/>
          <p:nvPr/>
        </p:nvSpPr>
        <p:spPr>
          <a:xfrm>
            <a:off x="8101279" y="2377440"/>
            <a:ext cx="3278429" cy="3566160"/>
          </a:xfrm>
          <a:prstGeom prst="roundRect">
            <a:avLst>
              <a:gd name="adj" fmla="val 5020"/>
            </a:avLst>
          </a:prstGeom>
          <a:solidFill>
            <a:srgbClr val="FFFFFF"/>
          </a:solidFill>
          <a:ln w="12700">
            <a:solidFill>
              <a:srgbClr val="D3E3DE"/>
            </a:solidFill>
            <a:prstDash val="solid"/>
          </a:ln>
        </p:spPr>
      </p:sp>
      <p:sp>
        <p:nvSpPr>
          <p:cNvPr id="14" name="s3-c2-num"/>
          <p:cNvSpPr txBox="1"/>
          <p:nvPr/>
        </p:nvSpPr>
        <p:spPr>
          <a:xfrm>
            <a:off x="8375599" y="2560320"/>
            <a:ext cx="914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FF7A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4400" dirty="0"/>
          </a:p>
        </p:txBody>
      </p:sp>
      <p:sp>
        <p:nvSpPr>
          <p:cNvPr id="15" name="s3-c2-titre"/>
          <p:cNvSpPr txBox="1"/>
          <p:nvPr/>
        </p:nvSpPr>
        <p:spPr>
          <a:xfrm>
            <a:off x="8375599" y="3383280"/>
            <a:ext cx="2729789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138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Garder une trace</a:t>
            </a:r>
            <a:endParaRPr lang="en-US" sz="2000" dirty="0"/>
          </a:p>
        </p:txBody>
      </p:sp>
      <p:sp>
        <p:nvSpPr>
          <p:cNvPr id="16" name="s3-c2-texte"/>
          <p:cNvSpPr txBox="1"/>
          <p:nvPr/>
        </p:nvSpPr>
        <p:spPr>
          <a:xfrm>
            <a:off x="8375599" y="4480560"/>
            <a:ext cx="2729789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F4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chaque évolution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F4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apportée.</a:t>
            </a:r>
            <a:endParaRPr lang="en-US" sz="15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6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6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logo" descr="Logo Vivier IA : le vivier des talents IA francophone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00055" y="457200"/>
            <a:ext cx="1188720" cy="700871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812902" y="812902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5FC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EXEMPLE</a:t>
            </a:r>
            <a:endParaRPr lang="en-US" sz="1300" dirty="0"/>
          </a:p>
        </p:txBody>
      </p:sp>
      <p:sp>
        <p:nvSpPr>
          <p:cNvPr id="4" name="Text 1"/>
          <p:cNvSpPr txBox="1"/>
          <p:nvPr/>
        </p:nvSpPr>
        <p:spPr>
          <a:xfrm>
            <a:off x="812902" y="1234440"/>
            <a:ext cx="9235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2F7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Avant de foncer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812902" y="210312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BFD8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distributeur revient trois mois plus tard, pour un ajustement.</a:t>
            </a:r>
            <a:endParaRPr lang="en-US" sz="1800" dirty="0"/>
          </a:p>
        </p:txBody>
      </p:sp>
      <p:sp>
        <p:nvSpPr>
          <p:cNvPr id="6" name="s4-avant-forme"/>
          <p:cNvSpPr/>
          <p:nvPr/>
        </p:nvSpPr>
        <p:spPr>
          <a:xfrm>
            <a:off x="812902" y="2926080"/>
            <a:ext cx="5100523" cy="2468880"/>
          </a:xfrm>
          <a:prstGeom prst="roundRect">
            <a:avLst>
              <a:gd name="adj" fmla="val 6667"/>
            </a:avLst>
          </a:prstGeom>
          <a:solidFill>
            <a:srgbClr val="1D4A43"/>
          </a:solidFill>
          <a:ln w="6350">
            <a:solidFill>
              <a:srgbClr val="1D4A43"/>
            </a:solidFill>
            <a:prstDash val="solid"/>
          </a:ln>
        </p:spPr>
      </p:sp>
      <p:sp>
        <p:nvSpPr>
          <p:cNvPr id="7" name="s4-avant-etiquette"/>
          <p:cNvSpPr txBox="1"/>
          <p:nvPr/>
        </p:nvSpPr>
        <p:spPr>
          <a:xfrm>
            <a:off x="1178662" y="32004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BFD8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RÉFLEXE À ÉVITER</a:t>
            </a:r>
            <a:endParaRPr lang="en-US" sz="1300" dirty="0"/>
          </a:p>
        </p:txBody>
      </p:sp>
      <p:sp>
        <p:nvSpPr>
          <p:cNvPr id="8" name="s4-avant-titre"/>
          <p:cNvSpPr txBox="1"/>
          <p:nvPr/>
        </p:nvSpPr>
        <p:spPr>
          <a:xfrm>
            <a:off x="1178662" y="3657600"/>
            <a:ext cx="4369003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F2F7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Foncer directement</a:t>
            </a:r>
            <a:endParaRPr lang="en-US" sz="2400" dirty="0"/>
          </a:p>
        </p:txBody>
      </p:sp>
      <p:sp>
        <p:nvSpPr>
          <p:cNvPr id="9" name="s4-avant-texte"/>
          <p:cNvSpPr txBox="1"/>
          <p:nvPr/>
        </p:nvSpPr>
        <p:spPr>
          <a:xfrm>
            <a:off x="1178662" y="4343400"/>
            <a:ext cx="4369003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BFD8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Modifier sans relire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BFD8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contexte du projet.</a:t>
            </a:r>
            <a:endParaRPr lang="en-US" sz="1700" dirty="0"/>
          </a:p>
        </p:txBody>
      </p:sp>
      <p:sp>
        <p:nvSpPr>
          <p:cNvPr id="10" name="s4-apres-forme"/>
          <p:cNvSpPr/>
          <p:nvPr/>
        </p:nvSpPr>
        <p:spPr>
          <a:xfrm>
            <a:off x="6279185" y="2926080"/>
            <a:ext cx="5100523" cy="2468880"/>
          </a:xfrm>
          <a:prstGeom prst="roundRect">
            <a:avLst>
              <a:gd name="adj" fmla="val 6667"/>
            </a:avLst>
          </a:prstGeom>
          <a:solidFill>
            <a:srgbClr val="FF7A4D"/>
          </a:solidFill>
          <a:ln w="6350">
            <a:solidFill>
              <a:srgbClr val="FF7A4D"/>
            </a:solidFill>
            <a:prstDash val="solid"/>
          </a:ln>
        </p:spPr>
      </p:sp>
      <p:sp>
        <p:nvSpPr>
          <p:cNvPr id="11" name="s4-apres-etiquette"/>
          <p:cNvSpPr txBox="1"/>
          <p:nvPr/>
        </p:nvSpPr>
        <p:spPr>
          <a:xfrm>
            <a:off x="6644945" y="32004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1138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BON RÉFLEXE</a:t>
            </a:r>
            <a:endParaRPr lang="en-US" sz="1300" dirty="0"/>
          </a:p>
        </p:txBody>
      </p:sp>
      <p:sp>
        <p:nvSpPr>
          <p:cNvPr id="12" name="s4-apres-titre"/>
          <p:cNvSpPr txBox="1"/>
          <p:nvPr/>
        </p:nvSpPr>
        <p:spPr>
          <a:xfrm>
            <a:off x="6644945" y="3657600"/>
            <a:ext cx="4369003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138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Évaluer d'abord</a:t>
            </a:r>
            <a:endParaRPr lang="en-US" sz="2400" dirty="0"/>
          </a:p>
        </p:txBody>
      </p:sp>
      <p:sp>
        <p:nvSpPr>
          <p:cNvPr id="13" name="s4-apres-texte"/>
          <p:cNvSpPr txBox="1"/>
          <p:nvPr/>
        </p:nvSpPr>
        <p:spPr>
          <a:xfrm>
            <a:off x="6644945" y="4343400"/>
            <a:ext cx="4369003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138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Relire le CLAUDE.md,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138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mesurer l'impact réel.</a:t>
            </a:r>
            <a:endParaRPr lang="en-US" sz="17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6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logo" descr="Logo Vivier IA : le vivier des talents IA francophone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00055" y="457200"/>
            <a:ext cx="1188720" cy="700871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812902" y="812902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5FC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À RETENIR</a:t>
            </a:r>
            <a:endParaRPr lang="en-US" sz="1300" dirty="0"/>
          </a:p>
        </p:txBody>
      </p:sp>
      <p:sp>
        <p:nvSpPr>
          <p:cNvPr id="4" name="s5-titre"/>
          <p:cNvSpPr txBox="1"/>
          <p:nvPr/>
        </p:nvSpPr>
        <p:spPr>
          <a:xfrm>
            <a:off x="812902" y="1371600"/>
            <a:ext cx="8412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2F7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maintenance,</a:t>
            </a:r>
            <a:endParaRPr lang="en-US" sz="3000" dirty="0"/>
          </a:p>
          <a:p>
            <a:pPr indent="0" marL="0">
              <a:buNone/>
            </a:pPr>
            <a:r>
              <a:rPr lang="en-US" sz="3000" b="1" dirty="0">
                <a:solidFill>
                  <a:srgbClr val="F2F7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revenu, pas une charge.</a:t>
            </a:r>
            <a:endParaRPr lang="en-US" sz="3000" dirty="0"/>
          </a:p>
        </p:txBody>
      </p:sp>
      <p:sp>
        <p:nvSpPr>
          <p:cNvPr id="5" name="s5-point-0"/>
          <p:cNvSpPr txBox="1"/>
          <p:nvPr/>
        </p:nvSpPr>
        <p:spPr>
          <a:xfrm>
            <a:off x="812902" y="2971800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2200" dirty="0">
                <a:solidFill>
                  <a:srgbClr val="BFD8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relation continue après la livraison initiale.</a:t>
            </a:r>
            <a:endParaRPr lang="en-US" sz="2200" dirty="0"/>
          </a:p>
        </p:txBody>
      </p:sp>
      <p:sp>
        <p:nvSpPr>
          <p:cNvPr id="6" name="s5-point-1"/>
          <p:cNvSpPr txBox="1"/>
          <p:nvPr/>
        </p:nvSpPr>
        <p:spPr>
          <a:xfrm>
            <a:off x="812902" y="3703320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2200" dirty="0">
                <a:solidFill>
                  <a:srgbClr val="BFD8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bonne documentation permet de reprendre vite un projet ancien.</a:t>
            </a:r>
            <a:endParaRPr lang="en-US" sz="2200" dirty="0"/>
          </a:p>
        </p:txBody>
      </p:sp>
      <p:sp>
        <p:nvSpPr>
          <p:cNvPr id="7" name="s5-point-2"/>
          <p:cNvSpPr txBox="1"/>
          <p:nvPr/>
        </p:nvSpPr>
        <p:spPr>
          <a:xfrm>
            <a:off x="812902" y="4434840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2200" dirty="0">
                <a:solidFill>
                  <a:srgbClr val="BFD8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maintenance peut devenir un revenu récurrent.</a:t>
            </a:r>
            <a:endParaRPr lang="en-US" sz="2200" dirty="0"/>
          </a:p>
        </p:txBody>
      </p:sp>
      <p:sp>
        <p:nvSpPr>
          <p:cNvPr id="8" name="s5-final"/>
          <p:cNvSpPr/>
          <p:nvPr/>
        </p:nvSpPr>
        <p:spPr>
          <a:xfrm>
            <a:off x="812902" y="5212080"/>
            <a:ext cx="10566806" cy="868680"/>
          </a:xfrm>
          <a:prstGeom prst="roundRect">
            <a:avLst>
              <a:gd name="adj" fmla="val 21053"/>
            </a:avLst>
          </a:prstGeom>
          <a:solidFill>
            <a:srgbClr val="FF7A4D"/>
          </a:solidFill>
          <a:ln/>
        </p:spPr>
        <p:txBody>
          <a:bodyPr wrap="square" lIns="127000" tIns="0" rIns="12700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138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Prochaine vidéo : ce que vous pouvez vendre, et ce que vous ne devriez pas.</a:t>
            </a:r>
            <a:endParaRPr lang="en-US" sz="18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8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7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Vivier IA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Maintenir et faire évoluer un projet dans le temps</dc:title>
  <dc:subject>Vivier IA, Module 1, section 6, chapitre 2</dc:subject>
  <dc:creator>Zézé Bilivogui</dc:creator>
  <cp:lastModifiedBy>Zézé Bilivogui</cp:lastModifiedBy>
  <cp:revision>1</cp:revision>
  <dcterms:created xsi:type="dcterms:W3CDTF">2026-09-22T21:09:37Z</dcterms:created>
  <dcterms:modified xsi:type="dcterms:W3CDTF">2026-09-22T21:09:37Z</dcterms:modified>
</cp:coreProperties>
</file>